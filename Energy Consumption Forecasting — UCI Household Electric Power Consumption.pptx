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Liter" panose="020B0604020202020204" charset="0"/>
      <p:regular r:id="rId13"/>
    </p:embeddedFont>
    <p:embeddedFont>
      <p:font typeface="Quattrocento Sans" panose="020B0502050000020003" pitchFamily="34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864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58ba410c104302648e547d7732017bed80c5a525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766" b="766"/>
          <a:stretch/>
        </p:blipFill>
        <p:spPr>
          <a:xfrm>
            <a:off x="9331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4" name="Shape 1"/>
          <p:cNvSpPr/>
          <p:nvPr/>
        </p:nvSpPr>
        <p:spPr>
          <a:xfrm>
            <a:off x="384810" y="1249680"/>
            <a:ext cx="2703195" cy="388620"/>
          </a:xfrm>
          <a:custGeom>
            <a:avLst/>
            <a:gdLst/>
            <a:ahLst/>
            <a:cxnLst/>
            <a:rect l="l" t="t" r="r" b="b"/>
            <a:pathLst>
              <a:path w="2703195" h="388620">
                <a:moveTo>
                  <a:pt x="76201" y="0"/>
                </a:moveTo>
                <a:lnTo>
                  <a:pt x="2626994" y="0"/>
                </a:lnTo>
                <a:cubicBezTo>
                  <a:pt x="2669079" y="0"/>
                  <a:pt x="2703195" y="34116"/>
                  <a:pt x="2703195" y="76201"/>
                </a:cubicBezTo>
                <a:lnTo>
                  <a:pt x="2703195" y="312419"/>
                </a:lnTo>
                <a:cubicBezTo>
                  <a:pt x="2703195" y="354504"/>
                  <a:pt x="2669079" y="388620"/>
                  <a:pt x="2626994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 w="1016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41020" y="1329690"/>
            <a:ext cx="2466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12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MACHINE LEARNING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94691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Energy Consumption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Forecasting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389001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UCI Household Electric Power Consumption Dataset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16719" y="457581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95325" y="4537710"/>
            <a:ext cx="1933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Short-Term Prediction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690455" y="465201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19050"/>
                </a:lnTo>
                <a:cubicBezTo>
                  <a:pt x="38100" y="29564"/>
                  <a:pt x="29564" y="38100"/>
                  <a:pt x="190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904768" y="457581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3195280" y="4537710"/>
            <a:ext cx="1771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Series Analysis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021104" y="4652010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19050" y="0"/>
                </a:moveTo>
                <a:lnTo>
                  <a:pt x="19050" y="0"/>
                </a:lnTo>
                <a:cubicBezTo>
                  <a:pt x="29564" y="0"/>
                  <a:pt x="38100" y="8536"/>
                  <a:pt x="38100" y="19050"/>
                </a:cubicBezTo>
                <a:lnTo>
                  <a:pt x="38100" y="19050"/>
                </a:lnTo>
                <a:cubicBezTo>
                  <a:pt x="38100" y="29564"/>
                  <a:pt x="29564" y="38100"/>
                  <a:pt x="190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235416" y="457581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525929" y="4537710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Methods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81000" y="5673090"/>
            <a:ext cx="11430000" cy="7620"/>
          </a:xfrm>
          <a:custGeom>
            <a:avLst/>
            <a:gdLst/>
            <a:ahLst/>
            <a:cxnLst/>
            <a:rect l="l" t="t" r="r" b="b"/>
            <a:pathLst>
              <a:path w="11430000" h="7620">
                <a:moveTo>
                  <a:pt x="0" y="0"/>
                </a:moveTo>
                <a:lnTo>
                  <a:pt x="11430000" y="0"/>
                </a:lnTo>
                <a:lnTo>
                  <a:pt x="114300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381000" y="5905500"/>
            <a:ext cx="201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Members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81000" y="6210300"/>
            <a:ext cx="10477262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Manan Velani (U23CS027)	Dharav Bodat (U23CS049)	Nikhil Chhasiya (U23CS022)	Om Amin (U23CS076)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867787" y="5905500"/>
            <a:ext cx="942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858262" y="6210300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April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275" y="372275"/>
            <a:ext cx="11521905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kern="0" spc="59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2275" y="670095"/>
            <a:ext cx="11670815" cy="44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1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We're Solving &amp; Why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0889" y="1340189"/>
            <a:ext cx="5593429" cy="2438400"/>
          </a:xfrm>
          <a:custGeom>
            <a:avLst/>
            <a:gdLst/>
            <a:ahLst/>
            <a:cxnLst/>
            <a:rect l="l" t="t" r="r" b="b"/>
            <a:pathLst>
              <a:path w="5593429" h="2438400">
                <a:moveTo>
                  <a:pt x="37227" y="0"/>
                </a:moveTo>
                <a:lnTo>
                  <a:pt x="5518985" y="0"/>
                </a:lnTo>
                <a:cubicBezTo>
                  <a:pt x="5560099" y="0"/>
                  <a:pt x="5593429" y="33330"/>
                  <a:pt x="5593429" y="74444"/>
                </a:cubicBezTo>
                <a:lnTo>
                  <a:pt x="5593429" y="2363956"/>
                </a:lnTo>
                <a:cubicBezTo>
                  <a:pt x="5593429" y="2405070"/>
                  <a:pt x="5560099" y="2438400"/>
                  <a:pt x="5518985" y="2438400"/>
                </a:cubicBezTo>
                <a:lnTo>
                  <a:pt x="37227" y="2438400"/>
                </a:lnTo>
                <a:cubicBezTo>
                  <a:pt x="16667" y="2438400"/>
                  <a:pt x="0" y="2421733"/>
                  <a:pt x="0" y="2401173"/>
                </a:cubicBezTo>
                <a:lnTo>
                  <a:pt x="0" y="37227"/>
                </a:lnTo>
                <a:cubicBezTo>
                  <a:pt x="0" y="16681"/>
                  <a:pt x="16681" y="0"/>
                  <a:pt x="3722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90889" y="1340189"/>
            <a:ext cx="37227" cy="2438400"/>
          </a:xfrm>
          <a:custGeom>
            <a:avLst/>
            <a:gdLst/>
            <a:ahLst/>
            <a:cxnLst/>
            <a:rect l="l" t="t" r="r" b="b"/>
            <a:pathLst>
              <a:path w="37227" h="2438400">
                <a:moveTo>
                  <a:pt x="37227" y="0"/>
                </a:moveTo>
                <a:lnTo>
                  <a:pt x="37227" y="0"/>
                </a:lnTo>
                <a:lnTo>
                  <a:pt x="37227" y="2438400"/>
                </a:lnTo>
                <a:lnTo>
                  <a:pt x="37227" y="2438400"/>
                </a:lnTo>
                <a:cubicBezTo>
                  <a:pt x="16667" y="2438400"/>
                  <a:pt x="0" y="2421733"/>
                  <a:pt x="0" y="2401173"/>
                </a:cubicBezTo>
                <a:lnTo>
                  <a:pt x="0" y="37227"/>
                </a:lnTo>
                <a:cubicBezTo>
                  <a:pt x="0" y="16681"/>
                  <a:pt x="16681" y="0"/>
                  <a:pt x="37227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95640" y="1526327"/>
            <a:ext cx="446730" cy="446730"/>
          </a:xfrm>
          <a:custGeom>
            <a:avLst/>
            <a:gdLst/>
            <a:ahLst/>
            <a:cxnLst/>
            <a:rect l="l" t="t" r="r" b="b"/>
            <a:pathLst>
              <a:path w="446730" h="446730">
                <a:moveTo>
                  <a:pt x="74456" y="0"/>
                </a:moveTo>
                <a:lnTo>
                  <a:pt x="372273" y="0"/>
                </a:lnTo>
                <a:cubicBezTo>
                  <a:pt x="413394" y="0"/>
                  <a:pt x="446730" y="33335"/>
                  <a:pt x="446730" y="74456"/>
                </a:cubicBezTo>
                <a:lnTo>
                  <a:pt x="446730" y="372273"/>
                </a:lnTo>
                <a:cubicBezTo>
                  <a:pt x="446730" y="413394"/>
                  <a:pt x="413394" y="446730"/>
                  <a:pt x="372273" y="446730"/>
                </a:cubicBezTo>
                <a:lnTo>
                  <a:pt x="74456" y="446730"/>
                </a:lnTo>
                <a:cubicBezTo>
                  <a:pt x="33335" y="446730"/>
                  <a:pt x="0" y="413394"/>
                  <a:pt x="0" y="372273"/>
                </a:cubicBezTo>
                <a:lnTo>
                  <a:pt x="0" y="74456"/>
                </a:lnTo>
                <a:cubicBezTo>
                  <a:pt x="0" y="33363"/>
                  <a:pt x="33363" y="0"/>
                  <a:pt x="74456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07322" y="1638009"/>
            <a:ext cx="223365" cy="223365"/>
          </a:xfrm>
          <a:custGeom>
            <a:avLst/>
            <a:gdLst/>
            <a:ahLst/>
            <a:cxnLst/>
            <a:rect l="l" t="t" r="r" b="b"/>
            <a:pathLst>
              <a:path w="223365" h="223365">
                <a:moveTo>
                  <a:pt x="111682" y="0"/>
                </a:moveTo>
                <a:cubicBezTo>
                  <a:pt x="118095" y="0"/>
                  <a:pt x="123985" y="3534"/>
                  <a:pt x="127039" y="9161"/>
                </a:cubicBezTo>
                <a:lnTo>
                  <a:pt x="221271" y="183665"/>
                </a:lnTo>
                <a:cubicBezTo>
                  <a:pt x="224194" y="189075"/>
                  <a:pt x="224063" y="195619"/>
                  <a:pt x="220922" y="200898"/>
                </a:cubicBezTo>
                <a:cubicBezTo>
                  <a:pt x="217781" y="206176"/>
                  <a:pt x="212066" y="209405"/>
                  <a:pt x="205915" y="209405"/>
                </a:cubicBezTo>
                <a:lnTo>
                  <a:pt x="17450" y="209405"/>
                </a:lnTo>
                <a:cubicBezTo>
                  <a:pt x="11299" y="209405"/>
                  <a:pt x="5628" y="206176"/>
                  <a:pt x="2443" y="200898"/>
                </a:cubicBezTo>
                <a:cubicBezTo>
                  <a:pt x="-742" y="195619"/>
                  <a:pt x="-829" y="189075"/>
                  <a:pt x="2094" y="183665"/>
                </a:cubicBezTo>
                <a:lnTo>
                  <a:pt x="96326" y="9161"/>
                </a:lnTo>
                <a:cubicBezTo>
                  <a:pt x="99380" y="3534"/>
                  <a:pt x="105269" y="0"/>
                  <a:pt x="111682" y="0"/>
                </a:cubicBezTo>
                <a:close/>
                <a:moveTo>
                  <a:pt x="111682" y="73292"/>
                </a:moveTo>
                <a:cubicBezTo>
                  <a:pt x="105880" y="73292"/>
                  <a:pt x="101212" y="77960"/>
                  <a:pt x="101212" y="83762"/>
                </a:cubicBezTo>
                <a:lnTo>
                  <a:pt x="101212" y="132623"/>
                </a:lnTo>
                <a:cubicBezTo>
                  <a:pt x="101212" y="138425"/>
                  <a:pt x="105880" y="143093"/>
                  <a:pt x="111682" y="143093"/>
                </a:cubicBezTo>
                <a:cubicBezTo>
                  <a:pt x="117485" y="143093"/>
                  <a:pt x="122153" y="138425"/>
                  <a:pt x="122153" y="132623"/>
                </a:cubicBezTo>
                <a:lnTo>
                  <a:pt x="122153" y="83762"/>
                </a:lnTo>
                <a:cubicBezTo>
                  <a:pt x="122153" y="77960"/>
                  <a:pt x="117485" y="73292"/>
                  <a:pt x="111682" y="73292"/>
                </a:cubicBezTo>
                <a:close/>
                <a:moveTo>
                  <a:pt x="123331" y="167524"/>
                </a:moveTo>
                <a:cubicBezTo>
                  <a:pt x="123596" y="163200"/>
                  <a:pt x="121439" y="159086"/>
                  <a:pt x="117733" y="156844"/>
                </a:cubicBezTo>
                <a:cubicBezTo>
                  <a:pt x="114026" y="154603"/>
                  <a:pt x="109382" y="154603"/>
                  <a:pt x="105676" y="156844"/>
                </a:cubicBezTo>
                <a:cubicBezTo>
                  <a:pt x="101969" y="159086"/>
                  <a:pt x="99813" y="163200"/>
                  <a:pt x="100078" y="167524"/>
                </a:cubicBezTo>
                <a:cubicBezTo>
                  <a:pt x="99813" y="171847"/>
                  <a:pt x="101969" y="175961"/>
                  <a:pt x="105676" y="178203"/>
                </a:cubicBezTo>
                <a:cubicBezTo>
                  <a:pt x="109382" y="180445"/>
                  <a:pt x="114026" y="180445"/>
                  <a:pt x="117733" y="178203"/>
                </a:cubicBezTo>
                <a:cubicBezTo>
                  <a:pt x="121439" y="175961"/>
                  <a:pt x="123596" y="171847"/>
                  <a:pt x="123331" y="167524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191279" y="1526327"/>
            <a:ext cx="4718583" cy="297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91279" y="1935713"/>
            <a:ext cx="4681356" cy="725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Household energy consumption is highly variable and influenced by multiple factors including time of day, seasonality, and appliance usage patterns. Accurate short-term forecasting is critical for: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209893" y="2810559"/>
            <a:ext cx="148910" cy="148910"/>
          </a:xfrm>
          <a:custGeom>
            <a:avLst/>
            <a:gdLst/>
            <a:ahLst/>
            <a:cxnLst/>
            <a:rect l="l" t="t" r="r" b="b"/>
            <a:pathLst>
              <a:path w="148910" h="148910">
                <a:moveTo>
                  <a:pt x="74455" y="148910"/>
                </a:moveTo>
                <a:cubicBezTo>
                  <a:pt x="115548" y="148910"/>
                  <a:pt x="148910" y="115548"/>
                  <a:pt x="148910" y="74455"/>
                </a:cubicBezTo>
                <a:cubicBezTo>
                  <a:pt x="148910" y="33362"/>
                  <a:pt x="115548" y="0"/>
                  <a:pt x="74455" y="0"/>
                </a:cubicBezTo>
                <a:cubicBezTo>
                  <a:pt x="33362" y="0"/>
                  <a:pt x="0" y="33362"/>
                  <a:pt x="0" y="74455"/>
                </a:cubicBezTo>
                <a:cubicBezTo>
                  <a:pt x="0" y="115548"/>
                  <a:pt x="33362" y="148910"/>
                  <a:pt x="74455" y="148910"/>
                </a:cubicBezTo>
                <a:close/>
                <a:moveTo>
                  <a:pt x="99002" y="61862"/>
                </a:moveTo>
                <a:lnTo>
                  <a:pt x="75735" y="99089"/>
                </a:lnTo>
                <a:cubicBezTo>
                  <a:pt x="74513" y="101038"/>
                  <a:pt x="72419" y="102259"/>
                  <a:pt x="70121" y="102376"/>
                </a:cubicBezTo>
                <a:cubicBezTo>
                  <a:pt x="67824" y="102492"/>
                  <a:pt x="65613" y="101445"/>
                  <a:pt x="64246" y="99584"/>
                </a:cubicBezTo>
                <a:lnTo>
                  <a:pt x="50286" y="80970"/>
                </a:lnTo>
                <a:cubicBezTo>
                  <a:pt x="47959" y="77887"/>
                  <a:pt x="48599" y="73524"/>
                  <a:pt x="51682" y="71198"/>
                </a:cubicBezTo>
                <a:cubicBezTo>
                  <a:pt x="54765" y="68871"/>
                  <a:pt x="59128" y="69511"/>
                  <a:pt x="61454" y="72594"/>
                </a:cubicBezTo>
                <a:lnTo>
                  <a:pt x="69307" y="83064"/>
                </a:lnTo>
                <a:lnTo>
                  <a:pt x="87165" y="54474"/>
                </a:lnTo>
                <a:cubicBezTo>
                  <a:pt x="89201" y="51217"/>
                  <a:pt x="93505" y="50199"/>
                  <a:pt x="96791" y="52264"/>
                </a:cubicBezTo>
                <a:cubicBezTo>
                  <a:pt x="100078" y="54329"/>
                  <a:pt x="101067" y="58604"/>
                  <a:pt x="99002" y="61891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451872" y="2773331"/>
            <a:ext cx="3983340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Grid Optimization:</a:t>
            </a:r>
            <a:r>
              <a:rPr lang="en-US" sz="117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Balancing supply and demand in real-time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09893" y="3108379"/>
            <a:ext cx="148910" cy="148910"/>
          </a:xfrm>
          <a:custGeom>
            <a:avLst/>
            <a:gdLst/>
            <a:ahLst/>
            <a:cxnLst/>
            <a:rect l="l" t="t" r="r" b="b"/>
            <a:pathLst>
              <a:path w="148910" h="148910">
                <a:moveTo>
                  <a:pt x="74455" y="148910"/>
                </a:moveTo>
                <a:cubicBezTo>
                  <a:pt x="115548" y="148910"/>
                  <a:pt x="148910" y="115548"/>
                  <a:pt x="148910" y="74455"/>
                </a:cubicBezTo>
                <a:cubicBezTo>
                  <a:pt x="148910" y="33362"/>
                  <a:pt x="115548" y="0"/>
                  <a:pt x="74455" y="0"/>
                </a:cubicBezTo>
                <a:cubicBezTo>
                  <a:pt x="33362" y="0"/>
                  <a:pt x="0" y="33362"/>
                  <a:pt x="0" y="74455"/>
                </a:cubicBezTo>
                <a:cubicBezTo>
                  <a:pt x="0" y="115548"/>
                  <a:pt x="33362" y="148910"/>
                  <a:pt x="74455" y="148910"/>
                </a:cubicBezTo>
                <a:close/>
                <a:moveTo>
                  <a:pt x="99002" y="61862"/>
                </a:moveTo>
                <a:lnTo>
                  <a:pt x="75735" y="99089"/>
                </a:lnTo>
                <a:cubicBezTo>
                  <a:pt x="74513" y="101038"/>
                  <a:pt x="72419" y="102259"/>
                  <a:pt x="70121" y="102376"/>
                </a:cubicBezTo>
                <a:cubicBezTo>
                  <a:pt x="67824" y="102492"/>
                  <a:pt x="65613" y="101445"/>
                  <a:pt x="64246" y="99584"/>
                </a:cubicBezTo>
                <a:lnTo>
                  <a:pt x="50286" y="80970"/>
                </a:lnTo>
                <a:cubicBezTo>
                  <a:pt x="47959" y="77887"/>
                  <a:pt x="48599" y="73524"/>
                  <a:pt x="51682" y="71198"/>
                </a:cubicBezTo>
                <a:cubicBezTo>
                  <a:pt x="54765" y="68871"/>
                  <a:pt x="59128" y="69511"/>
                  <a:pt x="61454" y="72594"/>
                </a:cubicBezTo>
                <a:lnTo>
                  <a:pt x="69307" y="83064"/>
                </a:lnTo>
                <a:lnTo>
                  <a:pt x="87165" y="54474"/>
                </a:lnTo>
                <a:cubicBezTo>
                  <a:pt x="89201" y="51217"/>
                  <a:pt x="93505" y="50199"/>
                  <a:pt x="96791" y="52264"/>
                </a:cubicBezTo>
                <a:cubicBezTo>
                  <a:pt x="100078" y="54329"/>
                  <a:pt x="101067" y="58604"/>
                  <a:pt x="99002" y="61891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451872" y="3071151"/>
            <a:ext cx="3825124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Reduction:</a:t>
            </a:r>
            <a:r>
              <a:rPr lang="en-US" sz="117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Enabling dynamic pricing and load shifting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09893" y="3406199"/>
            <a:ext cx="148910" cy="148910"/>
          </a:xfrm>
          <a:custGeom>
            <a:avLst/>
            <a:gdLst/>
            <a:ahLst/>
            <a:cxnLst/>
            <a:rect l="l" t="t" r="r" b="b"/>
            <a:pathLst>
              <a:path w="148910" h="148910">
                <a:moveTo>
                  <a:pt x="74455" y="148910"/>
                </a:moveTo>
                <a:cubicBezTo>
                  <a:pt x="115548" y="148910"/>
                  <a:pt x="148910" y="115548"/>
                  <a:pt x="148910" y="74455"/>
                </a:cubicBezTo>
                <a:cubicBezTo>
                  <a:pt x="148910" y="33362"/>
                  <a:pt x="115548" y="0"/>
                  <a:pt x="74455" y="0"/>
                </a:cubicBezTo>
                <a:cubicBezTo>
                  <a:pt x="33362" y="0"/>
                  <a:pt x="0" y="33362"/>
                  <a:pt x="0" y="74455"/>
                </a:cubicBezTo>
                <a:cubicBezTo>
                  <a:pt x="0" y="115548"/>
                  <a:pt x="33362" y="148910"/>
                  <a:pt x="74455" y="148910"/>
                </a:cubicBezTo>
                <a:close/>
                <a:moveTo>
                  <a:pt x="99002" y="61862"/>
                </a:moveTo>
                <a:lnTo>
                  <a:pt x="75735" y="99089"/>
                </a:lnTo>
                <a:cubicBezTo>
                  <a:pt x="74513" y="101038"/>
                  <a:pt x="72419" y="102259"/>
                  <a:pt x="70121" y="102376"/>
                </a:cubicBezTo>
                <a:cubicBezTo>
                  <a:pt x="67824" y="102492"/>
                  <a:pt x="65613" y="101445"/>
                  <a:pt x="64246" y="99584"/>
                </a:cubicBezTo>
                <a:lnTo>
                  <a:pt x="50286" y="80970"/>
                </a:lnTo>
                <a:cubicBezTo>
                  <a:pt x="47959" y="77887"/>
                  <a:pt x="48599" y="73524"/>
                  <a:pt x="51682" y="71198"/>
                </a:cubicBezTo>
                <a:cubicBezTo>
                  <a:pt x="54765" y="68871"/>
                  <a:pt x="59128" y="69511"/>
                  <a:pt x="61454" y="72594"/>
                </a:cubicBezTo>
                <a:lnTo>
                  <a:pt x="69307" y="83064"/>
                </a:lnTo>
                <a:lnTo>
                  <a:pt x="87165" y="54474"/>
                </a:lnTo>
                <a:cubicBezTo>
                  <a:pt x="89201" y="51217"/>
                  <a:pt x="93505" y="50199"/>
                  <a:pt x="96791" y="52264"/>
                </a:cubicBezTo>
                <a:cubicBezTo>
                  <a:pt x="100078" y="54329"/>
                  <a:pt x="101067" y="58604"/>
                  <a:pt x="99002" y="61891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451872" y="3368971"/>
            <a:ext cx="4281160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Energy Management:</a:t>
            </a:r>
            <a:r>
              <a:rPr lang="en-US" sz="117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Empowering consumers with usage insights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0889" y="3927383"/>
            <a:ext cx="5593429" cy="1749692"/>
          </a:xfrm>
          <a:custGeom>
            <a:avLst/>
            <a:gdLst/>
            <a:ahLst/>
            <a:cxnLst/>
            <a:rect l="l" t="t" r="r" b="b"/>
            <a:pathLst>
              <a:path w="5593429" h="1749692">
                <a:moveTo>
                  <a:pt x="37227" y="0"/>
                </a:moveTo>
                <a:lnTo>
                  <a:pt x="5518980" y="0"/>
                </a:lnTo>
                <a:cubicBezTo>
                  <a:pt x="5560097" y="0"/>
                  <a:pt x="5593429" y="33332"/>
                  <a:pt x="5593429" y="74449"/>
                </a:cubicBezTo>
                <a:lnTo>
                  <a:pt x="5593429" y="1675242"/>
                </a:lnTo>
                <a:cubicBezTo>
                  <a:pt x="5593429" y="1716359"/>
                  <a:pt x="5560097" y="1749692"/>
                  <a:pt x="5518980" y="1749692"/>
                </a:cubicBezTo>
                <a:lnTo>
                  <a:pt x="37227" y="1749692"/>
                </a:lnTo>
                <a:cubicBezTo>
                  <a:pt x="16667" y="1749692"/>
                  <a:pt x="0" y="1733024"/>
                  <a:pt x="0" y="1712464"/>
                </a:cubicBezTo>
                <a:lnTo>
                  <a:pt x="0" y="37227"/>
                </a:lnTo>
                <a:cubicBezTo>
                  <a:pt x="0" y="16681"/>
                  <a:pt x="16681" y="0"/>
                  <a:pt x="3722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90889" y="3927383"/>
            <a:ext cx="37227" cy="1749692"/>
          </a:xfrm>
          <a:custGeom>
            <a:avLst/>
            <a:gdLst/>
            <a:ahLst/>
            <a:cxnLst/>
            <a:rect l="l" t="t" r="r" b="b"/>
            <a:pathLst>
              <a:path w="37227" h="1749692">
                <a:moveTo>
                  <a:pt x="37227" y="0"/>
                </a:moveTo>
                <a:lnTo>
                  <a:pt x="37227" y="0"/>
                </a:lnTo>
                <a:lnTo>
                  <a:pt x="37227" y="1749692"/>
                </a:lnTo>
                <a:lnTo>
                  <a:pt x="37227" y="1749692"/>
                </a:lnTo>
                <a:cubicBezTo>
                  <a:pt x="16667" y="1749692"/>
                  <a:pt x="0" y="1733024"/>
                  <a:pt x="0" y="1712464"/>
                </a:cubicBezTo>
                <a:lnTo>
                  <a:pt x="0" y="37227"/>
                </a:lnTo>
                <a:cubicBezTo>
                  <a:pt x="0" y="16681"/>
                  <a:pt x="16681" y="0"/>
                  <a:pt x="37227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95640" y="4113521"/>
            <a:ext cx="446730" cy="446730"/>
          </a:xfrm>
          <a:custGeom>
            <a:avLst/>
            <a:gdLst/>
            <a:ahLst/>
            <a:cxnLst/>
            <a:rect l="l" t="t" r="r" b="b"/>
            <a:pathLst>
              <a:path w="446730" h="446730">
                <a:moveTo>
                  <a:pt x="74456" y="0"/>
                </a:moveTo>
                <a:lnTo>
                  <a:pt x="372273" y="0"/>
                </a:lnTo>
                <a:cubicBezTo>
                  <a:pt x="413394" y="0"/>
                  <a:pt x="446730" y="33335"/>
                  <a:pt x="446730" y="74456"/>
                </a:cubicBezTo>
                <a:lnTo>
                  <a:pt x="446730" y="372273"/>
                </a:lnTo>
                <a:cubicBezTo>
                  <a:pt x="446730" y="413394"/>
                  <a:pt x="413394" y="446730"/>
                  <a:pt x="372273" y="446730"/>
                </a:cubicBezTo>
                <a:lnTo>
                  <a:pt x="74456" y="446730"/>
                </a:lnTo>
                <a:cubicBezTo>
                  <a:pt x="33335" y="446730"/>
                  <a:pt x="0" y="413394"/>
                  <a:pt x="0" y="372273"/>
                </a:cubicBezTo>
                <a:lnTo>
                  <a:pt x="0" y="74456"/>
                </a:lnTo>
                <a:cubicBezTo>
                  <a:pt x="0" y="33363"/>
                  <a:pt x="33363" y="0"/>
                  <a:pt x="74456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707322" y="4225203"/>
            <a:ext cx="223365" cy="223365"/>
          </a:xfrm>
          <a:custGeom>
            <a:avLst/>
            <a:gdLst/>
            <a:ahLst/>
            <a:cxnLst/>
            <a:rect l="l" t="t" r="r" b="b"/>
            <a:pathLst>
              <a:path w="223365" h="223365">
                <a:moveTo>
                  <a:pt x="195444" y="111682"/>
                </a:moveTo>
                <a:cubicBezTo>
                  <a:pt x="195444" y="65453"/>
                  <a:pt x="157912" y="27921"/>
                  <a:pt x="111682" y="27921"/>
                </a:cubicBezTo>
                <a:cubicBezTo>
                  <a:pt x="65453" y="27921"/>
                  <a:pt x="27921" y="65453"/>
                  <a:pt x="27921" y="111682"/>
                </a:cubicBezTo>
                <a:cubicBezTo>
                  <a:pt x="27921" y="157912"/>
                  <a:pt x="65453" y="195444"/>
                  <a:pt x="111682" y="195444"/>
                </a:cubicBezTo>
                <a:cubicBezTo>
                  <a:pt x="157912" y="195444"/>
                  <a:pt x="195444" y="157912"/>
                  <a:pt x="195444" y="111682"/>
                </a:cubicBezTo>
                <a:close/>
                <a:moveTo>
                  <a:pt x="0" y="111682"/>
                </a:moveTo>
                <a:cubicBezTo>
                  <a:pt x="0" y="50043"/>
                  <a:pt x="50043" y="0"/>
                  <a:pt x="111682" y="0"/>
                </a:cubicBezTo>
                <a:cubicBezTo>
                  <a:pt x="173322" y="0"/>
                  <a:pt x="223365" y="50043"/>
                  <a:pt x="223365" y="111682"/>
                </a:cubicBezTo>
                <a:cubicBezTo>
                  <a:pt x="223365" y="173322"/>
                  <a:pt x="173322" y="223365"/>
                  <a:pt x="111682" y="223365"/>
                </a:cubicBezTo>
                <a:cubicBezTo>
                  <a:pt x="50043" y="223365"/>
                  <a:pt x="0" y="173322"/>
                  <a:pt x="0" y="111682"/>
                </a:cubicBezTo>
                <a:close/>
                <a:moveTo>
                  <a:pt x="111682" y="146583"/>
                </a:moveTo>
                <a:cubicBezTo>
                  <a:pt x="130945" y="146583"/>
                  <a:pt x="146583" y="130945"/>
                  <a:pt x="146583" y="111682"/>
                </a:cubicBezTo>
                <a:cubicBezTo>
                  <a:pt x="146583" y="92420"/>
                  <a:pt x="130945" y="76782"/>
                  <a:pt x="111682" y="76782"/>
                </a:cubicBezTo>
                <a:cubicBezTo>
                  <a:pt x="92420" y="76782"/>
                  <a:pt x="76782" y="92420"/>
                  <a:pt x="76782" y="111682"/>
                </a:cubicBezTo>
                <a:cubicBezTo>
                  <a:pt x="76782" y="130945"/>
                  <a:pt x="92420" y="146583"/>
                  <a:pt x="111682" y="146583"/>
                </a:cubicBezTo>
                <a:close/>
                <a:moveTo>
                  <a:pt x="111682" y="48861"/>
                </a:moveTo>
                <a:cubicBezTo>
                  <a:pt x="146355" y="48861"/>
                  <a:pt x="174504" y="77010"/>
                  <a:pt x="174504" y="111682"/>
                </a:cubicBezTo>
                <a:cubicBezTo>
                  <a:pt x="174504" y="146355"/>
                  <a:pt x="146355" y="174504"/>
                  <a:pt x="111682" y="174504"/>
                </a:cubicBezTo>
                <a:cubicBezTo>
                  <a:pt x="77010" y="174504"/>
                  <a:pt x="48861" y="146355"/>
                  <a:pt x="48861" y="111682"/>
                </a:cubicBezTo>
                <a:cubicBezTo>
                  <a:pt x="48861" y="77010"/>
                  <a:pt x="77010" y="48861"/>
                  <a:pt x="111682" y="48861"/>
                </a:cubicBezTo>
                <a:close/>
                <a:moveTo>
                  <a:pt x="97722" y="111682"/>
                </a:moveTo>
                <a:cubicBezTo>
                  <a:pt x="97722" y="103978"/>
                  <a:pt x="103978" y="97722"/>
                  <a:pt x="111682" y="97722"/>
                </a:cubicBezTo>
                <a:cubicBezTo>
                  <a:pt x="119387" y="97722"/>
                  <a:pt x="125643" y="103978"/>
                  <a:pt x="125643" y="111682"/>
                </a:cubicBezTo>
                <a:cubicBezTo>
                  <a:pt x="125643" y="119387"/>
                  <a:pt x="119387" y="125643"/>
                  <a:pt x="111682" y="125643"/>
                </a:cubicBezTo>
                <a:cubicBezTo>
                  <a:pt x="103978" y="125643"/>
                  <a:pt x="97722" y="119387"/>
                  <a:pt x="97722" y="111682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191279" y="4113521"/>
            <a:ext cx="4718583" cy="297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Objective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91279" y="4522906"/>
            <a:ext cx="4681356" cy="967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a production-grade forecasting system that preprocesses raw sensor data, extracts meaningful patterns through comprehensive EDA, and compares multiple ML algorithms to identify the best predictive model for household energy consumption.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12336" y="1343912"/>
            <a:ext cx="5610181" cy="5517113"/>
          </a:xfrm>
          <a:custGeom>
            <a:avLst/>
            <a:gdLst/>
            <a:ahLst/>
            <a:cxnLst/>
            <a:rect l="l" t="t" r="r" b="b"/>
            <a:pathLst>
              <a:path w="5610181" h="5517113">
                <a:moveTo>
                  <a:pt x="74481" y="0"/>
                </a:moveTo>
                <a:lnTo>
                  <a:pt x="5535700" y="0"/>
                </a:lnTo>
                <a:cubicBezTo>
                  <a:pt x="5576835" y="0"/>
                  <a:pt x="5610181" y="33346"/>
                  <a:pt x="5610181" y="74481"/>
                </a:cubicBezTo>
                <a:lnTo>
                  <a:pt x="5610181" y="5442632"/>
                </a:lnTo>
                <a:cubicBezTo>
                  <a:pt x="5610181" y="5483766"/>
                  <a:pt x="5576835" y="5517113"/>
                  <a:pt x="5535700" y="5517113"/>
                </a:cubicBezTo>
                <a:lnTo>
                  <a:pt x="74481" y="5517113"/>
                </a:lnTo>
                <a:cubicBezTo>
                  <a:pt x="33346" y="5517113"/>
                  <a:pt x="0" y="5483766"/>
                  <a:pt x="0" y="5442632"/>
                </a:cubicBezTo>
                <a:lnTo>
                  <a:pt x="0" y="74481"/>
                </a:lnTo>
                <a:cubicBezTo>
                  <a:pt x="0" y="33374"/>
                  <a:pt x="33374" y="0"/>
                  <a:pt x="74481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467344" y="1608111"/>
            <a:ext cx="223365" cy="223365"/>
          </a:xfrm>
          <a:custGeom>
            <a:avLst/>
            <a:gdLst/>
            <a:ahLst/>
            <a:cxnLst/>
            <a:rect l="l" t="t" r="r" b="b"/>
            <a:pathLst>
              <a:path w="223365" h="223365">
                <a:moveTo>
                  <a:pt x="101430" y="2269"/>
                </a:moveTo>
                <a:cubicBezTo>
                  <a:pt x="107931" y="-742"/>
                  <a:pt x="115434" y="-742"/>
                  <a:pt x="121935" y="2269"/>
                </a:cubicBezTo>
                <a:lnTo>
                  <a:pt x="217301" y="46331"/>
                </a:lnTo>
                <a:cubicBezTo>
                  <a:pt x="221009" y="48032"/>
                  <a:pt x="223365" y="51740"/>
                  <a:pt x="223365" y="55841"/>
                </a:cubicBezTo>
                <a:cubicBezTo>
                  <a:pt x="223365" y="59942"/>
                  <a:pt x="221009" y="63650"/>
                  <a:pt x="217301" y="65352"/>
                </a:cubicBezTo>
                <a:lnTo>
                  <a:pt x="121935" y="109414"/>
                </a:lnTo>
                <a:cubicBezTo>
                  <a:pt x="115434" y="112424"/>
                  <a:pt x="107931" y="112424"/>
                  <a:pt x="101430" y="109414"/>
                </a:cubicBezTo>
                <a:lnTo>
                  <a:pt x="6064" y="65352"/>
                </a:lnTo>
                <a:cubicBezTo>
                  <a:pt x="2356" y="63607"/>
                  <a:pt x="0" y="59898"/>
                  <a:pt x="0" y="55841"/>
                </a:cubicBezTo>
                <a:cubicBezTo>
                  <a:pt x="0" y="51784"/>
                  <a:pt x="2356" y="48032"/>
                  <a:pt x="6064" y="46331"/>
                </a:cubicBezTo>
                <a:lnTo>
                  <a:pt x="101430" y="2269"/>
                </a:lnTo>
                <a:close/>
                <a:moveTo>
                  <a:pt x="20984" y="95279"/>
                </a:moveTo>
                <a:lnTo>
                  <a:pt x="92662" y="128391"/>
                </a:lnTo>
                <a:cubicBezTo>
                  <a:pt x="104746" y="133975"/>
                  <a:pt x="118663" y="133975"/>
                  <a:pt x="130747" y="128391"/>
                </a:cubicBezTo>
                <a:lnTo>
                  <a:pt x="202424" y="95279"/>
                </a:lnTo>
                <a:lnTo>
                  <a:pt x="217301" y="102172"/>
                </a:lnTo>
                <a:cubicBezTo>
                  <a:pt x="221009" y="103873"/>
                  <a:pt x="223365" y="107582"/>
                  <a:pt x="223365" y="111682"/>
                </a:cubicBezTo>
                <a:cubicBezTo>
                  <a:pt x="223365" y="115783"/>
                  <a:pt x="221009" y="119491"/>
                  <a:pt x="217301" y="121193"/>
                </a:cubicBezTo>
                <a:lnTo>
                  <a:pt x="121935" y="165255"/>
                </a:lnTo>
                <a:cubicBezTo>
                  <a:pt x="115434" y="168265"/>
                  <a:pt x="107931" y="168265"/>
                  <a:pt x="101430" y="165255"/>
                </a:cubicBezTo>
                <a:lnTo>
                  <a:pt x="6064" y="121193"/>
                </a:lnTo>
                <a:cubicBezTo>
                  <a:pt x="2356" y="119448"/>
                  <a:pt x="0" y="115740"/>
                  <a:pt x="0" y="111682"/>
                </a:cubicBezTo>
                <a:cubicBezTo>
                  <a:pt x="0" y="107625"/>
                  <a:pt x="2356" y="103873"/>
                  <a:pt x="6064" y="102172"/>
                </a:cubicBezTo>
                <a:lnTo>
                  <a:pt x="20940" y="95279"/>
                </a:lnTo>
                <a:close/>
                <a:moveTo>
                  <a:pt x="6064" y="158013"/>
                </a:moveTo>
                <a:lnTo>
                  <a:pt x="20940" y="151120"/>
                </a:lnTo>
                <a:lnTo>
                  <a:pt x="92618" y="184232"/>
                </a:lnTo>
                <a:cubicBezTo>
                  <a:pt x="104702" y="189817"/>
                  <a:pt x="118619" y="189817"/>
                  <a:pt x="130703" y="184232"/>
                </a:cubicBezTo>
                <a:lnTo>
                  <a:pt x="202381" y="151120"/>
                </a:lnTo>
                <a:lnTo>
                  <a:pt x="217257" y="158013"/>
                </a:lnTo>
                <a:cubicBezTo>
                  <a:pt x="220965" y="159715"/>
                  <a:pt x="223321" y="163423"/>
                  <a:pt x="223321" y="167524"/>
                </a:cubicBezTo>
                <a:cubicBezTo>
                  <a:pt x="223321" y="171625"/>
                  <a:pt x="220965" y="175333"/>
                  <a:pt x="217257" y="177034"/>
                </a:cubicBezTo>
                <a:lnTo>
                  <a:pt x="121891" y="221096"/>
                </a:lnTo>
                <a:cubicBezTo>
                  <a:pt x="115391" y="224107"/>
                  <a:pt x="107887" y="224107"/>
                  <a:pt x="101387" y="221096"/>
                </a:cubicBezTo>
                <a:lnTo>
                  <a:pt x="6064" y="177034"/>
                </a:lnTo>
                <a:cubicBezTo>
                  <a:pt x="2356" y="175289"/>
                  <a:pt x="0" y="171581"/>
                  <a:pt x="0" y="167524"/>
                </a:cubicBezTo>
                <a:cubicBezTo>
                  <a:pt x="0" y="163466"/>
                  <a:pt x="2356" y="159715"/>
                  <a:pt x="6064" y="158013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718630" y="1571000"/>
            <a:ext cx="4988482" cy="297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Three-Layer Approach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39424" y="2092068"/>
            <a:ext cx="521185" cy="521185"/>
          </a:xfrm>
          <a:custGeom>
            <a:avLst/>
            <a:gdLst/>
            <a:ahLst/>
            <a:cxnLst/>
            <a:rect l="l" t="t" r="r" b="b"/>
            <a:pathLst>
              <a:path w="521185" h="521185">
                <a:moveTo>
                  <a:pt x="74456" y="0"/>
                </a:moveTo>
                <a:lnTo>
                  <a:pt x="446728" y="0"/>
                </a:lnTo>
                <a:cubicBezTo>
                  <a:pt x="487822" y="0"/>
                  <a:pt x="521185" y="33363"/>
                  <a:pt x="521185" y="74456"/>
                </a:cubicBezTo>
                <a:lnTo>
                  <a:pt x="521185" y="446728"/>
                </a:lnTo>
                <a:cubicBezTo>
                  <a:pt x="521185" y="487849"/>
                  <a:pt x="487849" y="521185"/>
                  <a:pt x="446728" y="521185"/>
                </a:cubicBezTo>
                <a:lnTo>
                  <a:pt x="74456" y="521185"/>
                </a:lnTo>
                <a:cubicBezTo>
                  <a:pt x="33363" y="521185"/>
                  <a:pt x="0" y="487822"/>
                  <a:pt x="0" y="446728"/>
                </a:cubicBezTo>
                <a:lnTo>
                  <a:pt x="0" y="74456"/>
                </a:lnTo>
                <a:cubicBezTo>
                  <a:pt x="0" y="33335"/>
                  <a:pt x="33335" y="0"/>
                  <a:pt x="74456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592056" y="2203750"/>
            <a:ext cx="325740" cy="297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9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09518" y="2092068"/>
            <a:ext cx="4578980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Preprocessing Pipeline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09518" y="2427115"/>
            <a:ext cx="4560366" cy="725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Production-grade pipeline: ingestion → physical validation → hierarchical imputation → cyclical &amp; lag feature engineering → differential scaling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39424" y="3339188"/>
            <a:ext cx="521185" cy="521185"/>
          </a:xfrm>
          <a:custGeom>
            <a:avLst/>
            <a:gdLst/>
            <a:ahLst/>
            <a:cxnLst/>
            <a:rect l="l" t="t" r="r" b="b"/>
            <a:pathLst>
              <a:path w="521185" h="521185">
                <a:moveTo>
                  <a:pt x="74456" y="0"/>
                </a:moveTo>
                <a:lnTo>
                  <a:pt x="446728" y="0"/>
                </a:lnTo>
                <a:cubicBezTo>
                  <a:pt x="487822" y="0"/>
                  <a:pt x="521185" y="33363"/>
                  <a:pt x="521185" y="74456"/>
                </a:cubicBezTo>
                <a:lnTo>
                  <a:pt x="521185" y="446728"/>
                </a:lnTo>
                <a:cubicBezTo>
                  <a:pt x="521185" y="487849"/>
                  <a:pt x="487849" y="521185"/>
                  <a:pt x="446728" y="521185"/>
                </a:cubicBezTo>
                <a:lnTo>
                  <a:pt x="74456" y="521185"/>
                </a:lnTo>
                <a:cubicBezTo>
                  <a:pt x="33363" y="521185"/>
                  <a:pt x="0" y="487822"/>
                  <a:pt x="0" y="446728"/>
                </a:cubicBezTo>
                <a:lnTo>
                  <a:pt x="0" y="74456"/>
                </a:lnTo>
                <a:cubicBezTo>
                  <a:pt x="0" y="33335"/>
                  <a:pt x="33335" y="0"/>
                  <a:pt x="74456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570650" y="3450871"/>
            <a:ext cx="372275" cy="297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9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09518" y="3339188"/>
            <a:ext cx="4578980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Exploratory Data Analysis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09518" y="3674236"/>
            <a:ext cx="4560366" cy="725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analysis: time-series structure, seasonality decomposition, stationarity tests, correlation analysis, outlier detection, anomaly identification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39424" y="4586309"/>
            <a:ext cx="521185" cy="521185"/>
          </a:xfrm>
          <a:custGeom>
            <a:avLst/>
            <a:gdLst/>
            <a:ahLst/>
            <a:cxnLst/>
            <a:rect l="l" t="t" r="r" b="b"/>
            <a:pathLst>
              <a:path w="521185" h="521185">
                <a:moveTo>
                  <a:pt x="74456" y="0"/>
                </a:moveTo>
                <a:lnTo>
                  <a:pt x="446728" y="0"/>
                </a:lnTo>
                <a:cubicBezTo>
                  <a:pt x="487822" y="0"/>
                  <a:pt x="521185" y="33363"/>
                  <a:pt x="521185" y="74456"/>
                </a:cubicBezTo>
                <a:lnTo>
                  <a:pt x="521185" y="446728"/>
                </a:lnTo>
                <a:cubicBezTo>
                  <a:pt x="521185" y="487849"/>
                  <a:pt x="487849" y="521185"/>
                  <a:pt x="446728" y="521185"/>
                </a:cubicBezTo>
                <a:lnTo>
                  <a:pt x="74456" y="521185"/>
                </a:lnTo>
                <a:cubicBezTo>
                  <a:pt x="33363" y="521185"/>
                  <a:pt x="0" y="487822"/>
                  <a:pt x="0" y="446728"/>
                </a:cubicBezTo>
                <a:lnTo>
                  <a:pt x="0" y="74456"/>
                </a:lnTo>
                <a:cubicBezTo>
                  <a:pt x="0" y="33335"/>
                  <a:pt x="33335" y="0"/>
                  <a:pt x="74456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567742" y="4697992"/>
            <a:ext cx="372275" cy="297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9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09518" y="4586309"/>
            <a:ext cx="4578980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6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Forecasting Module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109518" y="4921356"/>
            <a:ext cx="4560366" cy="725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Comparative modeling: Linear Regression (baseline), Decision Tree (interpretability), Random Forest (ensemble performance) with engineered features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43146" y="5874380"/>
            <a:ext cx="5144838" cy="751995"/>
          </a:xfrm>
          <a:custGeom>
            <a:avLst/>
            <a:gdLst/>
            <a:ahLst/>
            <a:cxnLst/>
            <a:rect l="l" t="t" r="r" b="b"/>
            <a:pathLst>
              <a:path w="5144838" h="751995">
                <a:moveTo>
                  <a:pt x="74455" y="0"/>
                </a:moveTo>
                <a:lnTo>
                  <a:pt x="5070383" y="0"/>
                </a:lnTo>
                <a:cubicBezTo>
                  <a:pt x="5111503" y="0"/>
                  <a:pt x="5144838" y="33335"/>
                  <a:pt x="5144838" y="74455"/>
                </a:cubicBezTo>
                <a:lnTo>
                  <a:pt x="5144838" y="677540"/>
                </a:lnTo>
                <a:cubicBezTo>
                  <a:pt x="5144838" y="718660"/>
                  <a:pt x="5111503" y="751995"/>
                  <a:pt x="5070383" y="751995"/>
                </a:cubicBezTo>
                <a:lnTo>
                  <a:pt x="74455" y="751995"/>
                </a:lnTo>
                <a:cubicBezTo>
                  <a:pt x="33335" y="751995"/>
                  <a:pt x="0" y="718660"/>
                  <a:pt x="0" y="677540"/>
                </a:cubicBezTo>
                <a:lnTo>
                  <a:pt x="0" y="74455"/>
                </a:lnTo>
                <a:cubicBezTo>
                  <a:pt x="0" y="33362"/>
                  <a:pt x="33362" y="0"/>
                  <a:pt x="74455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633007" y="6056795"/>
            <a:ext cx="111682" cy="148910"/>
          </a:xfrm>
          <a:custGeom>
            <a:avLst/>
            <a:gdLst/>
            <a:ahLst/>
            <a:cxnLst/>
            <a:rect l="l" t="t" r="r" b="b"/>
            <a:pathLst>
              <a:path w="111682" h="148910">
                <a:moveTo>
                  <a:pt x="85187" y="111682"/>
                </a:moveTo>
                <a:cubicBezTo>
                  <a:pt x="87310" y="105197"/>
                  <a:pt x="91556" y="99322"/>
                  <a:pt x="96355" y="94261"/>
                </a:cubicBezTo>
                <a:cubicBezTo>
                  <a:pt x="105866" y="84256"/>
                  <a:pt x="111682" y="70732"/>
                  <a:pt x="111682" y="55841"/>
                </a:cubicBezTo>
                <a:cubicBezTo>
                  <a:pt x="111682" y="25012"/>
                  <a:pt x="86670" y="0"/>
                  <a:pt x="55841" y="0"/>
                </a:cubicBezTo>
                <a:cubicBezTo>
                  <a:pt x="25012" y="0"/>
                  <a:pt x="0" y="25012"/>
                  <a:pt x="0" y="55841"/>
                </a:cubicBezTo>
                <a:cubicBezTo>
                  <a:pt x="0" y="70732"/>
                  <a:pt x="5817" y="84256"/>
                  <a:pt x="15327" y="94261"/>
                </a:cubicBezTo>
                <a:cubicBezTo>
                  <a:pt x="20126" y="99322"/>
                  <a:pt x="24401" y="105197"/>
                  <a:pt x="26495" y="111682"/>
                </a:cubicBezTo>
                <a:lnTo>
                  <a:pt x="85158" y="111682"/>
                </a:lnTo>
                <a:close/>
                <a:moveTo>
                  <a:pt x="83762" y="125643"/>
                </a:moveTo>
                <a:lnTo>
                  <a:pt x="27921" y="125643"/>
                </a:lnTo>
                <a:lnTo>
                  <a:pt x="27921" y="130296"/>
                </a:lnTo>
                <a:cubicBezTo>
                  <a:pt x="27921" y="143151"/>
                  <a:pt x="38333" y="153563"/>
                  <a:pt x="51188" y="153563"/>
                </a:cubicBezTo>
                <a:lnTo>
                  <a:pt x="60495" y="153563"/>
                </a:lnTo>
                <a:cubicBezTo>
                  <a:pt x="73350" y="153563"/>
                  <a:pt x="83762" y="143151"/>
                  <a:pt x="83762" y="130296"/>
                </a:cubicBezTo>
                <a:lnTo>
                  <a:pt x="83762" y="125643"/>
                </a:lnTo>
                <a:close/>
                <a:moveTo>
                  <a:pt x="53515" y="32574"/>
                </a:moveTo>
                <a:cubicBezTo>
                  <a:pt x="41939" y="32574"/>
                  <a:pt x="32574" y="41939"/>
                  <a:pt x="32574" y="53515"/>
                </a:cubicBezTo>
                <a:cubicBezTo>
                  <a:pt x="32574" y="57383"/>
                  <a:pt x="29462" y="60495"/>
                  <a:pt x="25594" y="60495"/>
                </a:cubicBezTo>
                <a:cubicBezTo>
                  <a:pt x="21726" y="60495"/>
                  <a:pt x="18614" y="57383"/>
                  <a:pt x="18614" y="53515"/>
                </a:cubicBezTo>
                <a:cubicBezTo>
                  <a:pt x="18614" y="34232"/>
                  <a:pt x="34232" y="18614"/>
                  <a:pt x="53515" y="18614"/>
                </a:cubicBezTo>
                <a:cubicBezTo>
                  <a:pt x="57383" y="18614"/>
                  <a:pt x="60495" y="21726"/>
                  <a:pt x="60495" y="25594"/>
                </a:cubicBezTo>
                <a:cubicBezTo>
                  <a:pt x="60495" y="29462"/>
                  <a:pt x="57383" y="32574"/>
                  <a:pt x="53515" y="32574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836479" y="6027013"/>
            <a:ext cx="4673328" cy="44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Innovation:</a:t>
            </a:r>
            <a:r>
              <a:rPr lang="en-US" sz="1173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Hierarchical imputation using seasonal means and cyclical time encodings capture complex temporal patterns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Description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337310"/>
            <a:ext cx="4855845" cy="3741420"/>
          </a:xfrm>
          <a:custGeom>
            <a:avLst/>
            <a:gdLst/>
            <a:ahLst/>
            <a:cxnLst/>
            <a:rect l="l" t="t" r="r" b="b"/>
            <a:pathLst>
              <a:path w="4855845" h="3741420">
                <a:moveTo>
                  <a:pt x="76213" y="0"/>
                </a:moveTo>
                <a:lnTo>
                  <a:pt x="4779632" y="0"/>
                </a:lnTo>
                <a:cubicBezTo>
                  <a:pt x="4821723" y="0"/>
                  <a:pt x="4855845" y="34122"/>
                  <a:pt x="4855845" y="76213"/>
                </a:cubicBezTo>
                <a:lnTo>
                  <a:pt x="4855845" y="3665207"/>
                </a:lnTo>
                <a:cubicBezTo>
                  <a:pt x="4855845" y="3707298"/>
                  <a:pt x="4821723" y="3741420"/>
                  <a:pt x="4779632" y="3741420"/>
                </a:cubicBezTo>
                <a:lnTo>
                  <a:pt x="76213" y="3741420"/>
                </a:lnTo>
                <a:cubicBezTo>
                  <a:pt x="34122" y="3741420"/>
                  <a:pt x="0" y="3707298"/>
                  <a:pt x="0" y="3665207"/>
                </a:cubicBezTo>
                <a:lnTo>
                  <a:pt x="0" y="76213"/>
                </a:lnTo>
                <a:cubicBezTo>
                  <a:pt x="0" y="34150"/>
                  <a:pt x="34150" y="0"/>
                  <a:pt x="76213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35079" y="1541026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50608" y="1531620"/>
            <a:ext cx="2457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UCI Repository Dataset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9120" y="2373511"/>
            <a:ext cx="4467225" cy="7620"/>
          </a:xfrm>
          <a:custGeom>
            <a:avLst/>
            <a:gdLst/>
            <a:ahLst/>
            <a:cxnLst/>
            <a:rect l="l" t="t" r="r" b="b"/>
            <a:pathLst>
              <a:path w="4467225" h="7620">
                <a:moveTo>
                  <a:pt x="0" y="0"/>
                </a:moveTo>
                <a:lnTo>
                  <a:pt x="4467225" y="0"/>
                </a:lnTo>
                <a:lnTo>
                  <a:pt x="44672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79120" y="2064901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 File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00457" y="2064901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household_power_consumption.txt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9120" y="2876431"/>
            <a:ext cx="4467225" cy="7620"/>
          </a:xfrm>
          <a:custGeom>
            <a:avLst/>
            <a:gdLst/>
            <a:ahLst/>
            <a:cxnLst/>
            <a:rect l="l" t="t" r="r" b="b"/>
            <a:pathLst>
              <a:path w="4467225" h="7620">
                <a:moveTo>
                  <a:pt x="0" y="0"/>
                </a:moveTo>
                <a:lnTo>
                  <a:pt x="4467225" y="0"/>
                </a:lnTo>
                <a:lnTo>
                  <a:pt x="44672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79120" y="2567821"/>
            <a:ext cx="723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Separator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79570" y="2567821"/>
            <a:ext cx="942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Semicolon (;)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9120" y="3379352"/>
            <a:ext cx="4467225" cy="7620"/>
          </a:xfrm>
          <a:custGeom>
            <a:avLst/>
            <a:gdLst/>
            <a:ahLst/>
            <a:cxnLst/>
            <a:rect l="l" t="t" r="r" b="b"/>
            <a:pathLst>
              <a:path w="4467225" h="7620">
                <a:moveTo>
                  <a:pt x="0" y="0"/>
                </a:moveTo>
                <a:lnTo>
                  <a:pt x="4467225" y="0"/>
                </a:lnTo>
                <a:lnTo>
                  <a:pt x="44672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79120" y="3070742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50087" y="3070742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Encoded as '?' (~1.25%)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9120" y="3882271"/>
            <a:ext cx="4467225" cy="7620"/>
          </a:xfrm>
          <a:custGeom>
            <a:avLst/>
            <a:gdLst/>
            <a:ahLst/>
            <a:cxnLst/>
            <a:rect l="l" t="t" r="r" b="b"/>
            <a:pathLst>
              <a:path w="4467225" h="7620">
                <a:moveTo>
                  <a:pt x="0" y="0"/>
                </a:moveTo>
                <a:lnTo>
                  <a:pt x="4467225" y="0"/>
                </a:lnTo>
                <a:lnTo>
                  <a:pt x="44672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79120" y="3573661"/>
            <a:ext cx="800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Granularity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70365" y="3573661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1-minute intervals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9120" y="4385191"/>
            <a:ext cx="4467225" cy="7620"/>
          </a:xfrm>
          <a:custGeom>
            <a:avLst/>
            <a:gdLst/>
            <a:ahLst/>
            <a:cxnLst/>
            <a:rect l="l" t="t" r="r" b="b"/>
            <a:pathLst>
              <a:path w="4467225" h="7620">
                <a:moveTo>
                  <a:pt x="0" y="0"/>
                </a:moveTo>
                <a:lnTo>
                  <a:pt x="4467225" y="0"/>
                </a:lnTo>
                <a:lnTo>
                  <a:pt x="4467225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79120" y="4076581"/>
            <a:ext cx="847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Range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83913" y="4076581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Multi-year recording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9120" y="4579502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Size Used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78662" y="4579502"/>
            <a:ext cx="1543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50,000 rows (of ~2M)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4810" y="5238632"/>
            <a:ext cx="4855845" cy="998220"/>
          </a:xfrm>
          <a:custGeom>
            <a:avLst/>
            <a:gdLst/>
            <a:ahLst/>
            <a:cxnLst/>
            <a:rect l="l" t="t" r="r" b="b"/>
            <a:pathLst>
              <a:path w="4855845" h="998220">
                <a:moveTo>
                  <a:pt x="76204" y="0"/>
                </a:moveTo>
                <a:lnTo>
                  <a:pt x="4779641" y="0"/>
                </a:lnTo>
                <a:cubicBezTo>
                  <a:pt x="4821727" y="0"/>
                  <a:pt x="4855845" y="34118"/>
                  <a:pt x="4855845" y="76204"/>
                </a:cubicBezTo>
                <a:lnTo>
                  <a:pt x="4855845" y="922016"/>
                </a:lnTo>
                <a:cubicBezTo>
                  <a:pt x="4855845" y="964102"/>
                  <a:pt x="4821727" y="998220"/>
                  <a:pt x="4779641" y="998220"/>
                </a:cubicBezTo>
                <a:lnTo>
                  <a:pt x="76204" y="998220"/>
                </a:lnTo>
                <a:cubicBezTo>
                  <a:pt x="34118" y="998220"/>
                  <a:pt x="0" y="964102"/>
                  <a:pt x="0" y="92201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60070" y="542532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88670" y="5394840"/>
            <a:ext cx="4371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</a:t>
            </a:r>
            <a:r>
              <a:rPr lang="en-US" sz="12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Full dataset contains ~2 million rows. Subset used for computational efficiency in Colab environment while maintaining representative temporal patterns.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75685" y="1337310"/>
            <a:ext cx="6332220" cy="5246370"/>
          </a:xfrm>
          <a:custGeom>
            <a:avLst/>
            <a:gdLst/>
            <a:ahLst/>
            <a:cxnLst/>
            <a:rect l="l" t="t" r="r" b="b"/>
            <a:pathLst>
              <a:path w="6332220" h="5246370">
                <a:moveTo>
                  <a:pt x="76177" y="0"/>
                </a:moveTo>
                <a:lnTo>
                  <a:pt x="6256043" y="0"/>
                </a:lnTo>
                <a:cubicBezTo>
                  <a:pt x="6298114" y="0"/>
                  <a:pt x="6332220" y="34106"/>
                  <a:pt x="6332220" y="76177"/>
                </a:cubicBezTo>
                <a:lnTo>
                  <a:pt x="6332220" y="5170193"/>
                </a:lnTo>
                <a:cubicBezTo>
                  <a:pt x="6332220" y="5212264"/>
                  <a:pt x="6298114" y="5246370"/>
                  <a:pt x="6256043" y="5246370"/>
                </a:cubicBezTo>
                <a:lnTo>
                  <a:pt x="76177" y="5246370"/>
                </a:lnTo>
                <a:cubicBezTo>
                  <a:pt x="34106" y="5246370"/>
                  <a:pt x="0" y="5212264"/>
                  <a:pt x="0" y="5170193"/>
                </a:cubicBezTo>
                <a:lnTo>
                  <a:pt x="0" y="76177"/>
                </a:lnTo>
                <a:cubicBezTo>
                  <a:pt x="0" y="34134"/>
                  <a:pt x="34134" y="0"/>
                  <a:pt x="76177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698570" y="156960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1" y="64294"/>
                </a:moveTo>
                <a:cubicBezTo>
                  <a:pt x="33259" y="64294"/>
                  <a:pt x="42863" y="54691"/>
                  <a:pt x="42863" y="42863"/>
                </a:cubicBezTo>
                <a:cubicBezTo>
                  <a:pt x="42863" y="31034"/>
                  <a:pt x="33259" y="21431"/>
                  <a:pt x="21431" y="21431"/>
                </a:cubicBezTo>
                <a:cubicBezTo>
                  <a:pt x="9603" y="21431"/>
                  <a:pt x="0" y="31034"/>
                  <a:pt x="0" y="42863"/>
                </a:cubicBezTo>
                <a:cubicBezTo>
                  <a:pt x="0" y="54691"/>
                  <a:pt x="9603" y="64294"/>
                  <a:pt x="21431" y="64294"/>
                </a:cubicBezTo>
                <a:close/>
                <a:moveTo>
                  <a:pt x="85725" y="28575"/>
                </a:moveTo>
                <a:cubicBezTo>
                  <a:pt x="77822" y="28575"/>
                  <a:pt x="71438" y="34960"/>
                  <a:pt x="71438" y="42863"/>
                </a:cubicBezTo>
                <a:cubicBezTo>
                  <a:pt x="71438" y="50765"/>
                  <a:pt x="77822" y="57150"/>
                  <a:pt x="85725" y="57150"/>
                </a:cubicBezTo>
                <a:lnTo>
                  <a:pt x="214313" y="57150"/>
                </a:lnTo>
                <a:cubicBezTo>
                  <a:pt x="222215" y="57150"/>
                  <a:pt x="228600" y="50765"/>
                  <a:pt x="228600" y="42863"/>
                </a:cubicBezTo>
                <a:cubicBezTo>
                  <a:pt x="228600" y="34960"/>
                  <a:pt x="222215" y="28575"/>
                  <a:pt x="214313" y="28575"/>
                </a:cubicBezTo>
                <a:lnTo>
                  <a:pt x="85725" y="28575"/>
                </a:lnTo>
                <a:close/>
                <a:moveTo>
                  <a:pt x="85725" y="100013"/>
                </a:moveTo>
                <a:cubicBezTo>
                  <a:pt x="77822" y="100013"/>
                  <a:pt x="71438" y="106397"/>
                  <a:pt x="71438" y="114300"/>
                </a:cubicBezTo>
                <a:cubicBezTo>
                  <a:pt x="71438" y="122203"/>
                  <a:pt x="77822" y="128588"/>
                  <a:pt x="85725" y="128588"/>
                </a:cubicBezTo>
                <a:lnTo>
                  <a:pt x="214313" y="128588"/>
                </a:lnTo>
                <a:cubicBezTo>
                  <a:pt x="222215" y="128588"/>
                  <a:pt x="228600" y="122203"/>
                  <a:pt x="228600" y="114300"/>
                </a:cubicBezTo>
                <a:cubicBezTo>
                  <a:pt x="228600" y="106397"/>
                  <a:pt x="222215" y="100013"/>
                  <a:pt x="214313" y="100013"/>
                </a:cubicBezTo>
                <a:lnTo>
                  <a:pt x="85725" y="100013"/>
                </a:lnTo>
                <a:close/>
                <a:moveTo>
                  <a:pt x="85725" y="171450"/>
                </a:moveTo>
                <a:cubicBezTo>
                  <a:pt x="77822" y="171450"/>
                  <a:pt x="71438" y="177835"/>
                  <a:pt x="71438" y="185738"/>
                </a:cubicBezTo>
                <a:cubicBezTo>
                  <a:pt x="71438" y="193640"/>
                  <a:pt x="77822" y="200025"/>
                  <a:pt x="85725" y="200025"/>
                </a:cubicBezTo>
                <a:lnTo>
                  <a:pt x="214313" y="200025"/>
                </a:lnTo>
                <a:cubicBezTo>
                  <a:pt x="222215" y="200025"/>
                  <a:pt x="228600" y="193640"/>
                  <a:pt x="228600" y="185738"/>
                </a:cubicBezTo>
                <a:cubicBezTo>
                  <a:pt x="228600" y="177835"/>
                  <a:pt x="222215" y="171450"/>
                  <a:pt x="214313" y="171450"/>
                </a:cubicBezTo>
                <a:lnTo>
                  <a:pt x="85725" y="171450"/>
                </a:lnTo>
                <a:close/>
                <a:moveTo>
                  <a:pt x="21431" y="207169"/>
                </a:moveTo>
                <a:cubicBezTo>
                  <a:pt x="33259" y="207169"/>
                  <a:pt x="42863" y="197566"/>
                  <a:pt x="42863" y="185738"/>
                </a:cubicBezTo>
                <a:cubicBezTo>
                  <a:pt x="42863" y="173909"/>
                  <a:pt x="33259" y="164306"/>
                  <a:pt x="21431" y="164306"/>
                </a:cubicBezTo>
                <a:cubicBezTo>
                  <a:pt x="9603" y="164306"/>
                  <a:pt x="0" y="173909"/>
                  <a:pt x="0" y="185738"/>
                </a:cubicBezTo>
                <a:cubicBezTo>
                  <a:pt x="0" y="197566"/>
                  <a:pt x="9603" y="207169"/>
                  <a:pt x="21431" y="207169"/>
                </a:cubicBezTo>
                <a:close/>
                <a:moveTo>
                  <a:pt x="42863" y="114300"/>
                </a:moveTo>
                <a:cubicBezTo>
                  <a:pt x="42863" y="102472"/>
                  <a:pt x="33259" y="92869"/>
                  <a:pt x="21431" y="92869"/>
                </a:cubicBezTo>
                <a:cubicBezTo>
                  <a:pt x="9603" y="92869"/>
                  <a:pt x="0" y="102472"/>
                  <a:pt x="0" y="114300"/>
                </a:cubicBezTo>
                <a:cubicBezTo>
                  <a:pt x="0" y="126128"/>
                  <a:pt x="9603" y="135731"/>
                  <a:pt x="21431" y="135731"/>
                </a:cubicBezTo>
                <a:cubicBezTo>
                  <a:pt x="33259" y="135731"/>
                  <a:pt x="42863" y="126128"/>
                  <a:pt x="42863" y="11430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955745" y="1531620"/>
            <a:ext cx="5772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 &amp; Target Variable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89045" y="1988701"/>
            <a:ext cx="5924550" cy="876300"/>
          </a:xfrm>
          <a:custGeom>
            <a:avLst/>
            <a:gdLst/>
            <a:ahLst/>
            <a:cxnLst/>
            <a:rect l="l" t="t" r="r" b="b"/>
            <a:pathLst>
              <a:path w="5924550" h="876300">
                <a:moveTo>
                  <a:pt x="38100" y="0"/>
                </a:moveTo>
                <a:lnTo>
                  <a:pt x="5886448" y="0"/>
                </a:lnTo>
                <a:cubicBezTo>
                  <a:pt x="5907491" y="0"/>
                  <a:pt x="5924550" y="17059"/>
                  <a:pt x="5924550" y="38102"/>
                </a:cubicBezTo>
                <a:lnTo>
                  <a:pt x="5924550" y="838198"/>
                </a:lnTo>
                <a:cubicBezTo>
                  <a:pt x="5924550" y="859241"/>
                  <a:pt x="5907491" y="876300"/>
                  <a:pt x="5886448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689045" y="1988701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860495" y="2141101"/>
            <a:ext cx="1666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Global_active_power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765513" y="2141101"/>
            <a:ext cx="695325" cy="266700"/>
          </a:xfrm>
          <a:custGeom>
            <a:avLst/>
            <a:gdLst/>
            <a:ahLst/>
            <a:cxnLst/>
            <a:rect l="l" t="t" r="r" b="b"/>
            <a:pathLst>
              <a:path w="695325" h="266700">
                <a:moveTo>
                  <a:pt x="133350" y="0"/>
                </a:moveTo>
                <a:lnTo>
                  <a:pt x="561975" y="0"/>
                </a:lnTo>
                <a:cubicBezTo>
                  <a:pt x="635573" y="0"/>
                  <a:pt x="695325" y="59752"/>
                  <a:pt x="695325" y="133350"/>
                </a:cubicBezTo>
                <a:lnTo>
                  <a:pt x="695325" y="133350"/>
                </a:lnTo>
                <a:cubicBezTo>
                  <a:pt x="695325" y="206948"/>
                  <a:pt x="635573" y="266700"/>
                  <a:pt x="5619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10765513" y="2141101"/>
            <a:ext cx="7620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860495" y="2484001"/>
            <a:ext cx="5676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Household global minute-averaged active power (kilowatts)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73805" y="2983111"/>
            <a:ext cx="2903220" cy="693420"/>
          </a:xfrm>
          <a:custGeom>
            <a:avLst/>
            <a:gdLst/>
            <a:ahLst/>
            <a:cxnLst/>
            <a:rect l="l" t="t" r="r" b="b"/>
            <a:pathLst>
              <a:path w="2903220" h="693420">
                <a:moveTo>
                  <a:pt x="38103" y="0"/>
                </a:moveTo>
                <a:lnTo>
                  <a:pt x="2865117" y="0"/>
                </a:lnTo>
                <a:cubicBezTo>
                  <a:pt x="2886146" y="0"/>
                  <a:pt x="2903220" y="17074"/>
                  <a:pt x="2903220" y="38103"/>
                </a:cubicBezTo>
                <a:lnTo>
                  <a:pt x="2903220" y="655317"/>
                </a:lnTo>
                <a:cubicBezTo>
                  <a:pt x="2903220" y="676346"/>
                  <a:pt x="2886146" y="693420"/>
                  <a:pt x="2865117" y="693420"/>
                </a:cubicBezTo>
                <a:lnTo>
                  <a:pt x="38103" y="693420"/>
                </a:lnTo>
                <a:cubicBezTo>
                  <a:pt x="17074" y="693420"/>
                  <a:pt x="0" y="676346"/>
                  <a:pt x="0" y="655317"/>
                </a:cubicBezTo>
                <a:lnTo>
                  <a:pt x="0" y="38103"/>
                </a:lnTo>
                <a:cubicBezTo>
                  <a:pt x="0" y="17074"/>
                  <a:pt x="17074" y="0"/>
                  <a:pt x="381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791914" y="3101221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Global_reactive_power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791914" y="3367921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Reactive power (kW)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702397" y="2983111"/>
            <a:ext cx="2903220" cy="693420"/>
          </a:xfrm>
          <a:custGeom>
            <a:avLst/>
            <a:gdLst/>
            <a:ahLst/>
            <a:cxnLst/>
            <a:rect l="l" t="t" r="r" b="b"/>
            <a:pathLst>
              <a:path w="2903220" h="693420">
                <a:moveTo>
                  <a:pt x="38103" y="0"/>
                </a:moveTo>
                <a:lnTo>
                  <a:pt x="2865117" y="0"/>
                </a:lnTo>
                <a:cubicBezTo>
                  <a:pt x="2886146" y="0"/>
                  <a:pt x="2903220" y="17074"/>
                  <a:pt x="2903220" y="38103"/>
                </a:cubicBezTo>
                <a:lnTo>
                  <a:pt x="2903220" y="655317"/>
                </a:lnTo>
                <a:cubicBezTo>
                  <a:pt x="2903220" y="676346"/>
                  <a:pt x="2886146" y="693420"/>
                  <a:pt x="2865117" y="693420"/>
                </a:cubicBezTo>
                <a:lnTo>
                  <a:pt x="38103" y="693420"/>
                </a:lnTo>
                <a:cubicBezTo>
                  <a:pt x="17074" y="693420"/>
                  <a:pt x="0" y="676346"/>
                  <a:pt x="0" y="655317"/>
                </a:cubicBezTo>
                <a:lnTo>
                  <a:pt x="0" y="38103"/>
                </a:lnTo>
                <a:cubicBezTo>
                  <a:pt x="0" y="17074"/>
                  <a:pt x="17074" y="0"/>
                  <a:pt x="381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820508" y="3101221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Voltage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820508" y="3367921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Minute-averaged voltage (V)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673805" y="3798452"/>
            <a:ext cx="2903220" cy="693420"/>
          </a:xfrm>
          <a:custGeom>
            <a:avLst/>
            <a:gdLst/>
            <a:ahLst/>
            <a:cxnLst/>
            <a:rect l="l" t="t" r="r" b="b"/>
            <a:pathLst>
              <a:path w="2903220" h="693420">
                <a:moveTo>
                  <a:pt x="38103" y="0"/>
                </a:moveTo>
                <a:lnTo>
                  <a:pt x="2865117" y="0"/>
                </a:lnTo>
                <a:cubicBezTo>
                  <a:pt x="2886146" y="0"/>
                  <a:pt x="2903220" y="17074"/>
                  <a:pt x="2903220" y="38103"/>
                </a:cubicBezTo>
                <a:lnTo>
                  <a:pt x="2903220" y="655317"/>
                </a:lnTo>
                <a:cubicBezTo>
                  <a:pt x="2903220" y="676346"/>
                  <a:pt x="2886146" y="693420"/>
                  <a:pt x="2865117" y="693420"/>
                </a:cubicBezTo>
                <a:lnTo>
                  <a:pt x="38103" y="693420"/>
                </a:lnTo>
                <a:cubicBezTo>
                  <a:pt x="17074" y="693420"/>
                  <a:pt x="0" y="676346"/>
                  <a:pt x="0" y="655317"/>
                </a:cubicBezTo>
                <a:lnTo>
                  <a:pt x="0" y="38103"/>
                </a:lnTo>
                <a:cubicBezTo>
                  <a:pt x="0" y="17074"/>
                  <a:pt x="17074" y="0"/>
                  <a:pt x="381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791914" y="3916561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Global_intensity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791914" y="4183261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intensity (A)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702397" y="3798452"/>
            <a:ext cx="2903220" cy="693420"/>
          </a:xfrm>
          <a:custGeom>
            <a:avLst/>
            <a:gdLst/>
            <a:ahLst/>
            <a:cxnLst/>
            <a:rect l="l" t="t" r="r" b="b"/>
            <a:pathLst>
              <a:path w="2903220" h="693420">
                <a:moveTo>
                  <a:pt x="38103" y="0"/>
                </a:moveTo>
                <a:lnTo>
                  <a:pt x="2865117" y="0"/>
                </a:lnTo>
                <a:cubicBezTo>
                  <a:pt x="2886146" y="0"/>
                  <a:pt x="2903220" y="17074"/>
                  <a:pt x="2903220" y="38103"/>
                </a:cubicBezTo>
                <a:lnTo>
                  <a:pt x="2903220" y="655317"/>
                </a:lnTo>
                <a:cubicBezTo>
                  <a:pt x="2903220" y="676346"/>
                  <a:pt x="2886146" y="693420"/>
                  <a:pt x="2865117" y="693420"/>
                </a:cubicBezTo>
                <a:lnTo>
                  <a:pt x="38103" y="693420"/>
                </a:lnTo>
                <a:cubicBezTo>
                  <a:pt x="17074" y="693420"/>
                  <a:pt x="0" y="676346"/>
                  <a:pt x="0" y="655317"/>
                </a:cubicBezTo>
                <a:lnTo>
                  <a:pt x="0" y="38103"/>
                </a:lnTo>
                <a:cubicBezTo>
                  <a:pt x="0" y="17074"/>
                  <a:pt x="17074" y="0"/>
                  <a:pt x="381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8820508" y="3916561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Sub_metering_1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820508" y="4183261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Kitchen (Wh)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673805" y="4613791"/>
            <a:ext cx="2903220" cy="693420"/>
          </a:xfrm>
          <a:custGeom>
            <a:avLst/>
            <a:gdLst/>
            <a:ahLst/>
            <a:cxnLst/>
            <a:rect l="l" t="t" r="r" b="b"/>
            <a:pathLst>
              <a:path w="2903220" h="693420">
                <a:moveTo>
                  <a:pt x="38103" y="0"/>
                </a:moveTo>
                <a:lnTo>
                  <a:pt x="2865117" y="0"/>
                </a:lnTo>
                <a:cubicBezTo>
                  <a:pt x="2886146" y="0"/>
                  <a:pt x="2903220" y="17074"/>
                  <a:pt x="2903220" y="38103"/>
                </a:cubicBezTo>
                <a:lnTo>
                  <a:pt x="2903220" y="655317"/>
                </a:lnTo>
                <a:cubicBezTo>
                  <a:pt x="2903220" y="676346"/>
                  <a:pt x="2886146" y="693420"/>
                  <a:pt x="2865117" y="693420"/>
                </a:cubicBezTo>
                <a:lnTo>
                  <a:pt x="38103" y="693420"/>
                </a:lnTo>
                <a:cubicBezTo>
                  <a:pt x="17074" y="693420"/>
                  <a:pt x="0" y="676346"/>
                  <a:pt x="0" y="655317"/>
                </a:cubicBezTo>
                <a:lnTo>
                  <a:pt x="0" y="38103"/>
                </a:lnTo>
                <a:cubicBezTo>
                  <a:pt x="0" y="17074"/>
                  <a:pt x="17074" y="0"/>
                  <a:pt x="381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791914" y="473190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Sub_metering_2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791914" y="4998602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Laundry (Wh)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702397" y="4613791"/>
            <a:ext cx="2903220" cy="693420"/>
          </a:xfrm>
          <a:custGeom>
            <a:avLst/>
            <a:gdLst/>
            <a:ahLst/>
            <a:cxnLst/>
            <a:rect l="l" t="t" r="r" b="b"/>
            <a:pathLst>
              <a:path w="2903220" h="693420">
                <a:moveTo>
                  <a:pt x="38103" y="0"/>
                </a:moveTo>
                <a:lnTo>
                  <a:pt x="2865117" y="0"/>
                </a:lnTo>
                <a:cubicBezTo>
                  <a:pt x="2886146" y="0"/>
                  <a:pt x="2903220" y="17074"/>
                  <a:pt x="2903220" y="38103"/>
                </a:cubicBezTo>
                <a:lnTo>
                  <a:pt x="2903220" y="655317"/>
                </a:lnTo>
                <a:cubicBezTo>
                  <a:pt x="2903220" y="676346"/>
                  <a:pt x="2886146" y="693420"/>
                  <a:pt x="2865117" y="693420"/>
                </a:cubicBezTo>
                <a:lnTo>
                  <a:pt x="38103" y="693420"/>
                </a:lnTo>
                <a:cubicBezTo>
                  <a:pt x="17074" y="693420"/>
                  <a:pt x="0" y="676346"/>
                  <a:pt x="0" y="655317"/>
                </a:cubicBezTo>
                <a:lnTo>
                  <a:pt x="0" y="38103"/>
                </a:lnTo>
                <a:cubicBezTo>
                  <a:pt x="0" y="17074"/>
                  <a:pt x="17074" y="0"/>
                  <a:pt x="38103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8820508" y="473190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Sub_metering_3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820508" y="4998602"/>
            <a:ext cx="2733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 heater/AC (Wh)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673805" y="5467232"/>
            <a:ext cx="5932170" cy="922020"/>
          </a:xfrm>
          <a:custGeom>
            <a:avLst/>
            <a:gdLst/>
            <a:ahLst/>
            <a:cxnLst/>
            <a:rect l="l" t="t" r="r" b="b"/>
            <a:pathLst>
              <a:path w="5932170" h="922020">
                <a:moveTo>
                  <a:pt x="38098" y="0"/>
                </a:moveTo>
                <a:lnTo>
                  <a:pt x="5894072" y="0"/>
                </a:lnTo>
                <a:cubicBezTo>
                  <a:pt x="5915113" y="0"/>
                  <a:pt x="5932170" y="17057"/>
                  <a:pt x="5932170" y="38098"/>
                </a:cubicBezTo>
                <a:lnTo>
                  <a:pt x="5932170" y="883922"/>
                </a:lnTo>
                <a:cubicBezTo>
                  <a:pt x="5932170" y="904963"/>
                  <a:pt x="5915113" y="922020"/>
                  <a:pt x="5894072" y="922020"/>
                </a:cubicBezTo>
                <a:lnTo>
                  <a:pt x="38098" y="922020"/>
                </a:lnTo>
                <a:cubicBezTo>
                  <a:pt x="17057" y="922020"/>
                  <a:pt x="0" y="904963"/>
                  <a:pt x="0" y="883922"/>
                </a:cubicBezTo>
                <a:lnTo>
                  <a:pt x="0" y="38098"/>
                </a:lnTo>
                <a:cubicBezTo>
                  <a:pt x="0" y="17057"/>
                  <a:pt x="17057" y="0"/>
                  <a:pt x="380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5791914" y="5585340"/>
            <a:ext cx="5772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Derived Feature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791914" y="5890140"/>
            <a:ext cx="5762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E_rem (Remainder Energy):</a:t>
            </a:r>
            <a:r>
              <a:rPr lang="en-US" sz="105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Global_active_power × (1000/60) − Sub_metering_1 − Sub_metering_2 − Sub_metering_3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8588" y="358588"/>
            <a:ext cx="11546541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9" b="1" kern="0" spc="56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8588" y="645459"/>
            <a:ext cx="11689976" cy="430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88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Preprocessing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6518" y="1219200"/>
            <a:ext cx="3711388" cy="1757082"/>
          </a:xfrm>
          <a:custGeom>
            <a:avLst/>
            <a:gdLst/>
            <a:ahLst/>
            <a:cxnLst/>
            <a:rect l="l" t="t" r="r" b="b"/>
            <a:pathLst>
              <a:path w="3711388" h="1757082">
                <a:moveTo>
                  <a:pt x="35859" y="0"/>
                </a:moveTo>
                <a:lnTo>
                  <a:pt x="3639664" y="0"/>
                </a:lnTo>
                <a:cubicBezTo>
                  <a:pt x="3679276" y="0"/>
                  <a:pt x="3711388" y="32112"/>
                  <a:pt x="3711388" y="71724"/>
                </a:cubicBezTo>
                <a:lnTo>
                  <a:pt x="3711388" y="1685358"/>
                </a:lnTo>
                <a:cubicBezTo>
                  <a:pt x="3711388" y="1724970"/>
                  <a:pt x="3679276" y="1757082"/>
                  <a:pt x="3639664" y="1757082"/>
                </a:cubicBezTo>
                <a:lnTo>
                  <a:pt x="35859" y="1757082"/>
                </a:lnTo>
                <a:cubicBezTo>
                  <a:pt x="16055" y="1757082"/>
                  <a:pt x="0" y="1741028"/>
                  <a:pt x="0" y="1721224"/>
                </a:cubicBezTo>
                <a:lnTo>
                  <a:pt x="0" y="35859"/>
                </a:lnTo>
                <a:cubicBezTo>
                  <a:pt x="0" y="16055"/>
                  <a:pt x="16055" y="0"/>
                  <a:pt x="35859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76518" y="1219200"/>
            <a:ext cx="35859" cy="1757082"/>
          </a:xfrm>
          <a:custGeom>
            <a:avLst/>
            <a:gdLst/>
            <a:ahLst/>
            <a:cxnLst/>
            <a:rect l="l" t="t" r="r" b="b"/>
            <a:pathLst>
              <a:path w="35859" h="1757082">
                <a:moveTo>
                  <a:pt x="35859" y="0"/>
                </a:moveTo>
                <a:lnTo>
                  <a:pt x="35859" y="0"/>
                </a:lnTo>
                <a:lnTo>
                  <a:pt x="35859" y="1757082"/>
                </a:lnTo>
                <a:lnTo>
                  <a:pt x="35859" y="1757082"/>
                </a:lnTo>
                <a:cubicBezTo>
                  <a:pt x="16055" y="1757082"/>
                  <a:pt x="0" y="1741028"/>
                  <a:pt x="0" y="1721224"/>
                </a:cubicBezTo>
                <a:lnTo>
                  <a:pt x="0" y="35859"/>
                </a:lnTo>
                <a:cubicBezTo>
                  <a:pt x="0" y="16068"/>
                  <a:pt x="16068" y="0"/>
                  <a:pt x="35859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37882" y="1362635"/>
            <a:ext cx="358588" cy="358588"/>
          </a:xfrm>
          <a:custGeom>
            <a:avLst/>
            <a:gdLst/>
            <a:ahLst/>
            <a:cxnLst/>
            <a:rect l="l" t="t" r="r" b="b"/>
            <a:pathLst>
              <a:path w="358588" h="358588">
                <a:moveTo>
                  <a:pt x="71718" y="0"/>
                </a:moveTo>
                <a:lnTo>
                  <a:pt x="286871" y="0"/>
                </a:lnTo>
                <a:cubicBezTo>
                  <a:pt x="326479" y="0"/>
                  <a:pt x="358588" y="32109"/>
                  <a:pt x="358588" y="71718"/>
                </a:cubicBezTo>
                <a:lnTo>
                  <a:pt x="358588" y="286871"/>
                </a:lnTo>
                <a:cubicBezTo>
                  <a:pt x="358588" y="326479"/>
                  <a:pt x="326479" y="358588"/>
                  <a:pt x="286871" y="358588"/>
                </a:cubicBezTo>
                <a:lnTo>
                  <a:pt x="71718" y="358588"/>
                </a:lnTo>
                <a:cubicBezTo>
                  <a:pt x="32109" y="358588"/>
                  <a:pt x="0" y="326479"/>
                  <a:pt x="0" y="286871"/>
                </a:cubicBezTo>
                <a:lnTo>
                  <a:pt x="0" y="71718"/>
                </a:lnTo>
                <a:cubicBezTo>
                  <a:pt x="0" y="32136"/>
                  <a:pt x="32136" y="0"/>
                  <a:pt x="71718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38735" y="1461247"/>
            <a:ext cx="161365" cy="161365"/>
          </a:xfrm>
          <a:custGeom>
            <a:avLst/>
            <a:gdLst/>
            <a:ahLst/>
            <a:cxnLst/>
            <a:rect l="l" t="t" r="r" b="b"/>
            <a:pathLst>
              <a:path w="161365" h="161365">
                <a:moveTo>
                  <a:pt x="80682" y="0"/>
                </a:moveTo>
                <a:cubicBezTo>
                  <a:pt x="82132" y="0"/>
                  <a:pt x="83582" y="315"/>
                  <a:pt x="84906" y="914"/>
                </a:cubicBezTo>
                <a:lnTo>
                  <a:pt x="144283" y="26096"/>
                </a:lnTo>
                <a:cubicBezTo>
                  <a:pt x="151216" y="29027"/>
                  <a:pt x="156385" y="35866"/>
                  <a:pt x="156354" y="44123"/>
                </a:cubicBezTo>
                <a:cubicBezTo>
                  <a:pt x="156196" y="75388"/>
                  <a:pt x="143337" y="132590"/>
                  <a:pt x="89034" y="158591"/>
                </a:cubicBezTo>
                <a:cubicBezTo>
                  <a:pt x="83771" y="161113"/>
                  <a:pt x="77657" y="161113"/>
                  <a:pt x="72394" y="158591"/>
                </a:cubicBezTo>
                <a:cubicBezTo>
                  <a:pt x="18059" y="132590"/>
                  <a:pt x="5232" y="75388"/>
                  <a:pt x="5074" y="44123"/>
                </a:cubicBezTo>
                <a:cubicBezTo>
                  <a:pt x="5043" y="35866"/>
                  <a:pt x="10211" y="29027"/>
                  <a:pt x="17145" y="26096"/>
                </a:cubicBezTo>
                <a:lnTo>
                  <a:pt x="76491" y="914"/>
                </a:lnTo>
                <a:cubicBezTo>
                  <a:pt x="77814" y="315"/>
                  <a:pt x="79233" y="0"/>
                  <a:pt x="80682" y="0"/>
                </a:cubicBezTo>
                <a:close/>
                <a:moveTo>
                  <a:pt x="80682" y="21053"/>
                </a:moveTo>
                <a:lnTo>
                  <a:pt x="80682" y="140217"/>
                </a:lnTo>
                <a:cubicBezTo>
                  <a:pt x="124175" y="119164"/>
                  <a:pt x="135868" y="72520"/>
                  <a:pt x="136151" y="44596"/>
                </a:cubicBezTo>
                <a:lnTo>
                  <a:pt x="80682" y="21085"/>
                </a:lnTo>
                <a:lnTo>
                  <a:pt x="80682" y="21085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04047" y="1416424"/>
            <a:ext cx="1577788" cy="25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Physical Validation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4776" y="1864659"/>
            <a:ext cx="125506" cy="143435"/>
          </a:xfrm>
          <a:custGeom>
            <a:avLst/>
            <a:gdLst/>
            <a:ahLst/>
            <a:cxnLst/>
            <a:rect l="l" t="t" r="r" b="b"/>
            <a:pathLst>
              <a:path w="125506" h="143435">
                <a:moveTo>
                  <a:pt x="121808" y="19638"/>
                </a:moveTo>
                <a:cubicBezTo>
                  <a:pt x="125814" y="22552"/>
                  <a:pt x="126711" y="28155"/>
                  <a:pt x="123797" y="32161"/>
                </a:cubicBezTo>
                <a:lnTo>
                  <a:pt x="52079" y="130773"/>
                </a:lnTo>
                <a:cubicBezTo>
                  <a:pt x="50539" y="132902"/>
                  <a:pt x="48157" y="134218"/>
                  <a:pt x="45524" y="134443"/>
                </a:cubicBezTo>
                <a:cubicBezTo>
                  <a:pt x="42891" y="134667"/>
                  <a:pt x="40341" y="133686"/>
                  <a:pt x="38492" y="131837"/>
                </a:cubicBezTo>
                <a:lnTo>
                  <a:pt x="2633" y="95978"/>
                </a:lnTo>
                <a:cubicBezTo>
                  <a:pt x="-868" y="92477"/>
                  <a:pt x="-868" y="86790"/>
                  <a:pt x="2633" y="83288"/>
                </a:cubicBezTo>
                <a:cubicBezTo>
                  <a:pt x="6135" y="79786"/>
                  <a:pt x="11822" y="79786"/>
                  <a:pt x="15324" y="83288"/>
                </a:cubicBezTo>
                <a:lnTo>
                  <a:pt x="43759" y="111723"/>
                </a:lnTo>
                <a:lnTo>
                  <a:pt x="109313" y="21599"/>
                </a:lnTo>
                <a:cubicBezTo>
                  <a:pt x="112227" y="17593"/>
                  <a:pt x="117830" y="16697"/>
                  <a:pt x="121836" y="1961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88894" y="1828800"/>
            <a:ext cx="195430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Negative active power → NaN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4776" y="2151529"/>
            <a:ext cx="125506" cy="143435"/>
          </a:xfrm>
          <a:custGeom>
            <a:avLst/>
            <a:gdLst/>
            <a:ahLst/>
            <a:cxnLst/>
            <a:rect l="l" t="t" r="r" b="b"/>
            <a:pathLst>
              <a:path w="125506" h="143435">
                <a:moveTo>
                  <a:pt x="121808" y="19638"/>
                </a:moveTo>
                <a:cubicBezTo>
                  <a:pt x="125814" y="22552"/>
                  <a:pt x="126711" y="28155"/>
                  <a:pt x="123797" y="32161"/>
                </a:cubicBezTo>
                <a:lnTo>
                  <a:pt x="52079" y="130773"/>
                </a:lnTo>
                <a:cubicBezTo>
                  <a:pt x="50539" y="132902"/>
                  <a:pt x="48157" y="134218"/>
                  <a:pt x="45524" y="134443"/>
                </a:cubicBezTo>
                <a:cubicBezTo>
                  <a:pt x="42891" y="134667"/>
                  <a:pt x="40341" y="133686"/>
                  <a:pt x="38492" y="131837"/>
                </a:cubicBezTo>
                <a:lnTo>
                  <a:pt x="2633" y="95978"/>
                </a:lnTo>
                <a:cubicBezTo>
                  <a:pt x="-868" y="92477"/>
                  <a:pt x="-868" y="86790"/>
                  <a:pt x="2633" y="83288"/>
                </a:cubicBezTo>
                <a:cubicBezTo>
                  <a:pt x="6135" y="79786"/>
                  <a:pt x="11822" y="79786"/>
                  <a:pt x="15324" y="83288"/>
                </a:cubicBezTo>
                <a:lnTo>
                  <a:pt x="43759" y="111723"/>
                </a:lnTo>
                <a:lnTo>
                  <a:pt x="109313" y="21599"/>
                </a:lnTo>
                <a:cubicBezTo>
                  <a:pt x="112227" y="17593"/>
                  <a:pt x="117830" y="16697"/>
                  <a:pt x="121836" y="1961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88894" y="2115671"/>
            <a:ext cx="218738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Voltage outside 220-255V → NaN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4776" y="2438400"/>
            <a:ext cx="125506" cy="143435"/>
          </a:xfrm>
          <a:custGeom>
            <a:avLst/>
            <a:gdLst/>
            <a:ahLst/>
            <a:cxnLst/>
            <a:rect l="l" t="t" r="r" b="b"/>
            <a:pathLst>
              <a:path w="125506" h="143435">
                <a:moveTo>
                  <a:pt x="121808" y="19638"/>
                </a:moveTo>
                <a:cubicBezTo>
                  <a:pt x="125814" y="22552"/>
                  <a:pt x="126711" y="28155"/>
                  <a:pt x="123797" y="32161"/>
                </a:cubicBezTo>
                <a:lnTo>
                  <a:pt x="52079" y="130773"/>
                </a:lnTo>
                <a:cubicBezTo>
                  <a:pt x="50539" y="132902"/>
                  <a:pt x="48157" y="134218"/>
                  <a:pt x="45524" y="134443"/>
                </a:cubicBezTo>
                <a:cubicBezTo>
                  <a:pt x="42891" y="134667"/>
                  <a:pt x="40341" y="133686"/>
                  <a:pt x="38492" y="131837"/>
                </a:cubicBezTo>
                <a:lnTo>
                  <a:pt x="2633" y="95978"/>
                </a:lnTo>
                <a:cubicBezTo>
                  <a:pt x="-868" y="92477"/>
                  <a:pt x="-868" y="86790"/>
                  <a:pt x="2633" y="83288"/>
                </a:cubicBezTo>
                <a:cubicBezTo>
                  <a:pt x="6135" y="79786"/>
                  <a:pt x="11822" y="79786"/>
                  <a:pt x="15324" y="83288"/>
                </a:cubicBezTo>
                <a:lnTo>
                  <a:pt x="43759" y="111723"/>
                </a:lnTo>
                <a:lnTo>
                  <a:pt x="109313" y="21599"/>
                </a:lnTo>
                <a:cubicBezTo>
                  <a:pt x="112227" y="17593"/>
                  <a:pt x="117830" y="16697"/>
                  <a:pt x="121836" y="1961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88894" y="2402541"/>
            <a:ext cx="220531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 E_rem remainder energy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49271" y="1219200"/>
            <a:ext cx="3711388" cy="1757082"/>
          </a:xfrm>
          <a:custGeom>
            <a:avLst/>
            <a:gdLst/>
            <a:ahLst/>
            <a:cxnLst/>
            <a:rect l="l" t="t" r="r" b="b"/>
            <a:pathLst>
              <a:path w="3711388" h="1757082">
                <a:moveTo>
                  <a:pt x="35859" y="0"/>
                </a:moveTo>
                <a:lnTo>
                  <a:pt x="3639664" y="0"/>
                </a:lnTo>
                <a:cubicBezTo>
                  <a:pt x="3679276" y="0"/>
                  <a:pt x="3711388" y="32112"/>
                  <a:pt x="3711388" y="71724"/>
                </a:cubicBezTo>
                <a:lnTo>
                  <a:pt x="3711388" y="1685358"/>
                </a:lnTo>
                <a:cubicBezTo>
                  <a:pt x="3711388" y="1724970"/>
                  <a:pt x="3679276" y="1757082"/>
                  <a:pt x="3639664" y="1757082"/>
                </a:cubicBezTo>
                <a:lnTo>
                  <a:pt x="35859" y="1757082"/>
                </a:lnTo>
                <a:cubicBezTo>
                  <a:pt x="16055" y="1757082"/>
                  <a:pt x="0" y="1741028"/>
                  <a:pt x="0" y="1721224"/>
                </a:cubicBezTo>
                <a:lnTo>
                  <a:pt x="0" y="35859"/>
                </a:lnTo>
                <a:cubicBezTo>
                  <a:pt x="0" y="16055"/>
                  <a:pt x="16055" y="0"/>
                  <a:pt x="35859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249271" y="1219200"/>
            <a:ext cx="35859" cy="1757082"/>
          </a:xfrm>
          <a:custGeom>
            <a:avLst/>
            <a:gdLst/>
            <a:ahLst/>
            <a:cxnLst/>
            <a:rect l="l" t="t" r="r" b="b"/>
            <a:pathLst>
              <a:path w="35859" h="1757082">
                <a:moveTo>
                  <a:pt x="35859" y="0"/>
                </a:moveTo>
                <a:lnTo>
                  <a:pt x="35859" y="0"/>
                </a:lnTo>
                <a:lnTo>
                  <a:pt x="35859" y="1757082"/>
                </a:lnTo>
                <a:lnTo>
                  <a:pt x="35859" y="1757082"/>
                </a:lnTo>
                <a:cubicBezTo>
                  <a:pt x="16055" y="1757082"/>
                  <a:pt x="0" y="1741028"/>
                  <a:pt x="0" y="1721224"/>
                </a:cubicBezTo>
                <a:lnTo>
                  <a:pt x="0" y="35859"/>
                </a:lnTo>
                <a:cubicBezTo>
                  <a:pt x="0" y="16068"/>
                  <a:pt x="16068" y="0"/>
                  <a:pt x="35859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410635" y="1362635"/>
            <a:ext cx="358588" cy="358588"/>
          </a:xfrm>
          <a:custGeom>
            <a:avLst/>
            <a:gdLst/>
            <a:ahLst/>
            <a:cxnLst/>
            <a:rect l="l" t="t" r="r" b="b"/>
            <a:pathLst>
              <a:path w="358588" h="358588">
                <a:moveTo>
                  <a:pt x="71718" y="0"/>
                </a:moveTo>
                <a:lnTo>
                  <a:pt x="286871" y="0"/>
                </a:lnTo>
                <a:cubicBezTo>
                  <a:pt x="326479" y="0"/>
                  <a:pt x="358588" y="32109"/>
                  <a:pt x="358588" y="71718"/>
                </a:cubicBezTo>
                <a:lnTo>
                  <a:pt x="358588" y="286871"/>
                </a:lnTo>
                <a:cubicBezTo>
                  <a:pt x="358588" y="326479"/>
                  <a:pt x="326479" y="358588"/>
                  <a:pt x="286871" y="358588"/>
                </a:cubicBezTo>
                <a:lnTo>
                  <a:pt x="71718" y="358588"/>
                </a:lnTo>
                <a:cubicBezTo>
                  <a:pt x="32109" y="358588"/>
                  <a:pt x="0" y="326479"/>
                  <a:pt x="0" y="286871"/>
                </a:cubicBezTo>
                <a:lnTo>
                  <a:pt x="0" y="71718"/>
                </a:lnTo>
                <a:cubicBezTo>
                  <a:pt x="0" y="32136"/>
                  <a:pt x="32136" y="0"/>
                  <a:pt x="71718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01403" y="1461247"/>
            <a:ext cx="181535" cy="161365"/>
          </a:xfrm>
          <a:custGeom>
            <a:avLst/>
            <a:gdLst/>
            <a:ahLst/>
            <a:cxnLst/>
            <a:rect l="l" t="t" r="r" b="b"/>
            <a:pathLst>
              <a:path w="181535" h="161365">
                <a:moveTo>
                  <a:pt x="97607" y="22566"/>
                </a:moveTo>
                <a:lnTo>
                  <a:pt x="77310" y="42862"/>
                </a:lnTo>
                <a:lnTo>
                  <a:pt x="87837" y="53389"/>
                </a:lnTo>
                <a:cubicBezTo>
                  <a:pt x="91776" y="57329"/>
                  <a:pt x="91776" y="63726"/>
                  <a:pt x="87837" y="67666"/>
                </a:cubicBezTo>
                <a:cubicBezTo>
                  <a:pt x="83897" y="71606"/>
                  <a:pt x="77499" y="71606"/>
                  <a:pt x="73560" y="67666"/>
                </a:cubicBezTo>
                <a:lnTo>
                  <a:pt x="63033" y="57139"/>
                </a:lnTo>
                <a:lnTo>
                  <a:pt x="32651" y="87521"/>
                </a:lnTo>
                <a:cubicBezTo>
                  <a:pt x="31737" y="88435"/>
                  <a:pt x="31044" y="89570"/>
                  <a:pt x="30666" y="90768"/>
                </a:cubicBezTo>
                <a:lnTo>
                  <a:pt x="131991" y="90768"/>
                </a:lnTo>
                <a:lnTo>
                  <a:pt x="148916" y="73843"/>
                </a:lnTo>
                <a:cubicBezTo>
                  <a:pt x="150460" y="72299"/>
                  <a:pt x="151311" y="70219"/>
                  <a:pt x="151311" y="68076"/>
                </a:cubicBezTo>
                <a:cubicBezTo>
                  <a:pt x="151311" y="65933"/>
                  <a:pt x="150460" y="63821"/>
                  <a:pt x="148916" y="62308"/>
                </a:cubicBezTo>
                <a:lnTo>
                  <a:pt x="109142" y="22566"/>
                </a:lnTo>
                <a:cubicBezTo>
                  <a:pt x="107629" y="21022"/>
                  <a:pt x="105549" y="20171"/>
                  <a:pt x="103374" y="20171"/>
                </a:cubicBezTo>
                <a:cubicBezTo>
                  <a:pt x="101200" y="20171"/>
                  <a:pt x="99120" y="21022"/>
                  <a:pt x="97607" y="22566"/>
                </a:cubicBezTo>
                <a:close/>
                <a:moveTo>
                  <a:pt x="18374" y="73244"/>
                </a:moveTo>
                <a:lnTo>
                  <a:pt x="48756" y="42862"/>
                </a:lnTo>
                <a:lnTo>
                  <a:pt x="33187" y="27293"/>
                </a:lnTo>
                <a:cubicBezTo>
                  <a:pt x="29247" y="23354"/>
                  <a:pt x="29247" y="16956"/>
                  <a:pt x="33187" y="13016"/>
                </a:cubicBezTo>
                <a:cubicBezTo>
                  <a:pt x="37126" y="9077"/>
                  <a:pt x="43524" y="9077"/>
                  <a:pt x="47464" y="13016"/>
                </a:cubicBezTo>
                <a:lnTo>
                  <a:pt x="63033" y="28586"/>
                </a:lnTo>
                <a:lnTo>
                  <a:pt x="83330" y="8289"/>
                </a:lnTo>
                <a:cubicBezTo>
                  <a:pt x="88656" y="2994"/>
                  <a:pt x="95842" y="0"/>
                  <a:pt x="103374" y="0"/>
                </a:cubicBezTo>
                <a:cubicBezTo>
                  <a:pt x="110907" y="0"/>
                  <a:pt x="118092" y="2994"/>
                  <a:pt x="123419" y="8289"/>
                </a:cubicBezTo>
                <a:lnTo>
                  <a:pt x="163161" y="48031"/>
                </a:lnTo>
                <a:cubicBezTo>
                  <a:pt x="168456" y="53358"/>
                  <a:pt x="171450" y="60543"/>
                  <a:pt x="171450" y="68076"/>
                </a:cubicBezTo>
                <a:cubicBezTo>
                  <a:pt x="171450" y="75608"/>
                  <a:pt x="168456" y="82794"/>
                  <a:pt x="163161" y="88120"/>
                </a:cubicBezTo>
                <a:lnTo>
                  <a:pt x="98206" y="153076"/>
                </a:lnTo>
                <a:cubicBezTo>
                  <a:pt x="92879" y="158371"/>
                  <a:pt x="85693" y="161365"/>
                  <a:pt x="78161" y="161365"/>
                </a:cubicBezTo>
                <a:cubicBezTo>
                  <a:pt x="70629" y="161365"/>
                  <a:pt x="63443" y="158371"/>
                  <a:pt x="58117" y="153076"/>
                </a:cubicBezTo>
                <a:lnTo>
                  <a:pt x="18374" y="113333"/>
                </a:lnTo>
                <a:cubicBezTo>
                  <a:pt x="13079" y="108007"/>
                  <a:pt x="10085" y="100821"/>
                  <a:pt x="10085" y="93289"/>
                </a:cubicBezTo>
                <a:cubicBezTo>
                  <a:pt x="10085" y="85757"/>
                  <a:pt x="13079" y="78571"/>
                  <a:pt x="18374" y="73244"/>
                </a:cubicBezTo>
                <a:close/>
                <a:moveTo>
                  <a:pt x="161365" y="171450"/>
                </a:moveTo>
                <a:cubicBezTo>
                  <a:pt x="150239" y="171450"/>
                  <a:pt x="141194" y="162405"/>
                  <a:pt x="141194" y="151279"/>
                </a:cubicBezTo>
                <a:cubicBezTo>
                  <a:pt x="141194" y="143337"/>
                  <a:pt x="151469" y="126192"/>
                  <a:pt x="157331" y="117021"/>
                </a:cubicBezTo>
                <a:cubicBezTo>
                  <a:pt x="159222" y="114058"/>
                  <a:pt x="163476" y="114058"/>
                  <a:pt x="165367" y="117021"/>
                </a:cubicBezTo>
                <a:cubicBezTo>
                  <a:pt x="171261" y="126192"/>
                  <a:pt x="181504" y="143337"/>
                  <a:pt x="181504" y="151279"/>
                </a:cubicBezTo>
                <a:cubicBezTo>
                  <a:pt x="181504" y="162405"/>
                  <a:pt x="172459" y="171450"/>
                  <a:pt x="161333" y="17145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76800" y="1416424"/>
            <a:ext cx="1927412" cy="25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Hierarchical Imputation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37529" y="1864659"/>
            <a:ext cx="125506" cy="143435"/>
          </a:xfrm>
          <a:custGeom>
            <a:avLst/>
            <a:gdLst/>
            <a:ahLst/>
            <a:cxnLst/>
            <a:rect l="l" t="t" r="r" b="b"/>
            <a:pathLst>
              <a:path w="125506" h="143435">
                <a:moveTo>
                  <a:pt x="121808" y="19638"/>
                </a:moveTo>
                <a:cubicBezTo>
                  <a:pt x="125814" y="22552"/>
                  <a:pt x="126711" y="28155"/>
                  <a:pt x="123797" y="32161"/>
                </a:cubicBezTo>
                <a:lnTo>
                  <a:pt x="52079" y="130773"/>
                </a:lnTo>
                <a:cubicBezTo>
                  <a:pt x="50539" y="132902"/>
                  <a:pt x="48157" y="134218"/>
                  <a:pt x="45524" y="134443"/>
                </a:cubicBezTo>
                <a:cubicBezTo>
                  <a:pt x="42891" y="134667"/>
                  <a:pt x="40341" y="133686"/>
                  <a:pt x="38492" y="131837"/>
                </a:cubicBezTo>
                <a:lnTo>
                  <a:pt x="2633" y="95978"/>
                </a:lnTo>
                <a:cubicBezTo>
                  <a:pt x="-868" y="92477"/>
                  <a:pt x="-868" y="86790"/>
                  <a:pt x="2633" y="83288"/>
                </a:cubicBezTo>
                <a:cubicBezTo>
                  <a:pt x="6135" y="79786"/>
                  <a:pt x="11822" y="79786"/>
                  <a:pt x="15324" y="83288"/>
                </a:cubicBezTo>
                <a:lnTo>
                  <a:pt x="43759" y="111723"/>
                </a:lnTo>
                <a:lnTo>
                  <a:pt x="109313" y="21599"/>
                </a:lnTo>
                <a:cubicBezTo>
                  <a:pt x="112227" y="17593"/>
                  <a:pt x="117830" y="16697"/>
                  <a:pt x="121836" y="1961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661647" y="1828800"/>
            <a:ext cx="2599765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 gaps (&lt;30 min): Cubic interpolation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37529" y="2151529"/>
            <a:ext cx="125506" cy="143435"/>
          </a:xfrm>
          <a:custGeom>
            <a:avLst/>
            <a:gdLst/>
            <a:ahLst/>
            <a:cxnLst/>
            <a:rect l="l" t="t" r="r" b="b"/>
            <a:pathLst>
              <a:path w="125506" h="143435">
                <a:moveTo>
                  <a:pt x="121808" y="19638"/>
                </a:moveTo>
                <a:cubicBezTo>
                  <a:pt x="125814" y="22552"/>
                  <a:pt x="126711" y="28155"/>
                  <a:pt x="123797" y="32161"/>
                </a:cubicBezTo>
                <a:lnTo>
                  <a:pt x="52079" y="130773"/>
                </a:lnTo>
                <a:cubicBezTo>
                  <a:pt x="50539" y="132902"/>
                  <a:pt x="48157" y="134218"/>
                  <a:pt x="45524" y="134443"/>
                </a:cubicBezTo>
                <a:cubicBezTo>
                  <a:pt x="42891" y="134667"/>
                  <a:pt x="40341" y="133686"/>
                  <a:pt x="38492" y="131837"/>
                </a:cubicBezTo>
                <a:lnTo>
                  <a:pt x="2633" y="95978"/>
                </a:lnTo>
                <a:cubicBezTo>
                  <a:pt x="-868" y="92477"/>
                  <a:pt x="-868" y="86790"/>
                  <a:pt x="2633" y="83288"/>
                </a:cubicBezTo>
                <a:cubicBezTo>
                  <a:pt x="6135" y="79786"/>
                  <a:pt x="11822" y="79786"/>
                  <a:pt x="15324" y="83288"/>
                </a:cubicBezTo>
                <a:lnTo>
                  <a:pt x="43759" y="111723"/>
                </a:lnTo>
                <a:lnTo>
                  <a:pt x="109313" y="21599"/>
                </a:lnTo>
                <a:cubicBezTo>
                  <a:pt x="112227" y="17593"/>
                  <a:pt x="117830" y="16697"/>
                  <a:pt x="121836" y="1961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61647" y="2115671"/>
            <a:ext cx="3227294" cy="430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 gaps (≥30 min): Seasonal means (hour, weekday)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37529" y="2653553"/>
            <a:ext cx="125506" cy="143435"/>
          </a:xfrm>
          <a:custGeom>
            <a:avLst/>
            <a:gdLst/>
            <a:ahLst/>
            <a:cxnLst/>
            <a:rect l="l" t="t" r="r" b="b"/>
            <a:pathLst>
              <a:path w="125506" h="143435">
                <a:moveTo>
                  <a:pt x="121808" y="19638"/>
                </a:moveTo>
                <a:cubicBezTo>
                  <a:pt x="125814" y="22552"/>
                  <a:pt x="126711" y="28155"/>
                  <a:pt x="123797" y="32161"/>
                </a:cubicBezTo>
                <a:lnTo>
                  <a:pt x="52079" y="130773"/>
                </a:lnTo>
                <a:cubicBezTo>
                  <a:pt x="50539" y="132902"/>
                  <a:pt x="48157" y="134218"/>
                  <a:pt x="45524" y="134443"/>
                </a:cubicBezTo>
                <a:cubicBezTo>
                  <a:pt x="42891" y="134667"/>
                  <a:pt x="40341" y="133686"/>
                  <a:pt x="38492" y="131837"/>
                </a:cubicBezTo>
                <a:lnTo>
                  <a:pt x="2633" y="95978"/>
                </a:lnTo>
                <a:cubicBezTo>
                  <a:pt x="-868" y="92477"/>
                  <a:pt x="-868" y="86790"/>
                  <a:pt x="2633" y="83288"/>
                </a:cubicBezTo>
                <a:cubicBezTo>
                  <a:pt x="6135" y="79786"/>
                  <a:pt x="11822" y="79786"/>
                  <a:pt x="15324" y="83288"/>
                </a:cubicBezTo>
                <a:lnTo>
                  <a:pt x="43759" y="111723"/>
                </a:lnTo>
                <a:lnTo>
                  <a:pt x="109313" y="21599"/>
                </a:lnTo>
                <a:cubicBezTo>
                  <a:pt x="112227" y="17593"/>
                  <a:pt x="117830" y="16697"/>
                  <a:pt x="121836" y="1961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61647" y="2617694"/>
            <a:ext cx="1228165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Final: ffill() → bfill()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22024" y="1219200"/>
            <a:ext cx="3711388" cy="1757082"/>
          </a:xfrm>
          <a:custGeom>
            <a:avLst/>
            <a:gdLst/>
            <a:ahLst/>
            <a:cxnLst/>
            <a:rect l="l" t="t" r="r" b="b"/>
            <a:pathLst>
              <a:path w="3711388" h="1757082">
                <a:moveTo>
                  <a:pt x="35859" y="0"/>
                </a:moveTo>
                <a:lnTo>
                  <a:pt x="3639664" y="0"/>
                </a:lnTo>
                <a:cubicBezTo>
                  <a:pt x="3679276" y="0"/>
                  <a:pt x="3711388" y="32112"/>
                  <a:pt x="3711388" y="71724"/>
                </a:cubicBezTo>
                <a:lnTo>
                  <a:pt x="3711388" y="1685358"/>
                </a:lnTo>
                <a:cubicBezTo>
                  <a:pt x="3711388" y="1724970"/>
                  <a:pt x="3679276" y="1757082"/>
                  <a:pt x="3639664" y="1757082"/>
                </a:cubicBezTo>
                <a:lnTo>
                  <a:pt x="35859" y="1757082"/>
                </a:lnTo>
                <a:cubicBezTo>
                  <a:pt x="16055" y="1757082"/>
                  <a:pt x="0" y="1741028"/>
                  <a:pt x="0" y="1721224"/>
                </a:cubicBezTo>
                <a:lnTo>
                  <a:pt x="0" y="35859"/>
                </a:lnTo>
                <a:cubicBezTo>
                  <a:pt x="0" y="16055"/>
                  <a:pt x="16055" y="0"/>
                  <a:pt x="35859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122024" y="1219200"/>
            <a:ext cx="35859" cy="1757082"/>
          </a:xfrm>
          <a:custGeom>
            <a:avLst/>
            <a:gdLst/>
            <a:ahLst/>
            <a:cxnLst/>
            <a:rect l="l" t="t" r="r" b="b"/>
            <a:pathLst>
              <a:path w="35859" h="1757082">
                <a:moveTo>
                  <a:pt x="35859" y="0"/>
                </a:moveTo>
                <a:lnTo>
                  <a:pt x="35859" y="0"/>
                </a:lnTo>
                <a:lnTo>
                  <a:pt x="35859" y="1757082"/>
                </a:lnTo>
                <a:lnTo>
                  <a:pt x="35859" y="1757082"/>
                </a:lnTo>
                <a:cubicBezTo>
                  <a:pt x="16055" y="1757082"/>
                  <a:pt x="0" y="1741028"/>
                  <a:pt x="0" y="1721224"/>
                </a:cubicBezTo>
                <a:lnTo>
                  <a:pt x="0" y="35859"/>
                </a:lnTo>
                <a:cubicBezTo>
                  <a:pt x="0" y="16068"/>
                  <a:pt x="16068" y="0"/>
                  <a:pt x="35859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283388" y="1362635"/>
            <a:ext cx="358588" cy="358588"/>
          </a:xfrm>
          <a:custGeom>
            <a:avLst/>
            <a:gdLst/>
            <a:ahLst/>
            <a:cxnLst/>
            <a:rect l="l" t="t" r="r" b="b"/>
            <a:pathLst>
              <a:path w="358588" h="358588">
                <a:moveTo>
                  <a:pt x="71718" y="0"/>
                </a:moveTo>
                <a:lnTo>
                  <a:pt x="286871" y="0"/>
                </a:lnTo>
                <a:cubicBezTo>
                  <a:pt x="326479" y="0"/>
                  <a:pt x="358588" y="32109"/>
                  <a:pt x="358588" y="71718"/>
                </a:cubicBezTo>
                <a:lnTo>
                  <a:pt x="358588" y="286871"/>
                </a:lnTo>
                <a:cubicBezTo>
                  <a:pt x="358588" y="326479"/>
                  <a:pt x="326479" y="358588"/>
                  <a:pt x="286871" y="358588"/>
                </a:cubicBezTo>
                <a:lnTo>
                  <a:pt x="71718" y="358588"/>
                </a:lnTo>
                <a:cubicBezTo>
                  <a:pt x="32109" y="358588"/>
                  <a:pt x="0" y="326479"/>
                  <a:pt x="0" y="286871"/>
                </a:cubicBezTo>
                <a:lnTo>
                  <a:pt x="0" y="71718"/>
                </a:lnTo>
                <a:cubicBezTo>
                  <a:pt x="0" y="32136"/>
                  <a:pt x="32136" y="0"/>
                  <a:pt x="71718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364071" y="1461247"/>
            <a:ext cx="201706" cy="161365"/>
          </a:xfrm>
          <a:custGeom>
            <a:avLst/>
            <a:gdLst/>
            <a:ahLst/>
            <a:cxnLst/>
            <a:rect l="l" t="t" r="r" b="b"/>
            <a:pathLst>
              <a:path w="201706" h="161365">
                <a:moveTo>
                  <a:pt x="131077" y="66342"/>
                </a:moveTo>
                <a:cubicBezTo>
                  <a:pt x="134922" y="65302"/>
                  <a:pt x="138956" y="67130"/>
                  <a:pt x="140690" y="70692"/>
                </a:cubicBezTo>
                <a:lnTo>
                  <a:pt x="146552" y="82542"/>
                </a:lnTo>
                <a:cubicBezTo>
                  <a:pt x="149798" y="82983"/>
                  <a:pt x="152981" y="83866"/>
                  <a:pt x="155975" y="85095"/>
                </a:cubicBezTo>
                <a:lnTo>
                  <a:pt x="167006" y="77751"/>
                </a:lnTo>
                <a:cubicBezTo>
                  <a:pt x="170315" y="75545"/>
                  <a:pt x="174696" y="75986"/>
                  <a:pt x="177501" y="78791"/>
                </a:cubicBezTo>
                <a:lnTo>
                  <a:pt x="183552" y="84843"/>
                </a:lnTo>
                <a:cubicBezTo>
                  <a:pt x="186357" y="87648"/>
                  <a:pt x="186799" y="92060"/>
                  <a:pt x="184592" y="95338"/>
                </a:cubicBezTo>
                <a:lnTo>
                  <a:pt x="177249" y="106337"/>
                </a:lnTo>
                <a:cubicBezTo>
                  <a:pt x="177848" y="107818"/>
                  <a:pt x="178384" y="109362"/>
                  <a:pt x="178825" y="110970"/>
                </a:cubicBezTo>
                <a:cubicBezTo>
                  <a:pt x="179266" y="112577"/>
                  <a:pt x="179550" y="114153"/>
                  <a:pt x="179770" y="115760"/>
                </a:cubicBezTo>
                <a:lnTo>
                  <a:pt x="191652" y="121622"/>
                </a:lnTo>
                <a:cubicBezTo>
                  <a:pt x="195213" y="123387"/>
                  <a:pt x="197041" y="127421"/>
                  <a:pt x="196001" y="131235"/>
                </a:cubicBezTo>
                <a:lnTo>
                  <a:pt x="193795" y="139492"/>
                </a:lnTo>
                <a:cubicBezTo>
                  <a:pt x="192755" y="143306"/>
                  <a:pt x="189194" y="145890"/>
                  <a:pt x="185223" y="145638"/>
                </a:cubicBezTo>
                <a:lnTo>
                  <a:pt x="171986" y="144787"/>
                </a:lnTo>
                <a:cubicBezTo>
                  <a:pt x="170000" y="147340"/>
                  <a:pt x="167700" y="149704"/>
                  <a:pt x="165084" y="151721"/>
                </a:cubicBezTo>
                <a:lnTo>
                  <a:pt x="165935" y="164926"/>
                </a:lnTo>
                <a:cubicBezTo>
                  <a:pt x="166187" y="168897"/>
                  <a:pt x="163602" y="172490"/>
                  <a:pt x="159789" y="173499"/>
                </a:cubicBezTo>
                <a:lnTo>
                  <a:pt x="151532" y="175705"/>
                </a:lnTo>
                <a:cubicBezTo>
                  <a:pt x="147687" y="176745"/>
                  <a:pt x="143684" y="174917"/>
                  <a:pt x="141919" y="171355"/>
                </a:cubicBezTo>
                <a:lnTo>
                  <a:pt x="136057" y="159505"/>
                </a:lnTo>
                <a:cubicBezTo>
                  <a:pt x="132811" y="159064"/>
                  <a:pt x="129628" y="158182"/>
                  <a:pt x="126633" y="156952"/>
                </a:cubicBezTo>
                <a:lnTo>
                  <a:pt x="115603" y="164296"/>
                </a:lnTo>
                <a:cubicBezTo>
                  <a:pt x="112293" y="166502"/>
                  <a:pt x="107913" y="166061"/>
                  <a:pt x="105108" y="163256"/>
                </a:cubicBezTo>
                <a:lnTo>
                  <a:pt x="99056" y="157205"/>
                </a:lnTo>
                <a:cubicBezTo>
                  <a:pt x="96252" y="154400"/>
                  <a:pt x="95810" y="150019"/>
                  <a:pt x="98016" y="146710"/>
                </a:cubicBezTo>
                <a:lnTo>
                  <a:pt x="105360" y="135679"/>
                </a:lnTo>
                <a:cubicBezTo>
                  <a:pt x="104761" y="134197"/>
                  <a:pt x="104225" y="132653"/>
                  <a:pt x="103784" y="131046"/>
                </a:cubicBezTo>
                <a:cubicBezTo>
                  <a:pt x="103343" y="129438"/>
                  <a:pt x="103059" y="127831"/>
                  <a:pt x="102838" y="126255"/>
                </a:cubicBezTo>
                <a:lnTo>
                  <a:pt x="90957" y="120393"/>
                </a:lnTo>
                <a:cubicBezTo>
                  <a:pt x="87395" y="118628"/>
                  <a:pt x="85599" y="114594"/>
                  <a:pt x="86607" y="110781"/>
                </a:cubicBezTo>
                <a:lnTo>
                  <a:pt x="88814" y="102523"/>
                </a:lnTo>
                <a:cubicBezTo>
                  <a:pt x="89854" y="98710"/>
                  <a:pt x="93415" y="96125"/>
                  <a:pt x="97386" y="96378"/>
                </a:cubicBezTo>
                <a:lnTo>
                  <a:pt x="110592" y="97229"/>
                </a:lnTo>
                <a:cubicBezTo>
                  <a:pt x="112577" y="94676"/>
                  <a:pt x="114878" y="92312"/>
                  <a:pt x="117494" y="90295"/>
                </a:cubicBezTo>
                <a:lnTo>
                  <a:pt x="116643" y="77121"/>
                </a:lnTo>
                <a:cubicBezTo>
                  <a:pt x="116391" y="73150"/>
                  <a:pt x="118975" y="69557"/>
                  <a:pt x="122788" y="68548"/>
                </a:cubicBezTo>
                <a:lnTo>
                  <a:pt x="131046" y="66342"/>
                </a:lnTo>
                <a:close/>
                <a:moveTo>
                  <a:pt x="141320" y="107156"/>
                </a:moveTo>
                <a:cubicBezTo>
                  <a:pt x="133667" y="107165"/>
                  <a:pt x="127460" y="113386"/>
                  <a:pt x="127469" y="121039"/>
                </a:cubicBezTo>
                <a:cubicBezTo>
                  <a:pt x="127477" y="128693"/>
                  <a:pt x="133698" y="134900"/>
                  <a:pt x="141352" y="134891"/>
                </a:cubicBezTo>
                <a:cubicBezTo>
                  <a:pt x="149005" y="134882"/>
                  <a:pt x="155212" y="128661"/>
                  <a:pt x="155203" y="121008"/>
                </a:cubicBezTo>
                <a:cubicBezTo>
                  <a:pt x="155195" y="113354"/>
                  <a:pt x="148974" y="107148"/>
                  <a:pt x="141320" y="107156"/>
                </a:cubicBezTo>
                <a:close/>
                <a:moveTo>
                  <a:pt x="70881" y="-14340"/>
                </a:moveTo>
                <a:lnTo>
                  <a:pt x="79138" y="-12134"/>
                </a:lnTo>
                <a:cubicBezTo>
                  <a:pt x="82952" y="-11094"/>
                  <a:pt x="85536" y="-7501"/>
                  <a:pt x="85284" y="-3561"/>
                </a:cubicBezTo>
                <a:lnTo>
                  <a:pt x="84433" y="9613"/>
                </a:lnTo>
                <a:cubicBezTo>
                  <a:pt x="87049" y="11630"/>
                  <a:pt x="89349" y="13962"/>
                  <a:pt x="91335" y="16546"/>
                </a:cubicBezTo>
                <a:lnTo>
                  <a:pt x="104572" y="15695"/>
                </a:lnTo>
                <a:cubicBezTo>
                  <a:pt x="108511" y="15443"/>
                  <a:pt x="112104" y="18027"/>
                  <a:pt x="113144" y="21841"/>
                </a:cubicBezTo>
                <a:lnTo>
                  <a:pt x="115351" y="30098"/>
                </a:lnTo>
                <a:cubicBezTo>
                  <a:pt x="116359" y="33912"/>
                  <a:pt x="114563" y="37946"/>
                  <a:pt x="111001" y="39711"/>
                </a:cubicBezTo>
                <a:lnTo>
                  <a:pt x="99120" y="45573"/>
                </a:lnTo>
                <a:cubicBezTo>
                  <a:pt x="98899" y="47180"/>
                  <a:pt x="98584" y="48788"/>
                  <a:pt x="98174" y="50363"/>
                </a:cubicBezTo>
                <a:cubicBezTo>
                  <a:pt x="97764" y="51939"/>
                  <a:pt x="97197" y="53515"/>
                  <a:pt x="96598" y="54996"/>
                </a:cubicBezTo>
                <a:lnTo>
                  <a:pt x="103942" y="66027"/>
                </a:lnTo>
                <a:cubicBezTo>
                  <a:pt x="106148" y="69336"/>
                  <a:pt x="105706" y="73717"/>
                  <a:pt x="102902" y="76522"/>
                </a:cubicBezTo>
                <a:lnTo>
                  <a:pt x="96850" y="82573"/>
                </a:lnTo>
                <a:cubicBezTo>
                  <a:pt x="94045" y="85378"/>
                  <a:pt x="89665" y="85820"/>
                  <a:pt x="86355" y="83613"/>
                </a:cubicBezTo>
                <a:lnTo>
                  <a:pt x="75325" y="76270"/>
                </a:lnTo>
                <a:cubicBezTo>
                  <a:pt x="72330" y="77499"/>
                  <a:pt x="69147" y="78382"/>
                  <a:pt x="65901" y="78823"/>
                </a:cubicBezTo>
                <a:lnTo>
                  <a:pt x="60039" y="90673"/>
                </a:lnTo>
                <a:cubicBezTo>
                  <a:pt x="58274" y="94234"/>
                  <a:pt x="54240" y="96031"/>
                  <a:pt x="50426" y="95022"/>
                </a:cubicBezTo>
                <a:lnTo>
                  <a:pt x="42169" y="92816"/>
                </a:lnTo>
                <a:cubicBezTo>
                  <a:pt x="38324" y="91776"/>
                  <a:pt x="35771" y="88183"/>
                  <a:pt x="36023" y="84244"/>
                </a:cubicBezTo>
                <a:lnTo>
                  <a:pt x="36874" y="71038"/>
                </a:lnTo>
                <a:cubicBezTo>
                  <a:pt x="34258" y="69021"/>
                  <a:pt x="31958" y="66689"/>
                  <a:pt x="29972" y="64105"/>
                </a:cubicBezTo>
                <a:lnTo>
                  <a:pt x="16735" y="64956"/>
                </a:lnTo>
                <a:cubicBezTo>
                  <a:pt x="12796" y="65208"/>
                  <a:pt x="9203" y="62623"/>
                  <a:pt x="8163" y="58810"/>
                </a:cubicBezTo>
                <a:lnTo>
                  <a:pt x="5957" y="50553"/>
                </a:lnTo>
                <a:cubicBezTo>
                  <a:pt x="4948" y="46739"/>
                  <a:pt x="6745" y="42705"/>
                  <a:pt x="10306" y="40940"/>
                </a:cubicBezTo>
                <a:lnTo>
                  <a:pt x="22188" y="35078"/>
                </a:lnTo>
                <a:cubicBezTo>
                  <a:pt x="22408" y="33471"/>
                  <a:pt x="22723" y="31895"/>
                  <a:pt x="23133" y="30287"/>
                </a:cubicBezTo>
                <a:cubicBezTo>
                  <a:pt x="23574" y="28680"/>
                  <a:pt x="24079" y="27136"/>
                  <a:pt x="24709" y="25654"/>
                </a:cubicBezTo>
                <a:lnTo>
                  <a:pt x="17366" y="14655"/>
                </a:lnTo>
                <a:cubicBezTo>
                  <a:pt x="15159" y="11346"/>
                  <a:pt x="15601" y="6965"/>
                  <a:pt x="18406" y="4160"/>
                </a:cubicBezTo>
                <a:lnTo>
                  <a:pt x="24457" y="-1891"/>
                </a:lnTo>
                <a:cubicBezTo>
                  <a:pt x="27262" y="-4696"/>
                  <a:pt x="31643" y="-5137"/>
                  <a:pt x="34952" y="-2931"/>
                </a:cubicBezTo>
                <a:lnTo>
                  <a:pt x="45983" y="4412"/>
                </a:lnTo>
                <a:cubicBezTo>
                  <a:pt x="48977" y="3183"/>
                  <a:pt x="52160" y="2301"/>
                  <a:pt x="55406" y="1859"/>
                </a:cubicBezTo>
                <a:lnTo>
                  <a:pt x="61268" y="-9991"/>
                </a:lnTo>
                <a:cubicBezTo>
                  <a:pt x="63033" y="-13552"/>
                  <a:pt x="67036" y="-15349"/>
                  <a:pt x="70881" y="-14340"/>
                </a:cubicBezTo>
                <a:close/>
                <a:moveTo>
                  <a:pt x="60638" y="26474"/>
                </a:moveTo>
                <a:cubicBezTo>
                  <a:pt x="52984" y="26474"/>
                  <a:pt x="46771" y="32688"/>
                  <a:pt x="46771" y="40341"/>
                </a:cubicBezTo>
                <a:cubicBezTo>
                  <a:pt x="46771" y="47995"/>
                  <a:pt x="52984" y="54208"/>
                  <a:pt x="60638" y="54208"/>
                </a:cubicBezTo>
                <a:cubicBezTo>
                  <a:pt x="68291" y="54208"/>
                  <a:pt x="74505" y="47995"/>
                  <a:pt x="74505" y="40341"/>
                </a:cubicBezTo>
                <a:cubicBezTo>
                  <a:pt x="74505" y="32688"/>
                  <a:pt x="68291" y="26474"/>
                  <a:pt x="60638" y="26474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749553" y="1416424"/>
            <a:ext cx="1676400" cy="25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10282" y="1864659"/>
            <a:ext cx="125506" cy="143435"/>
          </a:xfrm>
          <a:custGeom>
            <a:avLst/>
            <a:gdLst/>
            <a:ahLst/>
            <a:cxnLst/>
            <a:rect l="l" t="t" r="r" b="b"/>
            <a:pathLst>
              <a:path w="125506" h="143435">
                <a:moveTo>
                  <a:pt x="121808" y="19638"/>
                </a:moveTo>
                <a:cubicBezTo>
                  <a:pt x="125814" y="22552"/>
                  <a:pt x="126711" y="28155"/>
                  <a:pt x="123797" y="32161"/>
                </a:cubicBezTo>
                <a:lnTo>
                  <a:pt x="52079" y="130773"/>
                </a:lnTo>
                <a:cubicBezTo>
                  <a:pt x="50539" y="132902"/>
                  <a:pt x="48157" y="134218"/>
                  <a:pt x="45524" y="134443"/>
                </a:cubicBezTo>
                <a:cubicBezTo>
                  <a:pt x="42891" y="134667"/>
                  <a:pt x="40341" y="133686"/>
                  <a:pt x="38492" y="131837"/>
                </a:cubicBezTo>
                <a:lnTo>
                  <a:pt x="2633" y="95978"/>
                </a:lnTo>
                <a:cubicBezTo>
                  <a:pt x="-868" y="92477"/>
                  <a:pt x="-868" y="86790"/>
                  <a:pt x="2633" y="83288"/>
                </a:cubicBezTo>
                <a:cubicBezTo>
                  <a:pt x="6135" y="79786"/>
                  <a:pt x="11822" y="79786"/>
                  <a:pt x="15324" y="83288"/>
                </a:cubicBezTo>
                <a:lnTo>
                  <a:pt x="43759" y="111723"/>
                </a:lnTo>
                <a:lnTo>
                  <a:pt x="109313" y="21599"/>
                </a:lnTo>
                <a:cubicBezTo>
                  <a:pt x="112227" y="17593"/>
                  <a:pt x="117830" y="16697"/>
                  <a:pt x="121836" y="1961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534400" y="1828800"/>
            <a:ext cx="3227294" cy="430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Cyclical: sin/cos encodings (hour, month, weekday, minute)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10282" y="2366682"/>
            <a:ext cx="125506" cy="143435"/>
          </a:xfrm>
          <a:custGeom>
            <a:avLst/>
            <a:gdLst/>
            <a:ahLst/>
            <a:cxnLst/>
            <a:rect l="l" t="t" r="r" b="b"/>
            <a:pathLst>
              <a:path w="125506" h="143435">
                <a:moveTo>
                  <a:pt x="121808" y="19638"/>
                </a:moveTo>
                <a:cubicBezTo>
                  <a:pt x="125814" y="22552"/>
                  <a:pt x="126711" y="28155"/>
                  <a:pt x="123797" y="32161"/>
                </a:cubicBezTo>
                <a:lnTo>
                  <a:pt x="52079" y="130773"/>
                </a:lnTo>
                <a:cubicBezTo>
                  <a:pt x="50539" y="132902"/>
                  <a:pt x="48157" y="134218"/>
                  <a:pt x="45524" y="134443"/>
                </a:cubicBezTo>
                <a:cubicBezTo>
                  <a:pt x="42891" y="134667"/>
                  <a:pt x="40341" y="133686"/>
                  <a:pt x="38492" y="131837"/>
                </a:cubicBezTo>
                <a:lnTo>
                  <a:pt x="2633" y="95978"/>
                </a:lnTo>
                <a:cubicBezTo>
                  <a:pt x="-868" y="92477"/>
                  <a:pt x="-868" y="86790"/>
                  <a:pt x="2633" y="83288"/>
                </a:cubicBezTo>
                <a:cubicBezTo>
                  <a:pt x="6135" y="79786"/>
                  <a:pt x="11822" y="79786"/>
                  <a:pt x="15324" y="83288"/>
                </a:cubicBezTo>
                <a:lnTo>
                  <a:pt x="43759" y="111723"/>
                </a:lnTo>
                <a:lnTo>
                  <a:pt x="109313" y="21599"/>
                </a:lnTo>
                <a:cubicBezTo>
                  <a:pt x="112227" y="17593"/>
                  <a:pt x="117830" y="16697"/>
                  <a:pt x="121836" y="1961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534400" y="2330824"/>
            <a:ext cx="180190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Lag features: 1, 60, 1440 min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10282" y="2653553"/>
            <a:ext cx="125506" cy="143435"/>
          </a:xfrm>
          <a:custGeom>
            <a:avLst/>
            <a:gdLst/>
            <a:ahLst/>
            <a:cxnLst/>
            <a:rect l="l" t="t" r="r" b="b"/>
            <a:pathLst>
              <a:path w="125506" h="143435">
                <a:moveTo>
                  <a:pt x="121808" y="19638"/>
                </a:moveTo>
                <a:cubicBezTo>
                  <a:pt x="125814" y="22552"/>
                  <a:pt x="126711" y="28155"/>
                  <a:pt x="123797" y="32161"/>
                </a:cubicBezTo>
                <a:lnTo>
                  <a:pt x="52079" y="130773"/>
                </a:lnTo>
                <a:cubicBezTo>
                  <a:pt x="50539" y="132902"/>
                  <a:pt x="48157" y="134218"/>
                  <a:pt x="45524" y="134443"/>
                </a:cubicBezTo>
                <a:cubicBezTo>
                  <a:pt x="42891" y="134667"/>
                  <a:pt x="40341" y="133686"/>
                  <a:pt x="38492" y="131837"/>
                </a:cubicBezTo>
                <a:lnTo>
                  <a:pt x="2633" y="95978"/>
                </a:lnTo>
                <a:cubicBezTo>
                  <a:pt x="-868" y="92477"/>
                  <a:pt x="-868" y="86790"/>
                  <a:pt x="2633" y="83288"/>
                </a:cubicBezTo>
                <a:cubicBezTo>
                  <a:pt x="6135" y="79786"/>
                  <a:pt x="11822" y="79786"/>
                  <a:pt x="15324" y="83288"/>
                </a:cubicBezTo>
                <a:lnTo>
                  <a:pt x="43759" y="111723"/>
                </a:lnTo>
                <a:lnTo>
                  <a:pt x="109313" y="21599"/>
                </a:lnTo>
                <a:cubicBezTo>
                  <a:pt x="112227" y="17593"/>
                  <a:pt x="117830" y="16697"/>
                  <a:pt x="121836" y="1961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534400" y="2617694"/>
            <a:ext cx="2429435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Rolling: 60-min &amp; 1440-min mean/std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62174" y="3123304"/>
            <a:ext cx="5654936" cy="3727525"/>
          </a:xfrm>
          <a:custGeom>
            <a:avLst/>
            <a:gdLst/>
            <a:ahLst/>
            <a:cxnLst/>
            <a:rect l="l" t="t" r="r" b="b"/>
            <a:pathLst>
              <a:path w="5654936" h="3727525">
                <a:moveTo>
                  <a:pt x="71718" y="0"/>
                </a:moveTo>
                <a:lnTo>
                  <a:pt x="5583219" y="0"/>
                </a:lnTo>
                <a:cubicBezTo>
                  <a:pt x="5622827" y="0"/>
                  <a:pt x="5654936" y="32109"/>
                  <a:pt x="5654936" y="71718"/>
                </a:cubicBezTo>
                <a:lnTo>
                  <a:pt x="5654936" y="3655807"/>
                </a:lnTo>
                <a:cubicBezTo>
                  <a:pt x="5654936" y="3695416"/>
                  <a:pt x="5622827" y="3727525"/>
                  <a:pt x="5583219" y="3727525"/>
                </a:cubicBezTo>
                <a:lnTo>
                  <a:pt x="71718" y="3727525"/>
                </a:lnTo>
                <a:cubicBezTo>
                  <a:pt x="32109" y="3727525"/>
                  <a:pt x="0" y="3695416"/>
                  <a:pt x="0" y="3655807"/>
                </a:cubicBezTo>
                <a:lnTo>
                  <a:pt x="0" y="71718"/>
                </a:lnTo>
                <a:cubicBezTo>
                  <a:pt x="0" y="32109"/>
                  <a:pt x="32109" y="0"/>
                  <a:pt x="71718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531607" y="3306184"/>
            <a:ext cx="179294" cy="179294"/>
          </a:xfrm>
          <a:custGeom>
            <a:avLst/>
            <a:gdLst/>
            <a:ahLst/>
            <a:cxnLst/>
            <a:rect l="l" t="t" r="r" b="b"/>
            <a:pathLst>
              <a:path w="179294" h="179294">
                <a:moveTo>
                  <a:pt x="0" y="28015"/>
                </a:moveTo>
                <a:cubicBezTo>
                  <a:pt x="0" y="18735"/>
                  <a:pt x="7529" y="11206"/>
                  <a:pt x="16809" y="11206"/>
                </a:cubicBezTo>
                <a:lnTo>
                  <a:pt x="50426" y="11206"/>
                </a:lnTo>
                <a:cubicBezTo>
                  <a:pt x="59706" y="11206"/>
                  <a:pt x="67235" y="18735"/>
                  <a:pt x="67235" y="28015"/>
                </a:cubicBezTo>
                <a:lnTo>
                  <a:pt x="67235" y="33618"/>
                </a:lnTo>
                <a:lnTo>
                  <a:pt x="112059" y="33618"/>
                </a:lnTo>
                <a:lnTo>
                  <a:pt x="112059" y="28015"/>
                </a:lnTo>
                <a:cubicBezTo>
                  <a:pt x="112059" y="18735"/>
                  <a:pt x="119588" y="11206"/>
                  <a:pt x="128868" y="11206"/>
                </a:cubicBezTo>
                <a:lnTo>
                  <a:pt x="162485" y="11206"/>
                </a:lnTo>
                <a:cubicBezTo>
                  <a:pt x="171765" y="11206"/>
                  <a:pt x="179294" y="18735"/>
                  <a:pt x="179294" y="28015"/>
                </a:cubicBezTo>
                <a:lnTo>
                  <a:pt x="179294" y="61632"/>
                </a:lnTo>
                <a:cubicBezTo>
                  <a:pt x="179294" y="70912"/>
                  <a:pt x="171765" y="78441"/>
                  <a:pt x="162485" y="78441"/>
                </a:cubicBezTo>
                <a:lnTo>
                  <a:pt x="128868" y="78441"/>
                </a:lnTo>
                <a:cubicBezTo>
                  <a:pt x="119588" y="78441"/>
                  <a:pt x="112059" y="70912"/>
                  <a:pt x="112059" y="61632"/>
                </a:cubicBezTo>
                <a:lnTo>
                  <a:pt x="112059" y="56029"/>
                </a:lnTo>
                <a:lnTo>
                  <a:pt x="67235" y="56029"/>
                </a:lnTo>
                <a:lnTo>
                  <a:pt x="67235" y="61632"/>
                </a:lnTo>
                <a:cubicBezTo>
                  <a:pt x="67235" y="64189"/>
                  <a:pt x="66640" y="66640"/>
                  <a:pt x="65624" y="68811"/>
                </a:cubicBezTo>
                <a:lnTo>
                  <a:pt x="89647" y="100853"/>
                </a:lnTo>
                <a:lnTo>
                  <a:pt x="117662" y="100853"/>
                </a:lnTo>
                <a:cubicBezTo>
                  <a:pt x="126942" y="100853"/>
                  <a:pt x="134471" y="108382"/>
                  <a:pt x="134471" y="117662"/>
                </a:cubicBezTo>
                <a:lnTo>
                  <a:pt x="134471" y="151279"/>
                </a:lnTo>
                <a:cubicBezTo>
                  <a:pt x="134471" y="160559"/>
                  <a:pt x="126942" y="168088"/>
                  <a:pt x="117662" y="168088"/>
                </a:cubicBezTo>
                <a:lnTo>
                  <a:pt x="84044" y="168088"/>
                </a:lnTo>
                <a:cubicBezTo>
                  <a:pt x="74764" y="168088"/>
                  <a:pt x="67235" y="160559"/>
                  <a:pt x="67235" y="151279"/>
                </a:cubicBezTo>
                <a:lnTo>
                  <a:pt x="67235" y="117662"/>
                </a:lnTo>
                <a:cubicBezTo>
                  <a:pt x="67235" y="115105"/>
                  <a:pt x="67831" y="112654"/>
                  <a:pt x="68846" y="110483"/>
                </a:cubicBezTo>
                <a:lnTo>
                  <a:pt x="44824" y="78441"/>
                </a:lnTo>
                <a:lnTo>
                  <a:pt x="16809" y="78441"/>
                </a:lnTo>
                <a:cubicBezTo>
                  <a:pt x="7529" y="78441"/>
                  <a:pt x="0" y="70912"/>
                  <a:pt x="0" y="61632"/>
                </a:cubicBezTo>
                <a:lnTo>
                  <a:pt x="0" y="28015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733313" y="3270325"/>
            <a:ext cx="5226424" cy="25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Pipeline Architecture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12781" y="3632499"/>
            <a:ext cx="742278" cy="329901"/>
          </a:xfrm>
          <a:custGeom>
            <a:avLst/>
            <a:gdLst/>
            <a:ahLst/>
            <a:cxnLst/>
            <a:rect l="l" t="t" r="r" b="b"/>
            <a:pathLst>
              <a:path w="742278" h="329901">
                <a:moveTo>
                  <a:pt x="35860" y="0"/>
                </a:moveTo>
                <a:lnTo>
                  <a:pt x="706417" y="0"/>
                </a:lnTo>
                <a:cubicBezTo>
                  <a:pt x="726222" y="0"/>
                  <a:pt x="742278" y="16055"/>
                  <a:pt x="742278" y="35860"/>
                </a:cubicBezTo>
                <a:lnTo>
                  <a:pt x="742278" y="294041"/>
                </a:lnTo>
                <a:cubicBezTo>
                  <a:pt x="742278" y="313846"/>
                  <a:pt x="726222" y="329901"/>
                  <a:pt x="706417" y="329901"/>
                </a:cubicBezTo>
                <a:lnTo>
                  <a:pt x="35860" y="329901"/>
                </a:lnTo>
                <a:cubicBezTo>
                  <a:pt x="16055" y="329901"/>
                  <a:pt x="0" y="313846"/>
                  <a:pt x="0" y="294041"/>
                </a:cubicBezTo>
                <a:lnTo>
                  <a:pt x="0" y="35860"/>
                </a:lnTo>
                <a:cubicBezTo>
                  <a:pt x="0" y="16055"/>
                  <a:pt x="16055" y="0"/>
                  <a:pt x="35860" y="0"/>
                </a:cubicBezTo>
                <a:close/>
              </a:path>
            </a:pathLst>
          </a:custGeom>
          <a:solidFill>
            <a:srgbClr val="1A202C"/>
          </a:solidFill>
          <a:ln w="1016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09195" y="3628913"/>
            <a:ext cx="797859" cy="322729"/>
          </a:xfrm>
          <a:prstGeom prst="rect">
            <a:avLst/>
          </a:prstGeom>
          <a:noFill/>
          <a:ln/>
        </p:spPr>
        <p:txBody>
          <a:bodyPr wrap="square" lIns="107576" tIns="71718" rIns="107576" bIns="71718" rtlCol="0" anchor="ctr"/>
          <a:lstStyle/>
          <a:p>
            <a:pPr>
              <a:lnSpc>
                <a:spcPct val="120000"/>
              </a:lnSpc>
            </a:pPr>
            <a:r>
              <a:rPr lang="en-US" sz="988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Data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387961" y="3725733"/>
            <a:ext cx="143435" cy="143435"/>
          </a:xfrm>
          <a:custGeom>
            <a:avLst/>
            <a:gdLst/>
            <a:ahLst/>
            <a:cxnLst/>
            <a:rect l="l" t="t" r="r" b="b"/>
            <a:pathLst>
              <a:path w="143435" h="143435">
                <a:moveTo>
                  <a:pt x="140802" y="78049"/>
                </a:moveTo>
                <a:cubicBezTo>
                  <a:pt x="144304" y="74547"/>
                  <a:pt x="144304" y="68860"/>
                  <a:pt x="140802" y="65358"/>
                </a:cubicBezTo>
                <a:lnTo>
                  <a:pt x="95978" y="20535"/>
                </a:lnTo>
                <a:cubicBezTo>
                  <a:pt x="92477" y="17033"/>
                  <a:pt x="86790" y="17033"/>
                  <a:pt x="83288" y="20535"/>
                </a:cubicBezTo>
                <a:cubicBezTo>
                  <a:pt x="79786" y="24037"/>
                  <a:pt x="79786" y="29724"/>
                  <a:pt x="83288" y="33225"/>
                </a:cubicBezTo>
                <a:lnTo>
                  <a:pt x="112815" y="62753"/>
                </a:lnTo>
                <a:lnTo>
                  <a:pt x="8965" y="62753"/>
                </a:lnTo>
                <a:cubicBezTo>
                  <a:pt x="4006" y="62753"/>
                  <a:pt x="0" y="66759"/>
                  <a:pt x="0" y="71718"/>
                </a:cubicBezTo>
                <a:cubicBezTo>
                  <a:pt x="0" y="76676"/>
                  <a:pt x="4006" y="80682"/>
                  <a:pt x="8965" y="80682"/>
                </a:cubicBezTo>
                <a:lnTo>
                  <a:pt x="112815" y="80682"/>
                </a:lnTo>
                <a:lnTo>
                  <a:pt x="83288" y="110210"/>
                </a:lnTo>
                <a:cubicBezTo>
                  <a:pt x="79786" y="113712"/>
                  <a:pt x="79786" y="119399"/>
                  <a:pt x="83288" y="122901"/>
                </a:cubicBezTo>
                <a:cubicBezTo>
                  <a:pt x="86790" y="126402"/>
                  <a:pt x="92477" y="126402"/>
                  <a:pt x="95978" y="122901"/>
                </a:cubicBezTo>
                <a:lnTo>
                  <a:pt x="140802" y="78077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1660488" y="3632499"/>
            <a:ext cx="1154654" cy="329901"/>
          </a:xfrm>
          <a:custGeom>
            <a:avLst/>
            <a:gdLst/>
            <a:ahLst/>
            <a:cxnLst/>
            <a:rect l="l" t="t" r="r" b="b"/>
            <a:pathLst>
              <a:path w="1154654" h="329901">
                <a:moveTo>
                  <a:pt x="35860" y="0"/>
                </a:moveTo>
                <a:lnTo>
                  <a:pt x="1118794" y="0"/>
                </a:lnTo>
                <a:cubicBezTo>
                  <a:pt x="1138599" y="0"/>
                  <a:pt x="1154654" y="16055"/>
                  <a:pt x="1154654" y="35860"/>
                </a:cubicBezTo>
                <a:lnTo>
                  <a:pt x="1154654" y="294041"/>
                </a:lnTo>
                <a:cubicBezTo>
                  <a:pt x="1154654" y="313846"/>
                  <a:pt x="1138599" y="329901"/>
                  <a:pt x="1118794" y="329901"/>
                </a:cubicBezTo>
                <a:lnTo>
                  <a:pt x="35860" y="329901"/>
                </a:lnTo>
                <a:cubicBezTo>
                  <a:pt x="16055" y="329901"/>
                  <a:pt x="0" y="313846"/>
                  <a:pt x="0" y="294041"/>
                </a:cubicBezTo>
                <a:lnTo>
                  <a:pt x="0" y="35860"/>
                </a:lnTo>
                <a:cubicBezTo>
                  <a:pt x="0" y="16055"/>
                  <a:pt x="16055" y="0"/>
                  <a:pt x="35860" y="0"/>
                </a:cubicBezTo>
                <a:close/>
              </a:path>
            </a:pathLst>
          </a:custGeom>
          <a:solidFill>
            <a:srgbClr val="1A202C"/>
          </a:solidFill>
          <a:ln w="1016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1656902" y="3628913"/>
            <a:ext cx="1210235" cy="322729"/>
          </a:xfrm>
          <a:prstGeom prst="rect">
            <a:avLst/>
          </a:prstGeom>
          <a:noFill/>
          <a:ln/>
        </p:spPr>
        <p:txBody>
          <a:bodyPr wrap="square" lIns="107576" tIns="71718" rIns="107576" bIns="71718" rtlCol="0" anchor="ctr"/>
          <a:lstStyle/>
          <a:p>
            <a:pPr>
              <a:lnSpc>
                <a:spcPct val="120000"/>
              </a:lnSpc>
            </a:pPr>
            <a:r>
              <a:rPr lang="en-US" sz="988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PhysicalValidator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31925" y="4037705"/>
            <a:ext cx="107576" cy="143435"/>
          </a:xfrm>
          <a:custGeom>
            <a:avLst/>
            <a:gdLst/>
            <a:ahLst/>
            <a:cxnLst/>
            <a:rect l="l" t="t" r="r" b="b"/>
            <a:pathLst>
              <a:path w="107576" h="143435">
                <a:moveTo>
                  <a:pt x="47457" y="140802"/>
                </a:moveTo>
                <a:cubicBezTo>
                  <a:pt x="50959" y="144304"/>
                  <a:pt x="56646" y="144304"/>
                  <a:pt x="60148" y="140802"/>
                </a:cubicBezTo>
                <a:lnTo>
                  <a:pt x="104971" y="95978"/>
                </a:lnTo>
                <a:cubicBezTo>
                  <a:pt x="108473" y="92477"/>
                  <a:pt x="108473" y="86790"/>
                  <a:pt x="104971" y="83288"/>
                </a:cubicBezTo>
                <a:cubicBezTo>
                  <a:pt x="101469" y="79786"/>
                  <a:pt x="95782" y="79786"/>
                  <a:pt x="92280" y="83288"/>
                </a:cubicBezTo>
                <a:lnTo>
                  <a:pt x="62753" y="112815"/>
                </a:lnTo>
                <a:lnTo>
                  <a:pt x="62753" y="8965"/>
                </a:lnTo>
                <a:cubicBezTo>
                  <a:pt x="62753" y="4006"/>
                  <a:pt x="58747" y="0"/>
                  <a:pt x="53788" y="0"/>
                </a:cubicBezTo>
                <a:cubicBezTo>
                  <a:pt x="48830" y="0"/>
                  <a:pt x="44824" y="4006"/>
                  <a:pt x="44824" y="8965"/>
                </a:cubicBezTo>
                <a:lnTo>
                  <a:pt x="44824" y="112815"/>
                </a:lnTo>
                <a:lnTo>
                  <a:pt x="15296" y="83288"/>
                </a:lnTo>
                <a:cubicBezTo>
                  <a:pt x="11794" y="79786"/>
                  <a:pt x="6107" y="79786"/>
                  <a:pt x="2605" y="83288"/>
                </a:cubicBezTo>
                <a:cubicBezTo>
                  <a:pt x="-896" y="86790"/>
                  <a:pt x="-896" y="92477"/>
                  <a:pt x="2605" y="95978"/>
                </a:cubicBezTo>
                <a:lnTo>
                  <a:pt x="47429" y="140802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799652" y="4256444"/>
            <a:ext cx="1298089" cy="329901"/>
          </a:xfrm>
          <a:custGeom>
            <a:avLst/>
            <a:gdLst/>
            <a:ahLst/>
            <a:cxnLst/>
            <a:rect l="l" t="t" r="r" b="b"/>
            <a:pathLst>
              <a:path w="1298089" h="329901">
                <a:moveTo>
                  <a:pt x="35860" y="0"/>
                </a:moveTo>
                <a:lnTo>
                  <a:pt x="1262229" y="0"/>
                </a:lnTo>
                <a:cubicBezTo>
                  <a:pt x="1282034" y="0"/>
                  <a:pt x="1298089" y="16055"/>
                  <a:pt x="1298089" y="35860"/>
                </a:cubicBezTo>
                <a:lnTo>
                  <a:pt x="1298089" y="294041"/>
                </a:lnTo>
                <a:cubicBezTo>
                  <a:pt x="1298089" y="313846"/>
                  <a:pt x="1282034" y="329901"/>
                  <a:pt x="1262229" y="329901"/>
                </a:cubicBezTo>
                <a:lnTo>
                  <a:pt x="35860" y="329901"/>
                </a:lnTo>
                <a:cubicBezTo>
                  <a:pt x="16055" y="329901"/>
                  <a:pt x="0" y="313846"/>
                  <a:pt x="0" y="294041"/>
                </a:cubicBezTo>
                <a:lnTo>
                  <a:pt x="0" y="35860"/>
                </a:lnTo>
                <a:cubicBezTo>
                  <a:pt x="0" y="16055"/>
                  <a:pt x="16055" y="0"/>
                  <a:pt x="35860" y="0"/>
                </a:cubicBezTo>
                <a:close/>
              </a:path>
            </a:pathLst>
          </a:custGeom>
          <a:solidFill>
            <a:srgbClr val="1A202C"/>
          </a:solidFill>
          <a:ln w="1016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96066" y="4252858"/>
            <a:ext cx="1353671" cy="322729"/>
          </a:xfrm>
          <a:prstGeom prst="rect">
            <a:avLst/>
          </a:prstGeom>
          <a:noFill/>
          <a:ln/>
        </p:spPr>
        <p:txBody>
          <a:bodyPr wrap="square" lIns="107576" tIns="71718" rIns="107576" bIns="71718" rtlCol="0" anchor="ctr"/>
          <a:lstStyle/>
          <a:p>
            <a:pPr>
              <a:lnSpc>
                <a:spcPct val="120000"/>
              </a:lnSpc>
            </a:pPr>
            <a:r>
              <a:rPr lang="en-US" sz="988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HierarchicalImputer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2230979" y="4349675"/>
            <a:ext cx="143435" cy="143435"/>
          </a:xfrm>
          <a:custGeom>
            <a:avLst/>
            <a:gdLst/>
            <a:ahLst/>
            <a:cxnLst/>
            <a:rect l="l" t="t" r="r" b="b"/>
            <a:pathLst>
              <a:path w="143435" h="143435">
                <a:moveTo>
                  <a:pt x="140802" y="78049"/>
                </a:moveTo>
                <a:cubicBezTo>
                  <a:pt x="144304" y="74547"/>
                  <a:pt x="144304" y="68860"/>
                  <a:pt x="140802" y="65358"/>
                </a:cubicBezTo>
                <a:lnTo>
                  <a:pt x="95978" y="20535"/>
                </a:lnTo>
                <a:cubicBezTo>
                  <a:pt x="92477" y="17033"/>
                  <a:pt x="86790" y="17033"/>
                  <a:pt x="83288" y="20535"/>
                </a:cubicBezTo>
                <a:cubicBezTo>
                  <a:pt x="79786" y="24037"/>
                  <a:pt x="79786" y="29724"/>
                  <a:pt x="83288" y="33225"/>
                </a:cubicBezTo>
                <a:lnTo>
                  <a:pt x="112815" y="62753"/>
                </a:lnTo>
                <a:lnTo>
                  <a:pt x="8965" y="62753"/>
                </a:lnTo>
                <a:cubicBezTo>
                  <a:pt x="4006" y="62753"/>
                  <a:pt x="0" y="66759"/>
                  <a:pt x="0" y="71718"/>
                </a:cubicBezTo>
                <a:cubicBezTo>
                  <a:pt x="0" y="76676"/>
                  <a:pt x="4006" y="80682"/>
                  <a:pt x="8965" y="80682"/>
                </a:cubicBezTo>
                <a:lnTo>
                  <a:pt x="112815" y="80682"/>
                </a:lnTo>
                <a:lnTo>
                  <a:pt x="83288" y="110210"/>
                </a:lnTo>
                <a:cubicBezTo>
                  <a:pt x="79786" y="113712"/>
                  <a:pt x="79786" y="119399"/>
                  <a:pt x="83288" y="122901"/>
                </a:cubicBezTo>
                <a:cubicBezTo>
                  <a:pt x="86790" y="126402"/>
                  <a:pt x="92477" y="126402"/>
                  <a:pt x="95978" y="122901"/>
                </a:cubicBezTo>
                <a:lnTo>
                  <a:pt x="140802" y="78077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2503506" y="4256444"/>
            <a:ext cx="1091901" cy="329901"/>
          </a:xfrm>
          <a:custGeom>
            <a:avLst/>
            <a:gdLst/>
            <a:ahLst/>
            <a:cxnLst/>
            <a:rect l="l" t="t" r="r" b="b"/>
            <a:pathLst>
              <a:path w="1091901" h="329901">
                <a:moveTo>
                  <a:pt x="35860" y="0"/>
                </a:moveTo>
                <a:lnTo>
                  <a:pt x="1056041" y="0"/>
                </a:lnTo>
                <a:cubicBezTo>
                  <a:pt x="1075846" y="0"/>
                  <a:pt x="1091901" y="16055"/>
                  <a:pt x="1091901" y="35860"/>
                </a:cubicBezTo>
                <a:lnTo>
                  <a:pt x="1091901" y="294041"/>
                </a:lnTo>
                <a:cubicBezTo>
                  <a:pt x="1091901" y="313846"/>
                  <a:pt x="1075846" y="329901"/>
                  <a:pt x="1056041" y="329901"/>
                </a:cubicBezTo>
                <a:lnTo>
                  <a:pt x="35860" y="329901"/>
                </a:lnTo>
                <a:cubicBezTo>
                  <a:pt x="16055" y="329901"/>
                  <a:pt x="0" y="313846"/>
                  <a:pt x="0" y="294041"/>
                </a:cubicBezTo>
                <a:lnTo>
                  <a:pt x="0" y="35860"/>
                </a:lnTo>
                <a:cubicBezTo>
                  <a:pt x="0" y="16055"/>
                  <a:pt x="16055" y="0"/>
                  <a:pt x="35860" y="0"/>
                </a:cubicBezTo>
                <a:close/>
              </a:path>
            </a:pathLst>
          </a:custGeom>
          <a:solidFill>
            <a:srgbClr val="1A202C"/>
          </a:solidFill>
          <a:ln w="1016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2499920" y="4252858"/>
            <a:ext cx="1147482" cy="322729"/>
          </a:xfrm>
          <a:prstGeom prst="rect">
            <a:avLst/>
          </a:prstGeom>
          <a:noFill/>
          <a:ln/>
        </p:spPr>
        <p:txBody>
          <a:bodyPr wrap="square" lIns="107576" tIns="71718" rIns="107576" bIns="71718" rtlCol="0" anchor="ctr"/>
          <a:lstStyle/>
          <a:p>
            <a:pPr>
              <a:lnSpc>
                <a:spcPct val="120000"/>
              </a:lnSpc>
            </a:pPr>
            <a:r>
              <a:rPr lang="en-US" sz="988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CyclicalEncoder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1925" y="4661647"/>
            <a:ext cx="107576" cy="143435"/>
          </a:xfrm>
          <a:custGeom>
            <a:avLst/>
            <a:gdLst/>
            <a:ahLst/>
            <a:cxnLst/>
            <a:rect l="l" t="t" r="r" b="b"/>
            <a:pathLst>
              <a:path w="107576" h="143435">
                <a:moveTo>
                  <a:pt x="47457" y="140802"/>
                </a:moveTo>
                <a:cubicBezTo>
                  <a:pt x="50959" y="144304"/>
                  <a:pt x="56646" y="144304"/>
                  <a:pt x="60148" y="140802"/>
                </a:cubicBezTo>
                <a:lnTo>
                  <a:pt x="104971" y="95978"/>
                </a:lnTo>
                <a:cubicBezTo>
                  <a:pt x="108473" y="92477"/>
                  <a:pt x="108473" y="86790"/>
                  <a:pt x="104971" y="83288"/>
                </a:cubicBezTo>
                <a:cubicBezTo>
                  <a:pt x="101469" y="79786"/>
                  <a:pt x="95782" y="79786"/>
                  <a:pt x="92280" y="83288"/>
                </a:cubicBezTo>
                <a:lnTo>
                  <a:pt x="62753" y="112815"/>
                </a:lnTo>
                <a:lnTo>
                  <a:pt x="62753" y="8965"/>
                </a:lnTo>
                <a:cubicBezTo>
                  <a:pt x="62753" y="4006"/>
                  <a:pt x="58747" y="0"/>
                  <a:pt x="53788" y="0"/>
                </a:cubicBezTo>
                <a:cubicBezTo>
                  <a:pt x="48830" y="0"/>
                  <a:pt x="44824" y="4006"/>
                  <a:pt x="44824" y="8965"/>
                </a:cubicBezTo>
                <a:lnTo>
                  <a:pt x="44824" y="112815"/>
                </a:lnTo>
                <a:lnTo>
                  <a:pt x="15296" y="83288"/>
                </a:lnTo>
                <a:cubicBezTo>
                  <a:pt x="11794" y="79786"/>
                  <a:pt x="6107" y="79786"/>
                  <a:pt x="2605" y="83288"/>
                </a:cubicBezTo>
                <a:cubicBezTo>
                  <a:pt x="-896" y="86790"/>
                  <a:pt x="-896" y="92477"/>
                  <a:pt x="2605" y="95978"/>
                </a:cubicBezTo>
                <a:lnTo>
                  <a:pt x="47429" y="140802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799652" y="4880386"/>
            <a:ext cx="1871831" cy="329901"/>
          </a:xfrm>
          <a:custGeom>
            <a:avLst/>
            <a:gdLst/>
            <a:ahLst/>
            <a:cxnLst/>
            <a:rect l="l" t="t" r="r" b="b"/>
            <a:pathLst>
              <a:path w="1871831" h="329901">
                <a:moveTo>
                  <a:pt x="35860" y="0"/>
                </a:moveTo>
                <a:lnTo>
                  <a:pt x="1835970" y="0"/>
                </a:lnTo>
                <a:cubicBezTo>
                  <a:pt x="1855775" y="0"/>
                  <a:pt x="1871831" y="16055"/>
                  <a:pt x="1871831" y="35860"/>
                </a:cubicBezTo>
                <a:lnTo>
                  <a:pt x="1871831" y="294041"/>
                </a:lnTo>
                <a:cubicBezTo>
                  <a:pt x="1871831" y="313846"/>
                  <a:pt x="1855775" y="329901"/>
                  <a:pt x="1835970" y="329901"/>
                </a:cubicBezTo>
                <a:lnTo>
                  <a:pt x="35860" y="329901"/>
                </a:lnTo>
                <a:cubicBezTo>
                  <a:pt x="16055" y="329901"/>
                  <a:pt x="0" y="313846"/>
                  <a:pt x="0" y="294041"/>
                </a:cubicBezTo>
                <a:lnTo>
                  <a:pt x="0" y="35860"/>
                </a:lnTo>
                <a:cubicBezTo>
                  <a:pt x="0" y="16055"/>
                  <a:pt x="16055" y="0"/>
                  <a:pt x="35860" y="0"/>
                </a:cubicBezTo>
                <a:close/>
              </a:path>
            </a:pathLst>
          </a:custGeom>
          <a:solidFill>
            <a:srgbClr val="1A202C"/>
          </a:solidFill>
          <a:ln w="1016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796066" y="4876800"/>
            <a:ext cx="1927412" cy="322729"/>
          </a:xfrm>
          <a:prstGeom prst="rect">
            <a:avLst/>
          </a:prstGeom>
          <a:noFill/>
          <a:ln/>
        </p:spPr>
        <p:txBody>
          <a:bodyPr wrap="square" lIns="107576" tIns="71718" rIns="107576" bIns="71718" rtlCol="0" anchor="ctr"/>
          <a:lstStyle/>
          <a:p>
            <a:pPr>
              <a:lnSpc>
                <a:spcPct val="120000"/>
              </a:lnSpc>
            </a:pPr>
            <a:r>
              <a:rPr lang="en-US" sz="988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LagAndRollingFeatureEngineer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2798781" y="4973619"/>
            <a:ext cx="143435" cy="143435"/>
          </a:xfrm>
          <a:custGeom>
            <a:avLst/>
            <a:gdLst/>
            <a:ahLst/>
            <a:cxnLst/>
            <a:rect l="l" t="t" r="r" b="b"/>
            <a:pathLst>
              <a:path w="143435" h="143435">
                <a:moveTo>
                  <a:pt x="140802" y="78049"/>
                </a:moveTo>
                <a:cubicBezTo>
                  <a:pt x="144304" y="74547"/>
                  <a:pt x="144304" y="68860"/>
                  <a:pt x="140802" y="65358"/>
                </a:cubicBezTo>
                <a:lnTo>
                  <a:pt x="95978" y="20535"/>
                </a:lnTo>
                <a:cubicBezTo>
                  <a:pt x="92477" y="17033"/>
                  <a:pt x="86790" y="17033"/>
                  <a:pt x="83288" y="20535"/>
                </a:cubicBezTo>
                <a:cubicBezTo>
                  <a:pt x="79786" y="24037"/>
                  <a:pt x="79786" y="29724"/>
                  <a:pt x="83288" y="33225"/>
                </a:cubicBezTo>
                <a:lnTo>
                  <a:pt x="112815" y="62753"/>
                </a:lnTo>
                <a:lnTo>
                  <a:pt x="8965" y="62753"/>
                </a:lnTo>
                <a:cubicBezTo>
                  <a:pt x="4006" y="62753"/>
                  <a:pt x="0" y="66759"/>
                  <a:pt x="0" y="71718"/>
                </a:cubicBezTo>
                <a:cubicBezTo>
                  <a:pt x="0" y="76676"/>
                  <a:pt x="4006" y="80682"/>
                  <a:pt x="8965" y="80682"/>
                </a:cubicBezTo>
                <a:lnTo>
                  <a:pt x="112815" y="80682"/>
                </a:lnTo>
                <a:lnTo>
                  <a:pt x="83288" y="110210"/>
                </a:lnTo>
                <a:cubicBezTo>
                  <a:pt x="79786" y="113712"/>
                  <a:pt x="79786" y="119399"/>
                  <a:pt x="83288" y="122901"/>
                </a:cubicBezTo>
                <a:cubicBezTo>
                  <a:pt x="86790" y="126402"/>
                  <a:pt x="92477" y="126402"/>
                  <a:pt x="95978" y="122901"/>
                </a:cubicBezTo>
                <a:lnTo>
                  <a:pt x="140802" y="78077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3071308" y="4880386"/>
            <a:ext cx="1145689" cy="329901"/>
          </a:xfrm>
          <a:custGeom>
            <a:avLst/>
            <a:gdLst/>
            <a:ahLst/>
            <a:cxnLst/>
            <a:rect l="l" t="t" r="r" b="b"/>
            <a:pathLst>
              <a:path w="1145689" h="329901">
                <a:moveTo>
                  <a:pt x="35860" y="0"/>
                </a:moveTo>
                <a:lnTo>
                  <a:pt x="1109829" y="0"/>
                </a:lnTo>
                <a:cubicBezTo>
                  <a:pt x="1129634" y="0"/>
                  <a:pt x="1145689" y="16055"/>
                  <a:pt x="1145689" y="35860"/>
                </a:cubicBezTo>
                <a:lnTo>
                  <a:pt x="1145689" y="294041"/>
                </a:lnTo>
                <a:cubicBezTo>
                  <a:pt x="1145689" y="313846"/>
                  <a:pt x="1129634" y="329901"/>
                  <a:pt x="1109829" y="329901"/>
                </a:cubicBezTo>
                <a:lnTo>
                  <a:pt x="35860" y="329901"/>
                </a:lnTo>
                <a:cubicBezTo>
                  <a:pt x="16055" y="329901"/>
                  <a:pt x="0" y="313846"/>
                  <a:pt x="0" y="294041"/>
                </a:cubicBezTo>
                <a:lnTo>
                  <a:pt x="0" y="35860"/>
                </a:lnTo>
                <a:cubicBezTo>
                  <a:pt x="0" y="16055"/>
                  <a:pt x="16055" y="0"/>
                  <a:pt x="35860" y="0"/>
                </a:cubicBezTo>
                <a:close/>
              </a:path>
            </a:pathLst>
          </a:custGeom>
          <a:solidFill>
            <a:srgbClr val="1A202C"/>
          </a:solidFill>
          <a:ln w="1016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3067722" y="4876800"/>
            <a:ext cx="1201271" cy="322729"/>
          </a:xfrm>
          <a:prstGeom prst="rect">
            <a:avLst/>
          </a:prstGeom>
          <a:noFill/>
          <a:ln/>
        </p:spPr>
        <p:txBody>
          <a:bodyPr wrap="square" lIns="107576" tIns="71718" rIns="107576" bIns="71718" rtlCol="0" anchor="ctr"/>
          <a:lstStyle/>
          <a:p>
            <a:pPr>
              <a:lnSpc>
                <a:spcPct val="120000"/>
              </a:lnSpc>
            </a:pPr>
            <a:r>
              <a:rPr lang="en-US" sz="988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DataFrameScaler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1925" y="5285591"/>
            <a:ext cx="107576" cy="143435"/>
          </a:xfrm>
          <a:custGeom>
            <a:avLst/>
            <a:gdLst/>
            <a:ahLst/>
            <a:cxnLst/>
            <a:rect l="l" t="t" r="r" b="b"/>
            <a:pathLst>
              <a:path w="107576" h="143435">
                <a:moveTo>
                  <a:pt x="47457" y="140802"/>
                </a:moveTo>
                <a:cubicBezTo>
                  <a:pt x="50959" y="144304"/>
                  <a:pt x="56646" y="144304"/>
                  <a:pt x="60148" y="140802"/>
                </a:cubicBezTo>
                <a:lnTo>
                  <a:pt x="104971" y="95978"/>
                </a:lnTo>
                <a:cubicBezTo>
                  <a:pt x="108473" y="92477"/>
                  <a:pt x="108473" y="86790"/>
                  <a:pt x="104971" y="83288"/>
                </a:cubicBezTo>
                <a:cubicBezTo>
                  <a:pt x="101469" y="79786"/>
                  <a:pt x="95782" y="79786"/>
                  <a:pt x="92280" y="83288"/>
                </a:cubicBezTo>
                <a:lnTo>
                  <a:pt x="62753" y="112815"/>
                </a:lnTo>
                <a:lnTo>
                  <a:pt x="62753" y="8965"/>
                </a:lnTo>
                <a:cubicBezTo>
                  <a:pt x="62753" y="4006"/>
                  <a:pt x="58747" y="0"/>
                  <a:pt x="53788" y="0"/>
                </a:cubicBezTo>
                <a:cubicBezTo>
                  <a:pt x="48830" y="0"/>
                  <a:pt x="44824" y="4006"/>
                  <a:pt x="44824" y="8965"/>
                </a:cubicBezTo>
                <a:lnTo>
                  <a:pt x="44824" y="112815"/>
                </a:lnTo>
                <a:lnTo>
                  <a:pt x="15296" y="83288"/>
                </a:lnTo>
                <a:cubicBezTo>
                  <a:pt x="11794" y="79786"/>
                  <a:pt x="6107" y="79786"/>
                  <a:pt x="2605" y="83288"/>
                </a:cubicBezTo>
                <a:cubicBezTo>
                  <a:pt x="-896" y="86790"/>
                  <a:pt x="-896" y="92477"/>
                  <a:pt x="2605" y="95978"/>
                </a:cubicBezTo>
                <a:lnTo>
                  <a:pt x="47429" y="140802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799652" y="5504330"/>
            <a:ext cx="1047078" cy="329901"/>
          </a:xfrm>
          <a:custGeom>
            <a:avLst/>
            <a:gdLst/>
            <a:ahLst/>
            <a:cxnLst/>
            <a:rect l="l" t="t" r="r" b="b"/>
            <a:pathLst>
              <a:path w="1047078" h="329901">
                <a:moveTo>
                  <a:pt x="35860" y="0"/>
                </a:moveTo>
                <a:lnTo>
                  <a:pt x="1011217" y="0"/>
                </a:lnTo>
                <a:cubicBezTo>
                  <a:pt x="1031022" y="0"/>
                  <a:pt x="1047078" y="16055"/>
                  <a:pt x="1047078" y="35860"/>
                </a:cubicBezTo>
                <a:lnTo>
                  <a:pt x="1047078" y="294041"/>
                </a:lnTo>
                <a:cubicBezTo>
                  <a:pt x="1047078" y="313846"/>
                  <a:pt x="1031022" y="329901"/>
                  <a:pt x="1011217" y="329901"/>
                </a:cubicBezTo>
                <a:lnTo>
                  <a:pt x="35860" y="329901"/>
                </a:lnTo>
                <a:cubicBezTo>
                  <a:pt x="16055" y="329901"/>
                  <a:pt x="0" y="313846"/>
                  <a:pt x="0" y="294041"/>
                </a:cubicBezTo>
                <a:lnTo>
                  <a:pt x="0" y="35860"/>
                </a:lnTo>
                <a:cubicBezTo>
                  <a:pt x="0" y="16055"/>
                  <a:pt x="16055" y="0"/>
                  <a:pt x="35860" y="0"/>
                </a:cubicBezTo>
                <a:close/>
              </a:path>
            </a:pathLst>
          </a:custGeom>
          <a:solidFill>
            <a:srgbClr val="1A202C"/>
          </a:solidFill>
          <a:ln w="1016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796066" y="5500744"/>
            <a:ext cx="1102659" cy="322729"/>
          </a:xfrm>
          <a:prstGeom prst="rect">
            <a:avLst/>
          </a:prstGeom>
          <a:noFill/>
          <a:ln/>
        </p:spPr>
        <p:txBody>
          <a:bodyPr wrap="square" lIns="107576" tIns="71718" rIns="107576" bIns="71718" rtlCol="0" anchor="ctr"/>
          <a:lstStyle/>
          <a:p>
            <a:pPr>
              <a:lnSpc>
                <a:spcPct val="120000"/>
              </a:lnSpc>
            </a:pPr>
            <a:r>
              <a:rPr lang="en-US" sz="988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FinalNaNGuard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971787" y="5597564"/>
            <a:ext cx="143435" cy="143435"/>
          </a:xfrm>
          <a:custGeom>
            <a:avLst/>
            <a:gdLst/>
            <a:ahLst/>
            <a:cxnLst/>
            <a:rect l="l" t="t" r="r" b="b"/>
            <a:pathLst>
              <a:path w="143435" h="143435">
                <a:moveTo>
                  <a:pt x="140802" y="78049"/>
                </a:moveTo>
                <a:cubicBezTo>
                  <a:pt x="144304" y="74547"/>
                  <a:pt x="144304" y="68860"/>
                  <a:pt x="140802" y="65358"/>
                </a:cubicBezTo>
                <a:lnTo>
                  <a:pt x="95978" y="20535"/>
                </a:lnTo>
                <a:cubicBezTo>
                  <a:pt x="92477" y="17033"/>
                  <a:pt x="86790" y="17033"/>
                  <a:pt x="83288" y="20535"/>
                </a:cubicBezTo>
                <a:cubicBezTo>
                  <a:pt x="79786" y="24037"/>
                  <a:pt x="79786" y="29724"/>
                  <a:pt x="83288" y="33225"/>
                </a:cubicBezTo>
                <a:lnTo>
                  <a:pt x="112815" y="62753"/>
                </a:lnTo>
                <a:lnTo>
                  <a:pt x="8965" y="62753"/>
                </a:lnTo>
                <a:cubicBezTo>
                  <a:pt x="4006" y="62753"/>
                  <a:pt x="0" y="66759"/>
                  <a:pt x="0" y="71718"/>
                </a:cubicBezTo>
                <a:cubicBezTo>
                  <a:pt x="0" y="76676"/>
                  <a:pt x="4006" y="80682"/>
                  <a:pt x="8965" y="80682"/>
                </a:cubicBezTo>
                <a:lnTo>
                  <a:pt x="112815" y="80682"/>
                </a:lnTo>
                <a:lnTo>
                  <a:pt x="83288" y="110210"/>
                </a:lnTo>
                <a:cubicBezTo>
                  <a:pt x="79786" y="113712"/>
                  <a:pt x="79786" y="119399"/>
                  <a:pt x="83288" y="122901"/>
                </a:cubicBezTo>
                <a:cubicBezTo>
                  <a:pt x="86790" y="126402"/>
                  <a:pt x="92477" y="126402"/>
                  <a:pt x="95978" y="122901"/>
                </a:cubicBezTo>
                <a:lnTo>
                  <a:pt x="140802" y="78077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2240728" y="5507917"/>
            <a:ext cx="1416424" cy="322729"/>
          </a:xfrm>
          <a:custGeom>
            <a:avLst/>
            <a:gdLst/>
            <a:ahLst/>
            <a:cxnLst/>
            <a:rect l="l" t="t" r="r" b="b"/>
            <a:pathLst>
              <a:path w="1416424" h="322729">
                <a:moveTo>
                  <a:pt x="35858" y="0"/>
                </a:moveTo>
                <a:lnTo>
                  <a:pt x="1380565" y="0"/>
                </a:lnTo>
                <a:cubicBezTo>
                  <a:pt x="1400369" y="0"/>
                  <a:pt x="1416424" y="16054"/>
                  <a:pt x="1416424" y="35858"/>
                </a:cubicBezTo>
                <a:lnTo>
                  <a:pt x="1416424" y="286871"/>
                </a:lnTo>
                <a:cubicBezTo>
                  <a:pt x="1416424" y="306662"/>
                  <a:pt x="1400356" y="322729"/>
                  <a:pt x="1380565" y="322729"/>
                </a:cubicBezTo>
                <a:lnTo>
                  <a:pt x="35858" y="322729"/>
                </a:lnTo>
                <a:cubicBezTo>
                  <a:pt x="16054" y="322729"/>
                  <a:pt x="0" y="306675"/>
                  <a:pt x="0" y="286871"/>
                </a:cubicBezTo>
                <a:lnTo>
                  <a:pt x="0" y="35858"/>
                </a:lnTo>
                <a:cubicBezTo>
                  <a:pt x="0" y="16068"/>
                  <a:pt x="16068" y="0"/>
                  <a:pt x="35858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2240728" y="5507917"/>
            <a:ext cx="1479176" cy="322729"/>
          </a:xfrm>
          <a:prstGeom prst="rect">
            <a:avLst/>
          </a:prstGeom>
          <a:noFill/>
          <a:ln/>
        </p:spPr>
        <p:txBody>
          <a:bodyPr wrap="square" lIns="107576" tIns="71718" rIns="107576" bIns="71718" rtlCol="0" anchor="ctr"/>
          <a:lstStyle/>
          <a:p>
            <a:pPr>
              <a:lnSpc>
                <a:spcPct val="120000"/>
              </a:lnSpc>
            </a:pPr>
            <a:r>
              <a:rPr lang="en-US" sz="988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(X_train, X_test)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171304" y="3123304"/>
            <a:ext cx="5654936" cy="1997336"/>
          </a:xfrm>
          <a:custGeom>
            <a:avLst/>
            <a:gdLst/>
            <a:ahLst/>
            <a:cxnLst/>
            <a:rect l="l" t="t" r="r" b="b"/>
            <a:pathLst>
              <a:path w="5654936" h="1997336">
                <a:moveTo>
                  <a:pt x="71724" y="0"/>
                </a:moveTo>
                <a:lnTo>
                  <a:pt x="5583212" y="0"/>
                </a:lnTo>
                <a:cubicBezTo>
                  <a:pt x="5622824" y="0"/>
                  <a:pt x="5654936" y="32112"/>
                  <a:pt x="5654936" y="71724"/>
                </a:cubicBezTo>
                <a:lnTo>
                  <a:pt x="5654936" y="1925612"/>
                </a:lnTo>
                <a:cubicBezTo>
                  <a:pt x="5654936" y="1965224"/>
                  <a:pt x="5622824" y="1997336"/>
                  <a:pt x="5583212" y="1997336"/>
                </a:cubicBezTo>
                <a:lnTo>
                  <a:pt x="71724" y="1997336"/>
                </a:lnTo>
                <a:cubicBezTo>
                  <a:pt x="32112" y="1997336"/>
                  <a:pt x="0" y="1965224"/>
                  <a:pt x="0" y="1925612"/>
                </a:cubicBezTo>
                <a:lnTo>
                  <a:pt x="0" y="71724"/>
                </a:lnTo>
                <a:cubicBezTo>
                  <a:pt x="0" y="32139"/>
                  <a:pt x="32139" y="0"/>
                  <a:pt x="71724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6318325" y="3306184"/>
            <a:ext cx="224118" cy="179294"/>
          </a:xfrm>
          <a:custGeom>
            <a:avLst/>
            <a:gdLst/>
            <a:ahLst/>
            <a:cxnLst/>
            <a:rect l="l" t="t" r="r" b="b"/>
            <a:pathLst>
              <a:path w="224118" h="179294">
                <a:moveTo>
                  <a:pt x="134471" y="11206"/>
                </a:moveTo>
                <a:lnTo>
                  <a:pt x="179294" y="11206"/>
                </a:lnTo>
                <a:cubicBezTo>
                  <a:pt x="185492" y="11206"/>
                  <a:pt x="190500" y="16214"/>
                  <a:pt x="190500" y="22412"/>
                </a:cubicBezTo>
                <a:cubicBezTo>
                  <a:pt x="190500" y="28610"/>
                  <a:pt x="185492" y="33618"/>
                  <a:pt x="179294" y="33618"/>
                </a:cubicBezTo>
                <a:lnTo>
                  <a:pt x="139513" y="33618"/>
                </a:lnTo>
                <a:cubicBezTo>
                  <a:pt x="137692" y="42652"/>
                  <a:pt x="131494" y="50111"/>
                  <a:pt x="123265" y="53683"/>
                </a:cubicBezTo>
                <a:lnTo>
                  <a:pt x="123265" y="156882"/>
                </a:lnTo>
                <a:lnTo>
                  <a:pt x="179294" y="156882"/>
                </a:lnTo>
                <a:cubicBezTo>
                  <a:pt x="185492" y="156882"/>
                  <a:pt x="190500" y="161890"/>
                  <a:pt x="190500" y="168088"/>
                </a:cubicBezTo>
                <a:cubicBezTo>
                  <a:pt x="190500" y="174286"/>
                  <a:pt x="185492" y="179294"/>
                  <a:pt x="179294" y="179294"/>
                </a:cubicBezTo>
                <a:lnTo>
                  <a:pt x="44824" y="179294"/>
                </a:lnTo>
                <a:cubicBezTo>
                  <a:pt x="38625" y="179294"/>
                  <a:pt x="33618" y="174286"/>
                  <a:pt x="33618" y="168088"/>
                </a:cubicBezTo>
                <a:cubicBezTo>
                  <a:pt x="33618" y="161890"/>
                  <a:pt x="38625" y="156882"/>
                  <a:pt x="44824" y="156882"/>
                </a:cubicBezTo>
                <a:lnTo>
                  <a:pt x="100853" y="156882"/>
                </a:lnTo>
                <a:lnTo>
                  <a:pt x="100853" y="53683"/>
                </a:lnTo>
                <a:cubicBezTo>
                  <a:pt x="92624" y="50076"/>
                  <a:pt x="86425" y="42617"/>
                  <a:pt x="84604" y="33618"/>
                </a:cubicBezTo>
                <a:lnTo>
                  <a:pt x="44824" y="33618"/>
                </a:lnTo>
                <a:cubicBezTo>
                  <a:pt x="38625" y="33618"/>
                  <a:pt x="33618" y="28610"/>
                  <a:pt x="33618" y="22412"/>
                </a:cubicBezTo>
                <a:cubicBezTo>
                  <a:pt x="33618" y="16214"/>
                  <a:pt x="38625" y="11206"/>
                  <a:pt x="44824" y="11206"/>
                </a:cubicBezTo>
                <a:lnTo>
                  <a:pt x="89647" y="11206"/>
                </a:lnTo>
                <a:cubicBezTo>
                  <a:pt x="94760" y="4412"/>
                  <a:pt x="102884" y="0"/>
                  <a:pt x="112059" y="0"/>
                </a:cubicBezTo>
                <a:cubicBezTo>
                  <a:pt x="121234" y="0"/>
                  <a:pt x="129358" y="4412"/>
                  <a:pt x="134471" y="11206"/>
                </a:cubicBezTo>
                <a:close/>
                <a:moveTo>
                  <a:pt x="153941" y="112059"/>
                </a:moveTo>
                <a:lnTo>
                  <a:pt x="204647" y="112059"/>
                </a:lnTo>
                <a:lnTo>
                  <a:pt x="179294" y="68566"/>
                </a:lnTo>
                <a:lnTo>
                  <a:pt x="153941" y="112059"/>
                </a:lnTo>
                <a:close/>
                <a:moveTo>
                  <a:pt x="179294" y="145676"/>
                </a:moveTo>
                <a:cubicBezTo>
                  <a:pt x="157268" y="145676"/>
                  <a:pt x="138953" y="133770"/>
                  <a:pt x="135171" y="118047"/>
                </a:cubicBezTo>
                <a:cubicBezTo>
                  <a:pt x="134260" y="114195"/>
                  <a:pt x="135521" y="110238"/>
                  <a:pt x="137517" y="106806"/>
                </a:cubicBezTo>
                <a:lnTo>
                  <a:pt x="170855" y="49656"/>
                </a:lnTo>
                <a:cubicBezTo>
                  <a:pt x="172606" y="46644"/>
                  <a:pt x="175827" y="44824"/>
                  <a:pt x="179294" y="44824"/>
                </a:cubicBezTo>
                <a:cubicBezTo>
                  <a:pt x="182761" y="44824"/>
                  <a:pt x="185983" y="46680"/>
                  <a:pt x="187734" y="49656"/>
                </a:cubicBezTo>
                <a:lnTo>
                  <a:pt x="221071" y="106806"/>
                </a:lnTo>
                <a:cubicBezTo>
                  <a:pt x="223067" y="110238"/>
                  <a:pt x="224328" y="114195"/>
                  <a:pt x="223417" y="118047"/>
                </a:cubicBezTo>
                <a:cubicBezTo>
                  <a:pt x="219635" y="133735"/>
                  <a:pt x="201321" y="145676"/>
                  <a:pt x="179294" y="145676"/>
                </a:cubicBezTo>
                <a:close/>
                <a:moveTo>
                  <a:pt x="44403" y="68566"/>
                </a:moveTo>
                <a:lnTo>
                  <a:pt x="19050" y="112059"/>
                </a:lnTo>
                <a:lnTo>
                  <a:pt x="69792" y="112059"/>
                </a:lnTo>
                <a:lnTo>
                  <a:pt x="44403" y="68566"/>
                </a:lnTo>
                <a:close/>
                <a:moveTo>
                  <a:pt x="315" y="118047"/>
                </a:moveTo>
                <a:cubicBezTo>
                  <a:pt x="-595" y="114195"/>
                  <a:pt x="665" y="110238"/>
                  <a:pt x="2661" y="106806"/>
                </a:cubicBezTo>
                <a:lnTo>
                  <a:pt x="35999" y="49656"/>
                </a:lnTo>
                <a:cubicBezTo>
                  <a:pt x="37750" y="46644"/>
                  <a:pt x="40972" y="44824"/>
                  <a:pt x="44438" y="44824"/>
                </a:cubicBezTo>
                <a:cubicBezTo>
                  <a:pt x="47905" y="44824"/>
                  <a:pt x="51127" y="46680"/>
                  <a:pt x="52878" y="49656"/>
                </a:cubicBezTo>
                <a:lnTo>
                  <a:pt x="86215" y="106806"/>
                </a:lnTo>
                <a:cubicBezTo>
                  <a:pt x="88211" y="110238"/>
                  <a:pt x="89472" y="114195"/>
                  <a:pt x="88561" y="118047"/>
                </a:cubicBezTo>
                <a:cubicBezTo>
                  <a:pt x="84780" y="133735"/>
                  <a:pt x="66465" y="145676"/>
                  <a:pt x="44438" y="145676"/>
                </a:cubicBezTo>
                <a:cubicBezTo>
                  <a:pt x="22412" y="145676"/>
                  <a:pt x="4097" y="133770"/>
                  <a:pt x="315" y="118047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6542442" y="3270325"/>
            <a:ext cx="5226424" cy="25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Scaling Strategy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18325" y="4026946"/>
            <a:ext cx="5360894" cy="7172"/>
          </a:xfrm>
          <a:custGeom>
            <a:avLst/>
            <a:gdLst/>
            <a:ahLst/>
            <a:cxnLst/>
            <a:rect l="l" t="t" r="r" b="b"/>
            <a:pathLst>
              <a:path w="5360894" h="7172">
                <a:moveTo>
                  <a:pt x="0" y="0"/>
                </a:moveTo>
                <a:lnTo>
                  <a:pt x="5360894" y="0"/>
                </a:lnTo>
                <a:lnTo>
                  <a:pt x="5360894" y="7172"/>
                </a:lnTo>
                <a:lnTo>
                  <a:pt x="0" y="7172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6318325" y="3718560"/>
            <a:ext cx="1039906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Power columns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0769638" y="3700631"/>
            <a:ext cx="914400" cy="251012"/>
          </a:xfrm>
          <a:custGeom>
            <a:avLst/>
            <a:gdLst/>
            <a:ahLst/>
            <a:cxnLst/>
            <a:rect l="l" t="t" r="r" b="b"/>
            <a:pathLst>
              <a:path w="914400" h="251012">
                <a:moveTo>
                  <a:pt x="35860" y="0"/>
                </a:moveTo>
                <a:lnTo>
                  <a:pt x="878540" y="0"/>
                </a:lnTo>
                <a:cubicBezTo>
                  <a:pt x="898345" y="0"/>
                  <a:pt x="914400" y="16055"/>
                  <a:pt x="914400" y="35860"/>
                </a:cubicBezTo>
                <a:lnTo>
                  <a:pt x="914400" y="215152"/>
                </a:lnTo>
                <a:cubicBezTo>
                  <a:pt x="914400" y="234957"/>
                  <a:pt x="898345" y="251012"/>
                  <a:pt x="878540" y="251012"/>
                </a:cubicBezTo>
                <a:lnTo>
                  <a:pt x="35860" y="251012"/>
                </a:lnTo>
                <a:cubicBezTo>
                  <a:pt x="16068" y="251012"/>
                  <a:pt x="0" y="234944"/>
                  <a:pt x="0" y="215152"/>
                </a:cubicBezTo>
                <a:lnTo>
                  <a:pt x="0" y="35860"/>
                </a:lnTo>
                <a:cubicBezTo>
                  <a:pt x="0" y="16068"/>
                  <a:pt x="16068" y="0"/>
                  <a:pt x="3586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10769638" y="3700631"/>
            <a:ext cx="977153" cy="251012"/>
          </a:xfrm>
          <a:prstGeom prst="rect">
            <a:avLst/>
          </a:prstGeom>
          <a:noFill/>
          <a:ln/>
        </p:spPr>
        <p:txBody>
          <a:bodyPr wrap="square" lIns="71718" tIns="35859" rIns="71718" bIns="35859" rtlCol="0" anchor="ctr"/>
          <a:lstStyle/>
          <a:p>
            <a:pPr>
              <a:lnSpc>
                <a:spcPct val="120000"/>
              </a:lnSpc>
            </a:pPr>
            <a:r>
              <a:rPr lang="en-US" sz="988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MinMaxScaler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18325" y="4500283"/>
            <a:ext cx="5360894" cy="7172"/>
          </a:xfrm>
          <a:custGeom>
            <a:avLst/>
            <a:gdLst/>
            <a:ahLst/>
            <a:cxnLst/>
            <a:rect l="l" t="t" r="r" b="b"/>
            <a:pathLst>
              <a:path w="5360894" h="7172">
                <a:moveTo>
                  <a:pt x="0" y="0"/>
                </a:moveTo>
                <a:lnTo>
                  <a:pt x="5360894" y="0"/>
                </a:lnTo>
                <a:lnTo>
                  <a:pt x="5360894" y="7172"/>
                </a:lnTo>
                <a:lnTo>
                  <a:pt x="0" y="7172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6318325" y="4191897"/>
            <a:ext cx="1102659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Voltage columns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0714393" y="4173968"/>
            <a:ext cx="968188" cy="251012"/>
          </a:xfrm>
          <a:custGeom>
            <a:avLst/>
            <a:gdLst/>
            <a:ahLst/>
            <a:cxnLst/>
            <a:rect l="l" t="t" r="r" b="b"/>
            <a:pathLst>
              <a:path w="968188" h="251012">
                <a:moveTo>
                  <a:pt x="35860" y="0"/>
                </a:moveTo>
                <a:lnTo>
                  <a:pt x="932329" y="0"/>
                </a:lnTo>
                <a:cubicBezTo>
                  <a:pt x="952133" y="0"/>
                  <a:pt x="968188" y="16055"/>
                  <a:pt x="968188" y="35860"/>
                </a:cubicBezTo>
                <a:lnTo>
                  <a:pt x="968188" y="215152"/>
                </a:lnTo>
                <a:cubicBezTo>
                  <a:pt x="968188" y="234957"/>
                  <a:pt x="952133" y="251012"/>
                  <a:pt x="932329" y="251012"/>
                </a:cubicBezTo>
                <a:lnTo>
                  <a:pt x="35860" y="251012"/>
                </a:lnTo>
                <a:cubicBezTo>
                  <a:pt x="16068" y="251012"/>
                  <a:pt x="0" y="234944"/>
                  <a:pt x="0" y="215152"/>
                </a:cubicBezTo>
                <a:lnTo>
                  <a:pt x="0" y="35860"/>
                </a:lnTo>
                <a:cubicBezTo>
                  <a:pt x="0" y="16068"/>
                  <a:pt x="16068" y="0"/>
                  <a:pt x="3586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10714393" y="4173968"/>
            <a:ext cx="1030941" cy="251012"/>
          </a:xfrm>
          <a:prstGeom prst="rect">
            <a:avLst/>
          </a:prstGeom>
          <a:noFill/>
          <a:ln/>
        </p:spPr>
        <p:txBody>
          <a:bodyPr wrap="square" lIns="71718" tIns="35859" rIns="71718" bIns="35859" rtlCol="0" anchor="ctr"/>
          <a:lstStyle/>
          <a:p>
            <a:pPr>
              <a:lnSpc>
                <a:spcPct val="120000"/>
              </a:lnSpc>
            </a:pPr>
            <a:r>
              <a:rPr lang="en-US" sz="988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StandardScaler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6318325" y="4665234"/>
            <a:ext cx="1057835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Cyclical &amp; other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10815357" y="4647305"/>
            <a:ext cx="869576" cy="251012"/>
          </a:xfrm>
          <a:custGeom>
            <a:avLst/>
            <a:gdLst/>
            <a:ahLst/>
            <a:cxnLst/>
            <a:rect l="l" t="t" r="r" b="b"/>
            <a:pathLst>
              <a:path w="869576" h="251012">
                <a:moveTo>
                  <a:pt x="35860" y="0"/>
                </a:moveTo>
                <a:lnTo>
                  <a:pt x="833717" y="0"/>
                </a:lnTo>
                <a:cubicBezTo>
                  <a:pt x="853522" y="0"/>
                  <a:pt x="869576" y="16055"/>
                  <a:pt x="869576" y="35860"/>
                </a:cubicBezTo>
                <a:lnTo>
                  <a:pt x="869576" y="215152"/>
                </a:lnTo>
                <a:cubicBezTo>
                  <a:pt x="869576" y="234957"/>
                  <a:pt x="853522" y="251012"/>
                  <a:pt x="833717" y="251012"/>
                </a:cubicBezTo>
                <a:lnTo>
                  <a:pt x="35860" y="251012"/>
                </a:lnTo>
                <a:cubicBezTo>
                  <a:pt x="16068" y="251012"/>
                  <a:pt x="0" y="234944"/>
                  <a:pt x="0" y="215152"/>
                </a:cubicBezTo>
                <a:lnTo>
                  <a:pt x="0" y="35860"/>
                </a:lnTo>
                <a:cubicBezTo>
                  <a:pt x="0" y="16068"/>
                  <a:pt x="16068" y="0"/>
                  <a:pt x="3586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10815357" y="4647305"/>
            <a:ext cx="932329" cy="251012"/>
          </a:xfrm>
          <a:prstGeom prst="rect">
            <a:avLst/>
          </a:prstGeom>
          <a:noFill/>
          <a:ln/>
        </p:spPr>
        <p:txBody>
          <a:bodyPr wrap="square" lIns="71718" tIns="35859" rIns="71718" bIns="35859" rtlCol="0" anchor="ctr"/>
          <a:lstStyle/>
          <a:p>
            <a:pPr>
              <a:lnSpc>
                <a:spcPct val="120000"/>
              </a:lnSpc>
            </a:pPr>
            <a:r>
              <a:rPr lang="en-US" sz="988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Pass-through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6171304" y="5267661"/>
            <a:ext cx="5654936" cy="1584960"/>
          </a:xfrm>
          <a:custGeom>
            <a:avLst/>
            <a:gdLst/>
            <a:ahLst/>
            <a:cxnLst/>
            <a:rect l="l" t="t" r="r" b="b"/>
            <a:pathLst>
              <a:path w="5654936" h="1584960">
                <a:moveTo>
                  <a:pt x="71719" y="0"/>
                </a:moveTo>
                <a:lnTo>
                  <a:pt x="5583217" y="0"/>
                </a:lnTo>
                <a:cubicBezTo>
                  <a:pt x="5622800" y="0"/>
                  <a:pt x="5654936" y="32136"/>
                  <a:pt x="5654936" y="71719"/>
                </a:cubicBezTo>
                <a:lnTo>
                  <a:pt x="5654936" y="1513241"/>
                </a:lnTo>
                <a:cubicBezTo>
                  <a:pt x="5654936" y="1552850"/>
                  <a:pt x="5622827" y="1584960"/>
                  <a:pt x="5583217" y="1584960"/>
                </a:cubicBezTo>
                <a:lnTo>
                  <a:pt x="71719" y="1584960"/>
                </a:lnTo>
                <a:cubicBezTo>
                  <a:pt x="32136" y="1584960"/>
                  <a:pt x="0" y="1552824"/>
                  <a:pt x="0" y="1513241"/>
                </a:cubicBezTo>
                <a:lnTo>
                  <a:pt x="0" y="71719"/>
                </a:lnTo>
                <a:cubicBezTo>
                  <a:pt x="0" y="32136"/>
                  <a:pt x="32136" y="0"/>
                  <a:pt x="71719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6340736" y="5459506"/>
            <a:ext cx="161365" cy="161365"/>
          </a:xfrm>
          <a:custGeom>
            <a:avLst/>
            <a:gdLst/>
            <a:ahLst/>
            <a:cxnLst/>
            <a:rect l="l" t="t" r="r" b="b"/>
            <a:pathLst>
              <a:path w="161365" h="161365">
                <a:moveTo>
                  <a:pt x="80682" y="0"/>
                </a:moveTo>
                <a:cubicBezTo>
                  <a:pt x="82132" y="0"/>
                  <a:pt x="83582" y="315"/>
                  <a:pt x="84906" y="914"/>
                </a:cubicBezTo>
                <a:lnTo>
                  <a:pt x="144283" y="26096"/>
                </a:lnTo>
                <a:cubicBezTo>
                  <a:pt x="151216" y="29027"/>
                  <a:pt x="156385" y="35866"/>
                  <a:pt x="156354" y="44123"/>
                </a:cubicBezTo>
                <a:cubicBezTo>
                  <a:pt x="156196" y="75388"/>
                  <a:pt x="143337" y="132590"/>
                  <a:pt x="89034" y="158591"/>
                </a:cubicBezTo>
                <a:cubicBezTo>
                  <a:pt x="83771" y="161113"/>
                  <a:pt x="77657" y="161113"/>
                  <a:pt x="72394" y="158591"/>
                </a:cubicBezTo>
                <a:cubicBezTo>
                  <a:pt x="18059" y="132590"/>
                  <a:pt x="5232" y="75388"/>
                  <a:pt x="5074" y="44123"/>
                </a:cubicBezTo>
                <a:cubicBezTo>
                  <a:pt x="5043" y="35866"/>
                  <a:pt x="10211" y="29027"/>
                  <a:pt x="17145" y="26096"/>
                </a:cubicBezTo>
                <a:lnTo>
                  <a:pt x="76491" y="914"/>
                </a:lnTo>
                <a:cubicBezTo>
                  <a:pt x="77814" y="315"/>
                  <a:pt x="79233" y="0"/>
                  <a:pt x="80682" y="0"/>
                </a:cubicBezTo>
                <a:close/>
                <a:moveTo>
                  <a:pt x="80682" y="21053"/>
                </a:moveTo>
                <a:lnTo>
                  <a:pt x="80682" y="140217"/>
                </a:lnTo>
                <a:cubicBezTo>
                  <a:pt x="124175" y="119164"/>
                  <a:pt x="135868" y="72520"/>
                  <a:pt x="136151" y="44596"/>
                </a:cubicBezTo>
                <a:lnTo>
                  <a:pt x="80682" y="21085"/>
                </a:lnTo>
                <a:lnTo>
                  <a:pt x="80682" y="21085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6524513" y="5414682"/>
            <a:ext cx="5235388" cy="251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Anti-Leakage Measures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6336254" y="5773271"/>
            <a:ext cx="143435" cy="143435"/>
          </a:xfrm>
          <a:custGeom>
            <a:avLst/>
            <a:gdLst/>
            <a:ahLst/>
            <a:cxnLst/>
            <a:rect l="l" t="t" r="r" b="b"/>
            <a:pathLst>
              <a:path w="143435" h="143435">
                <a:moveTo>
                  <a:pt x="71718" y="143435"/>
                </a:moveTo>
                <a:cubicBezTo>
                  <a:pt x="111300" y="143435"/>
                  <a:pt x="143435" y="111300"/>
                  <a:pt x="143435" y="71718"/>
                </a:cubicBezTo>
                <a:cubicBezTo>
                  <a:pt x="143435" y="32136"/>
                  <a:pt x="111300" y="0"/>
                  <a:pt x="71718" y="0"/>
                </a:cubicBezTo>
                <a:cubicBezTo>
                  <a:pt x="32136" y="0"/>
                  <a:pt x="0" y="32136"/>
                  <a:pt x="0" y="71718"/>
                </a:cubicBezTo>
                <a:cubicBezTo>
                  <a:pt x="0" y="111300"/>
                  <a:pt x="32136" y="143435"/>
                  <a:pt x="71718" y="143435"/>
                </a:cubicBezTo>
                <a:close/>
                <a:moveTo>
                  <a:pt x="95362" y="59587"/>
                </a:moveTo>
                <a:lnTo>
                  <a:pt x="72950" y="95446"/>
                </a:lnTo>
                <a:cubicBezTo>
                  <a:pt x="71774" y="97323"/>
                  <a:pt x="69757" y="98500"/>
                  <a:pt x="67543" y="98612"/>
                </a:cubicBezTo>
                <a:cubicBezTo>
                  <a:pt x="65330" y="98724"/>
                  <a:pt x="63201" y="97715"/>
                  <a:pt x="61884" y="95922"/>
                </a:cubicBezTo>
                <a:lnTo>
                  <a:pt x="48437" y="77993"/>
                </a:lnTo>
                <a:cubicBezTo>
                  <a:pt x="46196" y="75023"/>
                  <a:pt x="46813" y="70821"/>
                  <a:pt x="49782" y="68580"/>
                </a:cubicBezTo>
                <a:cubicBezTo>
                  <a:pt x="52752" y="66339"/>
                  <a:pt x="56954" y="66955"/>
                  <a:pt x="59195" y="69925"/>
                </a:cubicBezTo>
                <a:lnTo>
                  <a:pt x="66759" y="80010"/>
                </a:lnTo>
                <a:lnTo>
                  <a:pt x="83960" y="52472"/>
                </a:lnTo>
                <a:cubicBezTo>
                  <a:pt x="85921" y="49334"/>
                  <a:pt x="90067" y="48353"/>
                  <a:pt x="93233" y="50342"/>
                </a:cubicBezTo>
                <a:cubicBezTo>
                  <a:pt x="96399" y="52331"/>
                  <a:pt x="97351" y="56450"/>
                  <a:pt x="95362" y="5961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6569336" y="5737412"/>
            <a:ext cx="2474259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80/20 chronological split (no shuffling)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6336254" y="6024282"/>
            <a:ext cx="143435" cy="143435"/>
          </a:xfrm>
          <a:custGeom>
            <a:avLst/>
            <a:gdLst/>
            <a:ahLst/>
            <a:cxnLst/>
            <a:rect l="l" t="t" r="r" b="b"/>
            <a:pathLst>
              <a:path w="143435" h="143435">
                <a:moveTo>
                  <a:pt x="71718" y="143435"/>
                </a:moveTo>
                <a:cubicBezTo>
                  <a:pt x="111300" y="143435"/>
                  <a:pt x="143435" y="111300"/>
                  <a:pt x="143435" y="71718"/>
                </a:cubicBezTo>
                <a:cubicBezTo>
                  <a:pt x="143435" y="32136"/>
                  <a:pt x="111300" y="0"/>
                  <a:pt x="71718" y="0"/>
                </a:cubicBezTo>
                <a:cubicBezTo>
                  <a:pt x="32136" y="0"/>
                  <a:pt x="0" y="32136"/>
                  <a:pt x="0" y="71718"/>
                </a:cubicBezTo>
                <a:cubicBezTo>
                  <a:pt x="0" y="111300"/>
                  <a:pt x="32136" y="143435"/>
                  <a:pt x="71718" y="143435"/>
                </a:cubicBezTo>
                <a:close/>
                <a:moveTo>
                  <a:pt x="95362" y="59587"/>
                </a:moveTo>
                <a:lnTo>
                  <a:pt x="72950" y="95446"/>
                </a:lnTo>
                <a:cubicBezTo>
                  <a:pt x="71774" y="97323"/>
                  <a:pt x="69757" y="98500"/>
                  <a:pt x="67543" y="98612"/>
                </a:cubicBezTo>
                <a:cubicBezTo>
                  <a:pt x="65330" y="98724"/>
                  <a:pt x="63201" y="97715"/>
                  <a:pt x="61884" y="95922"/>
                </a:cubicBezTo>
                <a:lnTo>
                  <a:pt x="48437" y="77993"/>
                </a:lnTo>
                <a:cubicBezTo>
                  <a:pt x="46196" y="75023"/>
                  <a:pt x="46813" y="70821"/>
                  <a:pt x="49782" y="68580"/>
                </a:cubicBezTo>
                <a:cubicBezTo>
                  <a:pt x="52752" y="66339"/>
                  <a:pt x="56954" y="66955"/>
                  <a:pt x="59195" y="69925"/>
                </a:cubicBezTo>
                <a:lnTo>
                  <a:pt x="66759" y="80010"/>
                </a:lnTo>
                <a:lnTo>
                  <a:pt x="83960" y="52472"/>
                </a:lnTo>
                <a:cubicBezTo>
                  <a:pt x="85921" y="49334"/>
                  <a:pt x="90067" y="48353"/>
                  <a:pt x="93233" y="50342"/>
                </a:cubicBezTo>
                <a:cubicBezTo>
                  <a:pt x="96399" y="52331"/>
                  <a:pt x="97351" y="56450"/>
                  <a:pt x="95362" y="5961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6569336" y="5988424"/>
            <a:ext cx="1703294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fit on training only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6336254" y="6275294"/>
            <a:ext cx="143435" cy="143435"/>
          </a:xfrm>
          <a:custGeom>
            <a:avLst/>
            <a:gdLst/>
            <a:ahLst/>
            <a:cxnLst/>
            <a:rect l="l" t="t" r="r" b="b"/>
            <a:pathLst>
              <a:path w="143435" h="143435">
                <a:moveTo>
                  <a:pt x="71718" y="143435"/>
                </a:moveTo>
                <a:cubicBezTo>
                  <a:pt x="111300" y="143435"/>
                  <a:pt x="143435" y="111300"/>
                  <a:pt x="143435" y="71718"/>
                </a:cubicBezTo>
                <a:cubicBezTo>
                  <a:pt x="143435" y="32136"/>
                  <a:pt x="111300" y="0"/>
                  <a:pt x="71718" y="0"/>
                </a:cubicBezTo>
                <a:cubicBezTo>
                  <a:pt x="32136" y="0"/>
                  <a:pt x="0" y="32136"/>
                  <a:pt x="0" y="71718"/>
                </a:cubicBezTo>
                <a:cubicBezTo>
                  <a:pt x="0" y="111300"/>
                  <a:pt x="32136" y="143435"/>
                  <a:pt x="71718" y="143435"/>
                </a:cubicBezTo>
                <a:close/>
                <a:moveTo>
                  <a:pt x="95362" y="59587"/>
                </a:moveTo>
                <a:lnTo>
                  <a:pt x="72950" y="95446"/>
                </a:lnTo>
                <a:cubicBezTo>
                  <a:pt x="71774" y="97323"/>
                  <a:pt x="69757" y="98500"/>
                  <a:pt x="67543" y="98612"/>
                </a:cubicBezTo>
                <a:cubicBezTo>
                  <a:pt x="65330" y="98724"/>
                  <a:pt x="63201" y="97715"/>
                  <a:pt x="61884" y="95922"/>
                </a:cubicBezTo>
                <a:lnTo>
                  <a:pt x="48437" y="77993"/>
                </a:lnTo>
                <a:cubicBezTo>
                  <a:pt x="46196" y="75023"/>
                  <a:pt x="46813" y="70821"/>
                  <a:pt x="49782" y="68580"/>
                </a:cubicBezTo>
                <a:cubicBezTo>
                  <a:pt x="52752" y="66339"/>
                  <a:pt x="56954" y="66955"/>
                  <a:pt x="59195" y="69925"/>
                </a:cubicBezTo>
                <a:lnTo>
                  <a:pt x="66759" y="80010"/>
                </a:lnTo>
                <a:lnTo>
                  <a:pt x="83960" y="52472"/>
                </a:lnTo>
                <a:cubicBezTo>
                  <a:pt x="85921" y="49334"/>
                  <a:pt x="90067" y="48353"/>
                  <a:pt x="93233" y="50342"/>
                </a:cubicBezTo>
                <a:cubicBezTo>
                  <a:pt x="96399" y="52331"/>
                  <a:pt x="97351" y="56450"/>
                  <a:pt x="95362" y="5961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6569336" y="6239435"/>
            <a:ext cx="1613647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 data: transform only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6336254" y="6526306"/>
            <a:ext cx="143435" cy="143435"/>
          </a:xfrm>
          <a:custGeom>
            <a:avLst/>
            <a:gdLst/>
            <a:ahLst/>
            <a:cxnLst/>
            <a:rect l="l" t="t" r="r" b="b"/>
            <a:pathLst>
              <a:path w="143435" h="143435">
                <a:moveTo>
                  <a:pt x="71718" y="143435"/>
                </a:moveTo>
                <a:cubicBezTo>
                  <a:pt x="111300" y="143435"/>
                  <a:pt x="143435" y="111300"/>
                  <a:pt x="143435" y="71718"/>
                </a:cubicBezTo>
                <a:cubicBezTo>
                  <a:pt x="143435" y="32136"/>
                  <a:pt x="111300" y="0"/>
                  <a:pt x="71718" y="0"/>
                </a:cubicBezTo>
                <a:cubicBezTo>
                  <a:pt x="32136" y="0"/>
                  <a:pt x="0" y="32136"/>
                  <a:pt x="0" y="71718"/>
                </a:cubicBezTo>
                <a:cubicBezTo>
                  <a:pt x="0" y="111300"/>
                  <a:pt x="32136" y="143435"/>
                  <a:pt x="71718" y="143435"/>
                </a:cubicBezTo>
                <a:close/>
                <a:moveTo>
                  <a:pt x="95362" y="59587"/>
                </a:moveTo>
                <a:lnTo>
                  <a:pt x="72950" y="95446"/>
                </a:lnTo>
                <a:cubicBezTo>
                  <a:pt x="71774" y="97323"/>
                  <a:pt x="69757" y="98500"/>
                  <a:pt x="67543" y="98612"/>
                </a:cubicBezTo>
                <a:cubicBezTo>
                  <a:pt x="65330" y="98724"/>
                  <a:pt x="63201" y="97715"/>
                  <a:pt x="61884" y="95922"/>
                </a:cubicBezTo>
                <a:lnTo>
                  <a:pt x="48437" y="77993"/>
                </a:lnTo>
                <a:cubicBezTo>
                  <a:pt x="46196" y="75023"/>
                  <a:pt x="46813" y="70821"/>
                  <a:pt x="49782" y="68580"/>
                </a:cubicBezTo>
                <a:cubicBezTo>
                  <a:pt x="52752" y="66339"/>
                  <a:pt x="56954" y="66955"/>
                  <a:pt x="59195" y="69925"/>
                </a:cubicBezTo>
                <a:lnTo>
                  <a:pt x="66759" y="80010"/>
                </a:lnTo>
                <a:lnTo>
                  <a:pt x="83960" y="52472"/>
                </a:lnTo>
                <a:cubicBezTo>
                  <a:pt x="85921" y="49334"/>
                  <a:pt x="90067" y="48353"/>
                  <a:pt x="93233" y="50342"/>
                </a:cubicBezTo>
                <a:cubicBezTo>
                  <a:pt x="96399" y="52331"/>
                  <a:pt x="97351" y="56450"/>
                  <a:pt x="95362" y="5961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6569336" y="6490447"/>
            <a:ext cx="1748118" cy="215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29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Rolling features shifted by 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EXPLORATORY DATA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 &amp; Insights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675" y="1082675"/>
            <a:ext cx="5705475" cy="1689100"/>
          </a:xfrm>
          <a:custGeom>
            <a:avLst/>
            <a:gdLst/>
            <a:ahLst/>
            <a:cxnLst/>
            <a:rect l="l" t="t" r="r" b="b"/>
            <a:pathLst>
              <a:path w="5705475" h="1689100">
                <a:moveTo>
                  <a:pt x="63493" y="0"/>
                </a:moveTo>
                <a:lnTo>
                  <a:pt x="5641982" y="0"/>
                </a:lnTo>
                <a:cubicBezTo>
                  <a:pt x="5677048" y="0"/>
                  <a:pt x="5705475" y="28427"/>
                  <a:pt x="5705475" y="63493"/>
                </a:cubicBezTo>
                <a:lnTo>
                  <a:pt x="5705475" y="1625607"/>
                </a:lnTo>
                <a:cubicBezTo>
                  <a:pt x="5705475" y="1660673"/>
                  <a:pt x="5677048" y="1689100"/>
                  <a:pt x="5641982" y="1689100"/>
                </a:cubicBezTo>
                <a:lnTo>
                  <a:pt x="63493" y="1689100"/>
                </a:lnTo>
                <a:cubicBezTo>
                  <a:pt x="28427" y="1689100"/>
                  <a:pt x="0" y="1660673"/>
                  <a:pt x="0" y="1625607"/>
                </a:cubicBezTo>
                <a:lnTo>
                  <a:pt x="0" y="63493"/>
                </a:lnTo>
                <a:cubicBezTo>
                  <a:pt x="0" y="28450"/>
                  <a:pt x="28450" y="0"/>
                  <a:pt x="63493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70694" y="12446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9287" y="1212850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Series Structure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0850" y="1530350"/>
            <a:ext cx="2674938" cy="635000"/>
          </a:xfrm>
          <a:custGeom>
            <a:avLst/>
            <a:gdLst/>
            <a:ahLst/>
            <a:cxnLst/>
            <a:rect l="l" t="t" r="r" b="b"/>
            <a:pathLst>
              <a:path w="2674938" h="635000">
                <a:moveTo>
                  <a:pt x="31750" y="0"/>
                </a:moveTo>
                <a:lnTo>
                  <a:pt x="2643188" y="0"/>
                </a:lnTo>
                <a:cubicBezTo>
                  <a:pt x="2660711" y="0"/>
                  <a:pt x="2674938" y="14227"/>
                  <a:pt x="2674938" y="31750"/>
                </a:cubicBezTo>
                <a:lnTo>
                  <a:pt x="2674938" y="603250"/>
                </a:lnTo>
                <a:cubicBezTo>
                  <a:pt x="2674938" y="620773"/>
                  <a:pt x="2660711" y="635000"/>
                  <a:pt x="2643188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86569" y="1625600"/>
            <a:ext cx="260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1-min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8319" y="1911350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Granularity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22625" y="1530350"/>
            <a:ext cx="2674938" cy="635000"/>
          </a:xfrm>
          <a:custGeom>
            <a:avLst/>
            <a:gdLst/>
            <a:ahLst/>
            <a:cxnLst/>
            <a:rect l="l" t="t" r="r" b="b"/>
            <a:pathLst>
              <a:path w="2674938" h="635000">
                <a:moveTo>
                  <a:pt x="31750" y="0"/>
                </a:moveTo>
                <a:lnTo>
                  <a:pt x="2643188" y="0"/>
                </a:lnTo>
                <a:cubicBezTo>
                  <a:pt x="2660711" y="0"/>
                  <a:pt x="2674938" y="14227"/>
                  <a:pt x="2674938" y="31750"/>
                </a:cubicBezTo>
                <a:lnTo>
                  <a:pt x="2674938" y="603250"/>
                </a:lnTo>
                <a:cubicBezTo>
                  <a:pt x="2674938" y="620773"/>
                  <a:pt x="2660711" y="635000"/>
                  <a:pt x="2643188" y="635000"/>
                </a:cubicBezTo>
                <a:lnTo>
                  <a:pt x="31750" y="635000"/>
                </a:lnTo>
                <a:cubicBezTo>
                  <a:pt x="14227" y="635000"/>
                  <a:pt x="0" y="620773"/>
                  <a:pt x="0" y="603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58344" y="1625600"/>
            <a:ext cx="260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1.25%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0094" y="1911350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Values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0850" y="2260600"/>
            <a:ext cx="5508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resampled to hourly, daily, and weekly aggregations for visualization. Missing timestamps identified by comparing actual vs. expected full date range.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675" y="2905126"/>
            <a:ext cx="5705475" cy="1657350"/>
          </a:xfrm>
          <a:custGeom>
            <a:avLst/>
            <a:gdLst/>
            <a:ahLst/>
            <a:cxnLst/>
            <a:rect l="l" t="t" r="r" b="b"/>
            <a:pathLst>
              <a:path w="5705475" h="1657350">
                <a:moveTo>
                  <a:pt x="63493" y="0"/>
                </a:moveTo>
                <a:lnTo>
                  <a:pt x="5641982" y="0"/>
                </a:lnTo>
                <a:cubicBezTo>
                  <a:pt x="5677048" y="0"/>
                  <a:pt x="5705475" y="28427"/>
                  <a:pt x="5705475" y="63493"/>
                </a:cubicBezTo>
                <a:lnTo>
                  <a:pt x="5705475" y="1593857"/>
                </a:lnTo>
                <a:cubicBezTo>
                  <a:pt x="5705475" y="1628923"/>
                  <a:pt x="5677048" y="1657350"/>
                  <a:pt x="5641982" y="1657350"/>
                </a:cubicBezTo>
                <a:lnTo>
                  <a:pt x="63493" y="1657350"/>
                </a:lnTo>
                <a:cubicBezTo>
                  <a:pt x="28427" y="1657350"/>
                  <a:pt x="0" y="1628923"/>
                  <a:pt x="0" y="1593857"/>
                </a:cubicBezTo>
                <a:lnTo>
                  <a:pt x="0" y="63493"/>
                </a:lnTo>
                <a:cubicBezTo>
                  <a:pt x="0" y="28450"/>
                  <a:pt x="28450" y="0"/>
                  <a:pt x="63493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70694" y="306705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9922"/>
                </a:moveTo>
                <a:cubicBezTo>
                  <a:pt x="15410" y="9922"/>
                  <a:pt x="19844" y="14356"/>
                  <a:pt x="19844" y="19844"/>
                </a:cubicBez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148828" y="128984"/>
                </a:lnTo>
                <a:cubicBezTo>
                  <a:pt x="154316" y="128984"/>
                  <a:pt x="158750" y="133418"/>
                  <a:pt x="158750" y="138906"/>
                </a:cubicBezTo>
                <a:cubicBezTo>
                  <a:pt x="158750" y="144394"/>
                  <a:pt x="154316" y="148828"/>
                  <a:pt x="148828" y="148828"/>
                </a:cubicBezTo>
                <a:lnTo>
                  <a:pt x="24805" y="148828"/>
                </a:lnTo>
                <a:cubicBezTo>
                  <a:pt x="11100" y="148828"/>
                  <a:pt x="0" y="137728"/>
                  <a:pt x="0" y="124023"/>
                </a:cubicBezTo>
                <a:lnTo>
                  <a:pt x="0" y="19844"/>
                </a:lnTo>
                <a:cubicBezTo>
                  <a:pt x="0" y="14356"/>
                  <a:pt x="4434" y="9922"/>
                  <a:pt x="9922" y="9922"/>
                </a:cubicBezTo>
                <a:close/>
                <a:moveTo>
                  <a:pt x="39688" y="29766"/>
                </a:moveTo>
                <a:cubicBezTo>
                  <a:pt x="39688" y="24278"/>
                  <a:pt x="44121" y="19844"/>
                  <a:pt x="49609" y="19844"/>
                </a:cubicBezTo>
                <a:lnTo>
                  <a:pt x="109141" y="19844"/>
                </a:lnTo>
                <a:cubicBezTo>
                  <a:pt x="114629" y="19844"/>
                  <a:pt x="119062" y="24278"/>
                  <a:pt x="119062" y="29766"/>
                </a:cubicBezTo>
                <a:cubicBezTo>
                  <a:pt x="119062" y="35254"/>
                  <a:pt x="114629" y="39688"/>
                  <a:pt x="109141" y="39688"/>
                </a:cubicBezTo>
                <a:lnTo>
                  <a:pt x="49609" y="39688"/>
                </a:lnTo>
                <a:cubicBezTo>
                  <a:pt x="44121" y="39688"/>
                  <a:pt x="39688" y="35254"/>
                  <a:pt x="39688" y="29766"/>
                </a:cubicBezTo>
                <a:close/>
                <a:moveTo>
                  <a:pt x="49609" y="54570"/>
                </a:moveTo>
                <a:lnTo>
                  <a:pt x="89297" y="54570"/>
                </a:lnTo>
                <a:cubicBezTo>
                  <a:pt x="94785" y="54570"/>
                  <a:pt x="99219" y="59004"/>
                  <a:pt x="99219" y="64492"/>
                </a:cubicBezTo>
                <a:cubicBezTo>
                  <a:pt x="99219" y="69980"/>
                  <a:pt x="94785" y="74414"/>
                  <a:pt x="89297" y="74414"/>
                </a:cubicBezTo>
                <a:lnTo>
                  <a:pt x="49609" y="74414"/>
                </a:lnTo>
                <a:cubicBezTo>
                  <a:pt x="44121" y="74414"/>
                  <a:pt x="39688" y="69980"/>
                  <a:pt x="39688" y="64492"/>
                </a:cubicBezTo>
                <a:cubicBezTo>
                  <a:pt x="39688" y="59004"/>
                  <a:pt x="44121" y="54570"/>
                  <a:pt x="49609" y="54570"/>
                </a:cubicBezTo>
                <a:close/>
                <a:moveTo>
                  <a:pt x="49609" y="89297"/>
                </a:moveTo>
                <a:lnTo>
                  <a:pt x="128984" y="89297"/>
                </a:lnTo>
                <a:cubicBezTo>
                  <a:pt x="134472" y="89297"/>
                  <a:pt x="138906" y="93731"/>
                  <a:pt x="138906" y="99219"/>
                </a:cubicBezTo>
                <a:cubicBezTo>
                  <a:pt x="138906" y="104707"/>
                  <a:pt x="134472" y="109141"/>
                  <a:pt x="128984" y="109141"/>
                </a:cubicBezTo>
                <a:lnTo>
                  <a:pt x="49609" y="109141"/>
                </a:lnTo>
                <a:cubicBezTo>
                  <a:pt x="44121" y="109141"/>
                  <a:pt x="39688" y="104707"/>
                  <a:pt x="39688" y="99219"/>
                </a:cubicBezTo>
                <a:cubicBezTo>
                  <a:pt x="39688" y="93731"/>
                  <a:pt x="44121" y="89297"/>
                  <a:pt x="49609" y="89297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9287" y="3035301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Distribution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0850" y="3352801"/>
            <a:ext cx="5508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Global_active_power</a:t>
            </a: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shows positive skew: many low-consumption periods with fewer extreme peaks.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0850" y="3829051"/>
            <a:ext cx="2674938" cy="603250"/>
          </a:xfrm>
          <a:custGeom>
            <a:avLst/>
            <a:gdLst/>
            <a:ahLst/>
            <a:cxnLst/>
            <a:rect l="l" t="t" r="r" b="b"/>
            <a:pathLst>
              <a:path w="2674938" h="603250">
                <a:moveTo>
                  <a:pt x="31749" y="0"/>
                </a:moveTo>
                <a:lnTo>
                  <a:pt x="2643188" y="0"/>
                </a:lnTo>
                <a:cubicBezTo>
                  <a:pt x="2660723" y="0"/>
                  <a:pt x="2674938" y="14215"/>
                  <a:pt x="2674938" y="31749"/>
                </a:cubicBezTo>
                <a:lnTo>
                  <a:pt x="2674938" y="571501"/>
                </a:lnTo>
                <a:cubicBezTo>
                  <a:pt x="2674938" y="589035"/>
                  <a:pt x="2660723" y="603250"/>
                  <a:pt x="2643188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46100" y="3924301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Skewness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6100" y="4083051"/>
            <a:ext cx="2579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Positive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22625" y="3829051"/>
            <a:ext cx="2674938" cy="603250"/>
          </a:xfrm>
          <a:custGeom>
            <a:avLst/>
            <a:gdLst/>
            <a:ahLst/>
            <a:cxnLst/>
            <a:rect l="l" t="t" r="r" b="b"/>
            <a:pathLst>
              <a:path w="2674938" h="603250">
                <a:moveTo>
                  <a:pt x="31749" y="0"/>
                </a:moveTo>
                <a:lnTo>
                  <a:pt x="2643188" y="0"/>
                </a:lnTo>
                <a:cubicBezTo>
                  <a:pt x="2660723" y="0"/>
                  <a:pt x="2674938" y="14215"/>
                  <a:pt x="2674938" y="31749"/>
                </a:cubicBezTo>
                <a:lnTo>
                  <a:pt x="2674938" y="571501"/>
                </a:lnTo>
                <a:cubicBezTo>
                  <a:pt x="2674938" y="589035"/>
                  <a:pt x="2660723" y="603250"/>
                  <a:pt x="2643188" y="603250"/>
                </a:cubicBezTo>
                <a:lnTo>
                  <a:pt x="31749" y="603250"/>
                </a:lnTo>
                <a:cubicBezTo>
                  <a:pt x="14215" y="603250"/>
                  <a:pt x="0" y="589035"/>
                  <a:pt x="0" y="57150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317875" y="3924301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17875" y="4083051"/>
            <a:ext cx="2579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Right-tail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0675" y="4695726"/>
            <a:ext cx="5705475" cy="1276350"/>
          </a:xfrm>
          <a:custGeom>
            <a:avLst/>
            <a:gdLst/>
            <a:ahLst/>
            <a:cxnLst/>
            <a:rect l="l" t="t" r="r" b="b"/>
            <a:pathLst>
              <a:path w="5705475" h="1276350">
                <a:moveTo>
                  <a:pt x="63498" y="0"/>
                </a:moveTo>
                <a:lnTo>
                  <a:pt x="5641977" y="0"/>
                </a:lnTo>
                <a:cubicBezTo>
                  <a:pt x="5677046" y="0"/>
                  <a:pt x="5705475" y="28429"/>
                  <a:pt x="5705475" y="63498"/>
                </a:cubicBezTo>
                <a:lnTo>
                  <a:pt x="5705475" y="1212852"/>
                </a:lnTo>
                <a:cubicBezTo>
                  <a:pt x="5705475" y="1247921"/>
                  <a:pt x="5677046" y="1276350"/>
                  <a:pt x="5641977" y="1276350"/>
                </a:cubicBezTo>
                <a:lnTo>
                  <a:pt x="63498" y="1276350"/>
                </a:lnTo>
                <a:cubicBezTo>
                  <a:pt x="28429" y="1276350"/>
                  <a:pt x="0" y="1247921"/>
                  <a:pt x="0" y="1212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70694" y="485765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29766"/>
                </a:moveTo>
                <a:cubicBezTo>
                  <a:pt x="19844" y="24278"/>
                  <a:pt x="24278" y="19844"/>
                  <a:pt x="29766" y="19844"/>
                </a:cubicBezTo>
                <a:lnTo>
                  <a:pt x="79375" y="19844"/>
                </a:lnTo>
                <a:cubicBezTo>
                  <a:pt x="84863" y="19844"/>
                  <a:pt x="89297" y="24278"/>
                  <a:pt x="89297" y="29766"/>
                </a:cubicBezTo>
                <a:lnTo>
                  <a:pt x="89297" y="119062"/>
                </a:lnTo>
                <a:lnTo>
                  <a:pt x="119062" y="119062"/>
                </a:lnTo>
                <a:lnTo>
                  <a:pt x="119062" y="79375"/>
                </a:lnTo>
                <a:cubicBezTo>
                  <a:pt x="119062" y="73887"/>
                  <a:pt x="123496" y="69453"/>
                  <a:pt x="128984" y="69453"/>
                </a:cubicBezTo>
                <a:lnTo>
                  <a:pt x="148828" y="69453"/>
                </a:lnTo>
                <a:cubicBezTo>
                  <a:pt x="154316" y="69453"/>
                  <a:pt x="158750" y="73887"/>
                  <a:pt x="158750" y="79375"/>
                </a:cubicBezTo>
                <a:cubicBezTo>
                  <a:pt x="158750" y="84863"/>
                  <a:pt x="154316" y="89297"/>
                  <a:pt x="148828" y="89297"/>
                </a:cubicBezTo>
                <a:lnTo>
                  <a:pt x="138906" y="89297"/>
                </a:lnTo>
                <a:lnTo>
                  <a:pt x="138906" y="128984"/>
                </a:lnTo>
                <a:cubicBezTo>
                  <a:pt x="138906" y="134472"/>
                  <a:pt x="134472" y="138906"/>
                  <a:pt x="128984" y="138906"/>
                </a:cubicBezTo>
                <a:lnTo>
                  <a:pt x="79375" y="138906"/>
                </a:lnTo>
                <a:cubicBezTo>
                  <a:pt x="73887" y="138906"/>
                  <a:pt x="69453" y="134472"/>
                  <a:pt x="69453" y="128984"/>
                </a:cubicBezTo>
                <a:lnTo>
                  <a:pt x="69453" y="39688"/>
                </a:lnTo>
                <a:lnTo>
                  <a:pt x="39688" y="39688"/>
                </a:lnTo>
                <a:lnTo>
                  <a:pt x="39688" y="79375"/>
                </a:lnTo>
                <a:cubicBezTo>
                  <a:pt x="39688" y="84863"/>
                  <a:pt x="35254" y="89297"/>
                  <a:pt x="29766" y="89297"/>
                </a:cubicBezTo>
                <a:lnTo>
                  <a:pt x="9922" y="89297"/>
                </a:lnTo>
                <a:cubicBezTo>
                  <a:pt x="4434" y="89297"/>
                  <a:pt x="0" y="84863"/>
                  <a:pt x="0" y="79375"/>
                </a:cubicBezTo>
                <a:cubicBezTo>
                  <a:pt x="0" y="73887"/>
                  <a:pt x="4434" y="69453"/>
                  <a:pt x="9922" y="69453"/>
                </a:cubicBezTo>
                <a:lnTo>
                  <a:pt x="19844" y="69453"/>
                </a:lnTo>
                <a:lnTo>
                  <a:pt x="19844" y="29766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49287" y="4825901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Seasonality Analysis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6725" y="517515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73100" y="5143401"/>
            <a:ext cx="35004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seasonality</a:t>
            </a: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confirmed: ACF/PACF peaks at lags 24 and 48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66725" y="542915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73100" y="5397401"/>
            <a:ext cx="365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Weekly pattern</a:t>
            </a: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observed: Lag 168 (1 week) strong autocorrelation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66725" y="5683151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73100" y="5651401"/>
            <a:ext cx="298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Additive decomposition</a:t>
            </a: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(period=7 days) on daily data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62675" y="1082675"/>
            <a:ext cx="5705475" cy="2816225"/>
          </a:xfrm>
          <a:custGeom>
            <a:avLst/>
            <a:gdLst/>
            <a:ahLst/>
            <a:cxnLst/>
            <a:rect l="l" t="t" r="r" b="b"/>
            <a:pathLst>
              <a:path w="5705475" h="2816225">
                <a:moveTo>
                  <a:pt x="63506" y="0"/>
                </a:moveTo>
                <a:lnTo>
                  <a:pt x="5641969" y="0"/>
                </a:lnTo>
                <a:cubicBezTo>
                  <a:pt x="5677042" y="0"/>
                  <a:pt x="5705475" y="28433"/>
                  <a:pt x="5705475" y="63506"/>
                </a:cubicBezTo>
                <a:lnTo>
                  <a:pt x="5705475" y="2752719"/>
                </a:lnTo>
                <a:cubicBezTo>
                  <a:pt x="5705475" y="2787792"/>
                  <a:pt x="5677042" y="2816225"/>
                  <a:pt x="5641969" y="2816225"/>
                </a:cubicBezTo>
                <a:lnTo>
                  <a:pt x="63506" y="2816225"/>
                </a:lnTo>
                <a:cubicBezTo>
                  <a:pt x="28433" y="2816225"/>
                  <a:pt x="0" y="2787792"/>
                  <a:pt x="0" y="2752719"/>
                </a:cubicBezTo>
                <a:lnTo>
                  <a:pt x="0" y="63506"/>
                </a:lnTo>
                <a:cubicBezTo>
                  <a:pt x="0" y="28433"/>
                  <a:pt x="28433" y="0"/>
                  <a:pt x="63506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302772" y="1244600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30070" y="29766"/>
                </a:moveTo>
                <a:cubicBezTo>
                  <a:pt x="124923" y="29766"/>
                  <a:pt x="119931" y="31161"/>
                  <a:pt x="115559" y="33703"/>
                </a:cubicBezTo>
                <a:cubicBezTo>
                  <a:pt x="110660" y="28742"/>
                  <a:pt x="104955" y="24588"/>
                  <a:pt x="98661" y="21456"/>
                </a:cubicBezTo>
                <a:cubicBezTo>
                  <a:pt x="107404" y="14015"/>
                  <a:pt x="118535" y="9922"/>
                  <a:pt x="130070" y="9922"/>
                </a:cubicBezTo>
                <a:cubicBezTo>
                  <a:pt x="156859" y="9922"/>
                  <a:pt x="178594" y="31626"/>
                  <a:pt x="178594" y="58446"/>
                </a:cubicBezTo>
                <a:cubicBezTo>
                  <a:pt x="178594" y="71313"/>
                  <a:pt x="173478" y="83654"/>
                  <a:pt x="164393" y="92739"/>
                </a:cubicBezTo>
                <a:lnTo>
                  <a:pt x="142348" y="114784"/>
                </a:lnTo>
                <a:cubicBezTo>
                  <a:pt x="133263" y="123868"/>
                  <a:pt x="120923" y="128984"/>
                  <a:pt x="108055" y="128984"/>
                </a:cubicBezTo>
                <a:cubicBezTo>
                  <a:pt x="81266" y="128984"/>
                  <a:pt x="59531" y="107280"/>
                  <a:pt x="59531" y="80460"/>
                </a:cubicBezTo>
                <a:cubicBezTo>
                  <a:pt x="59531" y="79995"/>
                  <a:pt x="59531" y="79530"/>
                  <a:pt x="59562" y="79065"/>
                </a:cubicBezTo>
                <a:cubicBezTo>
                  <a:pt x="59717" y="73577"/>
                  <a:pt x="64275" y="69267"/>
                  <a:pt x="69763" y="69422"/>
                </a:cubicBezTo>
                <a:cubicBezTo>
                  <a:pt x="75251" y="69577"/>
                  <a:pt x="79561" y="74135"/>
                  <a:pt x="79406" y="79623"/>
                </a:cubicBezTo>
                <a:cubicBezTo>
                  <a:pt x="79406" y="79902"/>
                  <a:pt x="79406" y="80181"/>
                  <a:pt x="79406" y="80429"/>
                </a:cubicBezTo>
                <a:cubicBezTo>
                  <a:pt x="79406" y="96273"/>
                  <a:pt x="92242" y="109110"/>
                  <a:pt x="108086" y="109110"/>
                </a:cubicBezTo>
                <a:cubicBezTo>
                  <a:pt x="115683" y="109110"/>
                  <a:pt x="122969" y="106102"/>
                  <a:pt x="128364" y="100707"/>
                </a:cubicBezTo>
                <a:lnTo>
                  <a:pt x="150409" y="78662"/>
                </a:lnTo>
                <a:cubicBezTo>
                  <a:pt x="155773" y="73298"/>
                  <a:pt x="158812" y="65980"/>
                  <a:pt x="158812" y="58384"/>
                </a:cubicBezTo>
                <a:cubicBezTo>
                  <a:pt x="158812" y="42540"/>
                  <a:pt x="145976" y="29704"/>
                  <a:pt x="130132" y="29704"/>
                </a:cubicBezTo>
                <a:close/>
                <a:moveTo>
                  <a:pt x="85328" y="53733"/>
                </a:moveTo>
                <a:cubicBezTo>
                  <a:pt x="84739" y="53485"/>
                  <a:pt x="84150" y="53144"/>
                  <a:pt x="83623" y="52772"/>
                </a:cubicBezTo>
                <a:cubicBezTo>
                  <a:pt x="79716" y="50757"/>
                  <a:pt x="75251" y="49609"/>
                  <a:pt x="70569" y="49609"/>
                </a:cubicBezTo>
                <a:cubicBezTo>
                  <a:pt x="62973" y="49609"/>
                  <a:pt x="55687" y="52617"/>
                  <a:pt x="50292" y="58012"/>
                </a:cubicBezTo>
                <a:lnTo>
                  <a:pt x="28246" y="80057"/>
                </a:lnTo>
                <a:cubicBezTo>
                  <a:pt x="22882" y="85421"/>
                  <a:pt x="19844" y="92739"/>
                  <a:pt x="19844" y="100335"/>
                </a:cubicBezTo>
                <a:cubicBezTo>
                  <a:pt x="19844" y="116179"/>
                  <a:pt x="32680" y="129015"/>
                  <a:pt x="48524" y="129015"/>
                </a:cubicBezTo>
                <a:cubicBezTo>
                  <a:pt x="53640" y="129015"/>
                  <a:pt x="58632" y="127651"/>
                  <a:pt x="63004" y="125109"/>
                </a:cubicBezTo>
                <a:cubicBezTo>
                  <a:pt x="67903" y="130070"/>
                  <a:pt x="73608" y="134224"/>
                  <a:pt x="79933" y="137356"/>
                </a:cubicBezTo>
                <a:cubicBezTo>
                  <a:pt x="71189" y="144766"/>
                  <a:pt x="60089" y="148890"/>
                  <a:pt x="48524" y="148890"/>
                </a:cubicBezTo>
                <a:cubicBezTo>
                  <a:pt x="21735" y="148890"/>
                  <a:pt x="0" y="127186"/>
                  <a:pt x="0" y="100366"/>
                </a:cubicBezTo>
                <a:cubicBezTo>
                  <a:pt x="0" y="87499"/>
                  <a:pt x="5116" y="75158"/>
                  <a:pt x="14201" y="66073"/>
                </a:cubicBezTo>
                <a:lnTo>
                  <a:pt x="36246" y="44028"/>
                </a:lnTo>
                <a:cubicBezTo>
                  <a:pt x="45331" y="34944"/>
                  <a:pt x="57671" y="29828"/>
                  <a:pt x="70538" y="29828"/>
                </a:cubicBezTo>
                <a:cubicBezTo>
                  <a:pt x="97389" y="29828"/>
                  <a:pt x="119062" y="51718"/>
                  <a:pt x="119062" y="78476"/>
                </a:cubicBezTo>
                <a:cubicBezTo>
                  <a:pt x="119062" y="78879"/>
                  <a:pt x="119062" y="79282"/>
                  <a:pt x="119062" y="79685"/>
                </a:cubicBezTo>
                <a:cubicBezTo>
                  <a:pt x="118938" y="85173"/>
                  <a:pt x="114381" y="89483"/>
                  <a:pt x="108893" y="89359"/>
                </a:cubicBezTo>
                <a:cubicBezTo>
                  <a:pt x="103405" y="89235"/>
                  <a:pt x="99095" y="84677"/>
                  <a:pt x="99219" y="79189"/>
                </a:cubicBezTo>
                <a:cubicBezTo>
                  <a:pt x="99219" y="78941"/>
                  <a:pt x="99219" y="78724"/>
                  <a:pt x="99219" y="78476"/>
                </a:cubicBezTo>
                <a:cubicBezTo>
                  <a:pt x="99219" y="68027"/>
                  <a:pt x="93638" y="58849"/>
                  <a:pt x="85328" y="5379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491287" y="1212850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 Analysis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92850" y="1530350"/>
            <a:ext cx="5445125" cy="825500"/>
          </a:xfrm>
          <a:custGeom>
            <a:avLst/>
            <a:gdLst/>
            <a:ahLst/>
            <a:cxnLst/>
            <a:rect l="l" t="t" r="r" b="b"/>
            <a:pathLst>
              <a:path w="5445125" h="825500">
                <a:moveTo>
                  <a:pt x="31749" y="0"/>
                </a:moveTo>
                <a:lnTo>
                  <a:pt x="5413376" y="0"/>
                </a:lnTo>
                <a:cubicBezTo>
                  <a:pt x="5430911" y="0"/>
                  <a:pt x="5445125" y="14214"/>
                  <a:pt x="5445125" y="31749"/>
                </a:cubicBezTo>
                <a:lnTo>
                  <a:pt x="5445125" y="793751"/>
                </a:lnTo>
                <a:cubicBezTo>
                  <a:pt x="5445125" y="811286"/>
                  <a:pt x="5430911" y="825500"/>
                  <a:pt x="5413376" y="825500"/>
                </a:cubicBezTo>
                <a:lnTo>
                  <a:pt x="31749" y="825500"/>
                </a:lnTo>
                <a:cubicBezTo>
                  <a:pt x="14214" y="825500"/>
                  <a:pt x="0" y="811286"/>
                  <a:pt x="0" y="7937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6388100" y="1657252"/>
            <a:ext cx="2293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Global_active_power ↔ Global_intensity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322546" y="1625600"/>
            <a:ext cx="420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~1.0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88100" y="1943002"/>
            <a:ext cx="5254625" cy="95250"/>
          </a:xfrm>
          <a:custGeom>
            <a:avLst/>
            <a:gdLst/>
            <a:ahLst/>
            <a:cxnLst/>
            <a:rect l="l" t="t" r="r" b="b"/>
            <a:pathLst>
              <a:path w="5254625" h="95250">
                <a:moveTo>
                  <a:pt x="47625" y="0"/>
                </a:moveTo>
                <a:lnTo>
                  <a:pt x="5207000" y="0"/>
                </a:lnTo>
                <a:cubicBezTo>
                  <a:pt x="5233285" y="0"/>
                  <a:pt x="5254625" y="21340"/>
                  <a:pt x="5254625" y="47625"/>
                </a:cubicBezTo>
                <a:lnTo>
                  <a:pt x="5254625" y="47625"/>
                </a:lnTo>
                <a:cubicBezTo>
                  <a:pt x="5254625" y="73910"/>
                  <a:pt x="5233285" y="95250"/>
                  <a:pt x="520700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388100" y="1943002"/>
            <a:ext cx="5254625" cy="95250"/>
          </a:xfrm>
          <a:custGeom>
            <a:avLst/>
            <a:gdLst/>
            <a:ahLst/>
            <a:cxnLst/>
            <a:rect l="l" t="t" r="r" b="b"/>
            <a:pathLst>
              <a:path w="5254625" h="95250">
                <a:moveTo>
                  <a:pt x="47625" y="0"/>
                </a:moveTo>
                <a:lnTo>
                  <a:pt x="5207000" y="0"/>
                </a:lnTo>
                <a:cubicBezTo>
                  <a:pt x="5233285" y="0"/>
                  <a:pt x="5254625" y="21340"/>
                  <a:pt x="5254625" y="47625"/>
                </a:cubicBezTo>
                <a:lnTo>
                  <a:pt x="5254625" y="47625"/>
                </a:lnTo>
                <a:cubicBezTo>
                  <a:pt x="5254625" y="73910"/>
                  <a:pt x="5233285" y="95250"/>
                  <a:pt x="520700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388100" y="2101752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Nearly perfect correlation (I = P/V)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92850" y="2451002"/>
            <a:ext cx="5445125" cy="825500"/>
          </a:xfrm>
          <a:custGeom>
            <a:avLst/>
            <a:gdLst/>
            <a:ahLst/>
            <a:cxnLst/>
            <a:rect l="l" t="t" r="r" b="b"/>
            <a:pathLst>
              <a:path w="5445125" h="825500">
                <a:moveTo>
                  <a:pt x="31749" y="0"/>
                </a:moveTo>
                <a:lnTo>
                  <a:pt x="5413376" y="0"/>
                </a:lnTo>
                <a:cubicBezTo>
                  <a:pt x="5430911" y="0"/>
                  <a:pt x="5445125" y="14214"/>
                  <a:pt x="5445125" y="31749"/>
                </a:cubicBezTo>
                <a:lnTo>
                  <a:pt x="5445125" y="793751"/>
                </a:lnTo>
                <a:cubicBezTo>
                  <a:pt x="5445125" y="811286"/>
                  <a:pt x="5430911" y="825500"/>
                  <a:pt x="5413376" y="825500"/>
                </a:cubicBezTo>
                <a:lnTo>
                  <a:pt x="31749" y="825500"/>
                </a:lnTo>
                <a:cubicBezTo>
                  <a:pt x="14214" y="825500"/>
                  <a:pt x="0" y="811286"/>
                  <a:pt x="0" y="7937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388100" y="2577903"/>
            <a:ext cx="1833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Global_active_power ↔ Voltage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017051" y="2546252"/>
            <a:ext cx="722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 -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88100" y="2863653"/>
            <a:ext cx="5254625" cy="95250"/>
          </a:xfrm>
          <a:custGeom>
            <a:avLst/>
            <a:gdLst/>
            <a:ahLst/>
            <a:cxnLst/>
            <a:rect l="l" t="t" r="r" b="b"/>
            <a:pathLst>
              <a:path w="5254625" h="95250">
                <a:moveTo>
                  <a:pt x="47625" y="0"/>
                </a:moveTo>
                <a:lnTo>
                  <a:pt x="5207000" y="0"/>
                </a:lnTo>
                <a:cubicBezTo>
                  <a:pt x="5233285" y="0"/>
                  <a:pt x="5254625" y="21340"/>
                  <a:pt x="5254625" y="47625"/>
                </a:cubicBezTo>
                <a:lnTo>
                  <a:pt x="5254625" y="47625"/>
                </a:lnTo>
                <a:cubicBezTo>
                  <a:pt x="5254625" y="73910"/>
                  <a:pt x="5233285" y="95250"/>
                  <a:pt x="5207000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388100" y="2863653"/>
            <a:ext cx="785813" cy="95250"/>
          </a:xfrm>
          <a:custGeom>
            <a:avLst/>
            <a:gdLst/>
            <a:ahLst/>
            <a:cxnLst/>
            <a:rect l="l" t="t" r="r" b="b"/>
            <a:pathLst>
              <a:path w="785813" h="95250">
                <a:moveTo>
                  <a:pt x="47625" y="0"/>
                </a:moveTo>
                <a:lnTo>
                  <a:pt x="738188" y="0"/>
                </a:lnTo>
                <a:cubicBezTo>
                  <a:pt x="764472" y="0"/>
                  <a:pt x="785813" y="21340"/>
                  <a:pt x="785813" y="47625"/>
                </a:cubicBezTo>
                <a:lnTo>
                  <a:pt x="785813" y="47625"/>
                </a:lnTo>
                <a:cubicBezTo>
                  <a:pt x="785813" y="73910"/>
                  <a:pt x="764472" y="95250"/>
                  <a:pt x="738188" y="95250"/>
                </a:cubicBezTo>
                <a:lnTo>
                  <a:pt x="47625" y="95250"/>
                </a:lnTo>
                <a:cubicBezTo>
                  <a:pt x="21340" y="95250"/>
                  <a:pt x="0" y="73910"/>
                  <a:pt x="0" y="47625"/>
                </a:cubicBezTo>
                <a:lnTo>
                  <a:pt x="0" y="47625"/>
                </a:lnTo>
                <a:cubicBezTo>
                  <a:pt x="0" y="21340"/>
                  <a:pt x="21340" y="0"/>
                  <a:pt x="47625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388100" y="3022403"/>
            <a:ext cx="531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 negative correlation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296025" y="3374828"/>
            <a:ext cx="5443538" cy="387350"/>
          </a:xfrm>
          <a:custGeom>
            <a:avLst/>
            <a:gdLst/>
            <a:ahLst/>
            <a:cxnLst/>
            <a:rect l="l" t="t" r="r" b="b"/>
            <a:pathLst>
              <a:path w="5443538" h="387350">
                <a:moveTo>
                  <a:pt x="31751" y="0"/>
                </a:moveTo>
                <a:lnTo>
                  <a:pt x="5411786" y="0"/>
                </a:lnTo>
                <a:cubicBezTo>
                  <a:pt x="5429322" y="0"/>
                  <a:pt x="5443538" y="14215"/>
                  <a:pt x="5443538" y="31751"/>
                </a:cubicBezTo>
                <a:lnTo>
                  <a:pt x="5443538" y="355599"/>
                </a:lnTo>
                <a:cubicBezTo>
                  <a:pt x="5443537" y="373135"/>
                  <a:pt x="5429322" y="387350"/>
                  <a:pt x="5411786" y="387350"/>
                </a:cubicBezTo>
                <a:lnTo>
                  <a:pt x="31751" y="387350"/>
                </a:lnTo>
                <a:cubicBezTo>
                  <a:pt x="14215" y="387350"/>
                  <a:pt x="0" y="373135"/>
                  <a:pt x="0" y="3555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410325" y="349865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592888" y="3473251"/>
            <a:ext cx="511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Action:</a:t>
            </a:r>
            <a:r>
              <a:rPr lang="en-US" sz="10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Global_intensity dropped from forecasting to avoid multicollinearity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62675" y="4028877"/>
            <a:ext cx="5705475" cy="1403350"/>
          </a:xfrm>
          <a:custGeom>
            <a:avLst/>
            <a:gdLst/>
            <a:ahLst/>
            <a:cxnLst/>
            <a:rect l="l" t="t" r="r" b="b"/>
            <a:pathLst>
              <a:path w="5705475" h="1403350">
                <a:moveTo>
                  <a:pt x="63502" y="0"/>
                </a:moveTo>
                <a:lnTo>
                  <a:pt x="5641973" y="0"/>
                </a:lnTo>
                <a:cubicBezTo>
                  <a:pt x="5677044" y="0"/>
                  <a:pt x="5705475" y="28431"/>
                  <a:pt x="5705475" y="63502"/>
                </a:cubicBezTo>
                <a:lnTo>
                  <a:pt x="5705475" y="1339848"/>
                </a:lnTo>
                <a:cubicBezTo>
                  <a:pt x="5705475" y="1374919"/>
                  <a:pt x="5677044" y="1403350"/>
                  <a:pt x="5641973" y="1403350"/>
                </a:cubicBezTo>
                <a:lnTo>
                  <a:pt x="63502" y="1403350"/>
                </a:lnTo>
                <a:cubicBezTo>
                  <a:pt x="28431" y="1403350"/>
                  <a:pt x="0" y="1374919"/>
                  <a:pt x="0" y="13398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332537" y="4190802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77484" y="20712"/>
                </a:moveTo>
                <a:cubicBezTo>
                  <a:pt x="80708" y="16278"/>
                  <a:pt x="79716" y="10077"/>
                  <a:pt x="75282" y="6852"/>
                </a:cubicBezTo>
                <a:cubicBezTo>
                  <a:pt x="70848" y="3628"/>
                  <a:pt x="64647" y="4620"/>
                  <a:pt x="61423" y="9054"/>
                </a:cubicBezTo>
                <a:lnTo>
                  <a:pt x="28556" y="54229"/>
                </a:lnTo>
                <a:lnTo>
                  <a:pt x="16929" y="42602"/>
                </a:lnTo>
                <a:cubicBezTo>
                  <a:pt x="13053" y="38726"/>
                  <a:pt x="6759" y="38726"/>
                  <a:pt x="2884" y="42602"/>
                </a:cubicBezTo>
                <a:cubicBezTo>
                  <a:pt x="-992" y="46478"/>
                  <a:pt x="-992" y="52772"/>
                  <a:pt x="2884" y="56648"/>
                </a:cubicBezTo>
                <a:lnTo>
                  <a:pt x="22727" y="76491"/>
                </a:lnTo>
                <a:cubicBezTo>
                  <a:pt x="24774" y="78538"/>
                  <a:pt x="27626" y="79592"/>
                  <a:pt x="30510" y="79375"/>
                </a:cubicBezTo>
                <a:cubicBezTo>
                  <a:pt x="33393" y="79158"/>
                  <a:pt x="36060" y="77670"/>
                  <a:pt x="37765" y="75313"/>
                </a:cubicBezTo>
                <a:lnTo>
                  <a:pt x="77453" y="20743"/>
                </a:lnTo>
                <a:close/>
                <a:moveTo>
                  <a:pt x="117171" y="62880"/>
                </a:moveTo>
                <a:cubicBezTo>
                  <a:pt x="120396" y="58446"/>
                  <a:pt x="119404" y="52245"/>
                  <a:pt x="114970" y="49020"/>
                </a:cubicBezTo>
                <a:cubicBezTo>
                  <a:pt x="110536" y="45796"/>
                  <a:pt x="104335" y="46788"/>
                  <a:pt x="101110" y="51222"/>
                </a:cubicBezTo>
                <a:lnTo>
                  <a:pt x="48400" y="123682"/>
                </a:lnTo>
                <a:lnTo>
                  <a:pt x="26851" y="102133"/>
                </a:lnTo>
                <a:cubicBezTo>
                  <a:pt x="22975" y="98258"/>
                  <a:pt x="16681" y="98258"/>
                  <a:pt x="12805" y="102133"/>
                </a:cubicBezTo>
                <a:cubicBezTo>
                  <a:pt x="8930" y="106009"/>
                  <a:pt x="8930" y="112303"/>
                  <a:pt x="12805" y="116179"/>
                </a:cubicBezTo>
                <a:lnTo>
                  <a:pt x="42571" y="145945"/>
                </a:lnTo>
                <a:cubicBezTo>
                  <a:pt x="44617" y="147991"/>
                  <a:pt x="47470" y="149045"/>
                  <a:pt x="50354" y="148828"/>
                </a:cubicBezTo>
                <a:cubicBezTo>
                  <a:pt x="53237" y="148611"/>
                  <a:pt x="55904" y="147123"/>
                  <a:pt x="57609" y="144766"/>
                </a:cubicBezTo>
                <a:lnTo>
                  <a:pt x="117140" y="62911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491287" y="4159052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Stationarity Tests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292850" y="4476552"/>
            <a:ext cx="2674938" cy="825500"/>
          </a:xfrm>
          <a:custGeom>
            <a:avLst/>
            <a:gdLst/>
            <a:ahLst/>
            <a:cxnLst/>
            <a:rect l="l" t="t" r="r" b="b"/>
            <a:pathLst>
              <a:path w="2674938" h="825500">
                <a:moveTo>
                  <a:pt x="31749" y="0"/>
                </a:moveTo>
                <a:lnTo>
                  <a:pt x="2643189" y="0"/>
                </a:lnTo>
                <a:cubicBezTo>
                  <a:pt x="2660723" y="0"/>
                  <a:pt x="2674937" y="14214"/>
                  <a:pt x="2674937" y="31749"/>
                </a:cubicBezTo>
                <a:lnTo>
                  <a:pt x="2674938" y="793751"/>
                </a:lnTo>
                <a:cubicBezTo>
                  <a:pt x="2674937" y="811286"/>
                  <a:pt x="2660723" y="825500"/>
                  <a:pt x="2643189" y="825500"/>
                </a:cubicBezTo>
                <a:lnTo>
                  <a:pt x="31749" y="825500"/>
                </a:lnTo>
                <a:cubicBezTo>
                  <a:pt x="14214" y="825500"/>
                  <a:pt x="0" y="811286"/>
                  <a:pt x="0" y="7937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360319" y="4571802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ADF Test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328569" y="4762302"/>
            <a:ext cx="260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 &lt; 0.05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360319" y="5048052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Stationary ✓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064625" y="4476552"/>
            <a:ext cx="2674938" cy="825500"/>
          </a:xfrm>
          <a:custGeom>
            <a:avLst/>
            <a:gdLst/>
            <a:ahLst/>
            <a:cxnLst/>
            <a:rect l="l" t="t" r="r" b="b"/>
            <a:pathLst>
              <a:path w="2674938" h="825500">
                <a:moveTo>
                  <a:pt x="31749" y="0"/>
                </a:moveTo>
                <a:lnTo>
                  <a:pt x="2643189" y="0"/>
                </a:lnTo>
                <a:cubicBezTo>
                  <a:pt x="2660723" y="0"/>
                  <a:pt x="2674937" y="14214"/>
                  <a:pt x="2674937" y="31749"/>
                </a:cubicBezTo>
                <a:lnTo>
                  <a:pt x="2674938" y="793751"/>
                </a:lnTo>
                <a:cubicBezTo>
                  <a:pt x="2674937" y="811286"/>
                  <a:pt x="2660723" y="825500"/>
                  <a:pt x="2643189" y="825500"/>
                </a:cubicBezTo>
                <a:lnTo>
                  <a:pt x="31749" y="825500"/>
                </a:lnTo>
                <a:cubicBezTo>
                  <a:pt x="14214" y="825500"/>
                  <a:pt x="0" y="811286"/>
                  <a:pt x="0" y="7937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9132094" y="4571802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KPSS Test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100344" y="4762302"/>
            <a:ext cx="2603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7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Passed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132094" y="5048052"/>
            <a:ext cx="2540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Confirmed ✓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162675" y="5565578"/>
            <a:ext cx="5705475" cy="958850"/>
          </a:xfrm>
          <a:custGeom>
            <a:avLst/>
            <a:gdLst/>
            <a:ahLst/>
            <a:cxnLst/>
            <a:rect l="l" t="t" r="r" b="b"/>
            <a:pathLst>
              <a:path w="5705475" h="958850">
                <a:moveTo>
                  <a:pt x="63505" y="0"/>
                </a:moveTo>
                <a:lnTo>
                  <a:pt x="5641970" y="0"/>
                </a:lnTo>
                <a:cubicBezTo>
                  <a:pt x="5677043" y="0"/>
                  <a:pt x="5705475" y="28432"/>
                  <a:pt x="5705475" y="63505"/>
                </a:cubicBezTo>
                <a:lnTo>
                  <a:pt x="5705475" y="895345"/>
                </a:lnTo>
                <a:cubicBezTo>
                  <a:pt x="5705475" y="930418"/>
                  <a:pt x="5677043" y="958850"/>
                  <a:pt x="5641970" y="958850"/>
                </a:cubicBezTo>
                <a:lnTo>
                  <a:pt x="63505" y="958850"/>
                </a:lnTo>
                <a:cubicBezTo>
                  <a:pt x="28432" y="958850"/>
                  <a:pt x="0" y="930418"/>
                  <a:pt x="0" y="895345"/>
                </a:cubicBezTo>
                <a:lnTo>
                  <a:pt x="0" y="63505"/>
                </a:lnTo>
                <a:cubicBezTo>
                  <a:pt x="0" y="28455"/>
                  <a:pt x="28455" y="0"/>
                  <a:pt x="63505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6312694" y="5727501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28984" y="64492"/>
                </a:moveTo>
                <a:cubicBezTo>
                  <a:pt x="128984" y="78724"/>
                  <a:pt x="124365" y="91870"/>
                  <a:pt x="116582" y="102536"/>
                </a:cubicBezTo>
                <a:lnTo>
                  <a:pt x="155835" y="141821"/>
                </a:lnTo>
                <a:cubicBezTo>
                  <a:pt x="159711" y="145697"/>
                  <a:pt x="159711" y="151991"/>
                  <a:pt x="155835" y="155866"/>
                </a:cubicBezTo>
                <a:cubicBezTo>
                  <a:pt x="151960" y="159742"/>
                  <a:pt x="145666" y="159742"/>
                  <a:pt x="141790" y="155866"/>
                </a:cubicBezTo>
                <a:lnTo>
                  <a:pt x="102536" y="116582"/>
                </a:lnTo>
                <a:cubicBezTo>
                  <a:pt x="91870" y="124365"/>
                  <a:pt x="78724" y="128984"/>
                  <a:pt x="64492" y="128984"/>
                </a:cubicBezTo>
                <a:cubicBezTo>
                  <a:pt x="28866" y="128984"/>
                  <a:pt x="0" y="100118"/>
                  <a:pt x="0" y="64492"/>
                </a:cubicBezTo>
                <a:cubicBezTo>
                  <a:pt x="0" y="28866"/>
                  <a:pt x="28866" y="0"/>
                  <a:pt x="64492" y="0"/>
                </a:cubicBezTo>
                <a:cubicBezTo>
                  <a:pt x="100118" y="0"/>
                  <a:pt x="128984" y="28866"/>
                  <a:pt x="128984" y="64492"/>
                </a:cubicBezTo>
                <a:close/>
                <a:moveTo>
                  <a:pt x="64492" y="109141"/>
                </a:moveTo>
                <a:cubicBezTo>
                  <a:pt x="89134" y="109141"/>
                  <a:pt x="109141" y="89134"/>
                  <a:pt x="109141" y="64492"/>
                </a:cubicBezTo>
                <a:cubicBezTo>
                  <a:pt x="109141" y="39850"/>
                  <a:pt x="89134" y="19844"/>
                  <a:pt x="64492" y="19844"/>
                </a:cubicBezTo>
                <a:cubicBezTo>
                  <a:pt x="39850" y="19844"/>
                  <a:pt x="19844" y="39850"/>
                  <a:pt x="19844" y="64492"/>
                </a:cubicBezTo>
                <a:cubicBezTo>
                  <a:pt x="19844" y="89134"/>
                  <a:pt x="39850" y="109141"/>
                  <a:pt x="64492" y="109141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491287" y="5695751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Anomaly Detection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292850" y="6013251"/>
            <a:ext cx="5508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Isolation Forest</a:t>
            </a: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(contamination=0.01) on daily data identifies anomalous days. Energy "outliers" may be valid high-load events (AC/heaters) requiring domain knowledge.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4945" y="334945"/>
            <a:ext cx="11589099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kern="0" spc="53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4945" y="602901"/>
            <a:ext cx="11723077" cy="401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6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Architecture &amp; Workflow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8295" y="1142163"/>
            <a:ext cx="3741336" cy="2552281"/>
          </a:xfrm>
          <a:custGeom>
            <a:avLst/>
            <a:gdLst/>
            <a:ahLst/>
            <a:cxnLst/>
            <a:rect l="l" t="t" r="r" b="b"/>
            <a:pathLst>
              <a:path w="3741336" h="2552281">
                <a:moveTo>
                  <a:pt x="66997" y="0"/>
                </a:moveTo>
                <a:lnTo>
                  <a:pt x="3674339" y="0"/>
                </a:lnTo>
                <a:cubicBezTo>
                  <a:pt x="3711341" y="0"/>
                  <a:pt x="3741336" y="29996"/>
                  <a:pt x="3741336" y="66997"/>
                </a:cubicBezTo>
                <a:lnTo>
                  <a:pt x="3741336" y="2485284"/>
                </a:lnTo>
                <a:cubicBezTo>
                  <a:pt x="3741336" y="2522286"/>
                  <a:pt x="3711341" y="2552281"/>
                  <a:pt x="3674339" y="2552281"/>
                </a:cubicBezTo>
                <a:lnTo>
                  <a:pt x="66997" y="2552281"/>
                </a:lnTo>
                <a:cubicBezTo>
                  <a:pt x="29996" y="2552281"/>
                  <a:pt x="0" y="2522286"/>
                  <a:pt x="0" y="2485284"/>
                </a:cubicBezTo>
                <a:lnTo>
                  <a:pt x="0" y="66997"/>
                </a:lnTo>
                <a:cubicBezTo>
                  <a:pt x="0" y="30021"/>
                  <a:pt x="30021" y="0"/>
                  <a:pt x="669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75622" y="1279493"/>
            <a:ext cx="401934" cy="401934"/>
          </a:xfrm>
          <a:custGeom>
            <a:avLst/>
            <a:gdLst/>
            <a:ahLst/>
            <a:cxnLst/>
            <a:rect l="l" t="t" r="r" b="b"/>
            <a:pathLst>
              <a:path w="401934" h="401934">
                <a:moveTo>
                  <a:pt x="66990" y="0"/>
                </a:moveTo>
                <a:lnTo>
                  <a:pt x="334944" y="0"/>
                </a:lnTo>
                <a:cubicBezTo>
                  <a:pt x="371941" y="0"/>
                  <a:pt x="401934" y="29993"/>
                  <a:pt x="401934" y="66990"/>
                </a:cubicBezTo>
                <a:lnTo>
                  <a:pt x="401934" y="334944"/>
                </a:lnTo>
                <a:cubicBezTo>
                  <a:pt x="401934" y="371941"/>
                  <a:pt x="371941" y="401934"/>
                  <a:pt x="334944" y="401934"/>
                </a:cubicBezTo>
                <a:lnTo>
                  <a:pt x="66990" y="401934"/>
                </a:lnTo>
                <a:cubicBezTo>
                  <a:pt x="29993" y="401934"/>
                  <a:pt x="0" y="371941"/>
                  <a:pt x="0" y="334944"/>
                </a:cubicBezTo>
                <a:lnTo>
                  <a:pt x="0" y="66990"/>
                </a:lnTo>
                <a:cubicBezTo>
                  <a:pt x="0" y="29993"/>
                  <a:pt x="29993" y="0"/>
                  <a:pt x="6699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76106" y="1379976"/>
            <a:ext cx="200967" cy="200967"/>
          </a:xfrm>
          <a:custGeom>
            <a:avLst/>
            <a:gdLst/>
            <a:ahLst/>
            <a:cxnLst/>
            <a:rect l="l" t="t" r="r" b="b"/>
            <a:pathLst>
              <a:path w="200967" h="200967">
                <a:moveTo>
                  <a:pt x="25121" y="25121"/>
                </a:moveTo>
                <a:cubicBezTo>
                  <a:pt x="25121" y="18173"/>
                  <a:pt x="19508" y="12560"/>
                  <a:pt x="12560" y="12560"/>
                </a:cubicBezTo>
                <a:cubicBezTo>
                  <a:pt x="5613" y="12560"/>
                  <a:pt x="0" y="18173"/>
                  <a:pt x="0" y="25121"/>
                </a:cubicBezTo>
                <a:lnTo>
                  <a:pt x="0" y="157005"/>
                </a:lnTo>
                <a:cubicBezTo>
                  <a:pt x="0" y="174355"/>
                  <a:pt x="14052" y="188407"/>
                  <a:pt x="31401" y="188407"/>
                </a:cubicBezTo>
                <a:lnTo>
                  <a:pt x="188407" y="188407"/>
                </a:lnTo>
                <a:cubicBezTo>
                  <a:pt x="195354" y="188407"/>
                  <a:pt x="200967" y="182794"/>
                  <a:pt x="200967" y="175846"/>
                </a:cubicBezTo>
                <a:cubicBezTo>
                  <a:pt x="200967" y="168899"/>
                  <a:pt x="195354" y="163286"/>
                  <a:pt x="188407" y="163286"/>
                </a:cubicBezTo>
                <a:lnTo>
                  <a:pt x="31401" y="163286"/>
                </a:lnTo>
                <a:cubicBezTo>
                  <a:pt x="27947" y="163286"/>
                  <a:pt x="25121" y="160460"/>
                  <a:pt x="25121" y="157005"/>
                </a:cubicBezTo>
                <a:lnTo>
                  <a:pt x="25121" y="25121"/>
                </a:lnTo>
                <a:close/>
                <a:moveTo>
                  <a:pt x="184717" y="59113"/>
                </a:moveTo>
                <a:cubicBezTo>
                  <a:pt x="189623" y="54206"/>
                  <a:pt x="189623" y="46238"/>
                  <a:pt x="184717" y="41332"/>
                </a:cubicBezTo>
                <a:cubicBezTo>
                  <a:pt x="179811" y="36425"/>
                  <a:pt x="171843" y="36425"/>
                  <a:pt x="166936" y="41332"/>
                </a:cubicBezTo>
                <a:lnTo>
                  <a:pt x="125604" y="82703"/>
                </a:lnTo>
                <a:lnTo>
                  <a:pt x="103074" y="60212"/>
                </a:lnTo>
                <a:cubicBezTo>
                  <a:pt x="98168" y="55305"/>
                  <a:pt x="90200" y="55305"/>
                  <a:pt x="85293" y="60212"/>
                </a:cubicBezTo>
                <a:lnTo>
                  <a:pt x="47612" y="97893"/>
                </a:lnTo>
                <a:cubicBezTo>
                  <a:pt x="42705" y="102799"/>
                  <a:pt x="42705" y="110767"/>
                  <a:pt x="47612" y="115674"/>
                </a:cubicBezTo>
                <a:cubicBezTo>
                  <a:pt x="52518" y="120580"/>
                  <a:pt x="60486" y="120580"/>
                  <a:pt x="65393" y="115674"/>
                </a:cubicBezTo>
                <a:lnTo>
                  <a:pt x="94203" y="86863"/>
                </a:lnTo>
                <a:lnTo>
                  <a:pt x="116734" y="109394"/>
                </a:lnTo>
                <a:cubicBezTo>
                  <a:pt x="121640" y="114300"/>
                  <a:pt x="129608" y="114300"/>
                  <a:pt x="134514" y="109394"/>
                </a:cubicBezTo>
                <a:lnTo>
                  <a:pt x="184756" y="59152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78040" y="1279493"/>
            <a:ext cx="1398396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8040" y="1513954"/>
            <a:ext cx="1373275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 Model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622" y="2053216"/>
            <a:ext cx="3466681" cy="6699"/>
          </a:xfrm>
          <a:custGeom>
            <a:avLst/>
            <a:gdLst/>
            <a:ahLst/>
            <a:cxnLst/>
            <a:rect l="l" t="t" r="r" b="b"/>
            <a:pathLst>
              <a:path w="3466681" h="6699">
                <a:moveTo>
                  <a:pt x="0" y="0"/>
                </a:moveTo>
                <a:lnTo>
                  <a:pt x="3466681" y="0"/>
                </a:lnTo>
                <a:lnTo>
                  <a:pt x="3466681" y="6699"/>
                </a:lnTo>
                <a:lnTo>
                  <a:pt x="0" y="6699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622" y="1815405"/>
            <a:ext cx="468923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Library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49899" y="1815405"/>
            <a:ext cx="1264418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sklearn.linear_model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622" y="2394858"/>
            <a:ext cx="3466681" cy="6699"/>
          </a:xfrm>
          <a:custGeom>
            <a:avLst/>
            <a:gdLst/>
            <a:ahLst/>
            <a:cxnLst/>
            <a:rect l="l" t="t" r="r" b="b"/>
            <a:pathLst>
              <a:path w="3466681" h="6699">
                <a:moveTo>
                  <a:pt x="0" y="0"/>
                </a:moveTo>
                <a:lnTo>
                  <a:pt x="3466681" y="0"/>
                </a:lnTo>
                <a:lnTo>
                  <a:pt x="3466681" y="6699"/>
                </a:lnTo>
                <a:lnTo>
                  <a:pt x="0" y="6699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5622" y="2157047"/>
            <a:ext cx="351692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62589" y="2157047"/>
            <a:ext cx="1046703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LinearRegression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622" y="2498689"/>
            <a:ext cx="535912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1182" y="2498689"/>
            <a:ext cx="544286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5622" y="2833634"/>
            <a:ext cx="3466681" cy="368440"/>
          </a:xfrm>
          <a:custGeom>
            <a:avLst/>
            <a:gdLst/>
            <a:ahLst/>
            <a:cxnLst/>
            <a:rect l="l" t="t" r="r" b="b"/>
            <a:pathLst>
              <a:path w="3466681" h="368440">
                <a:moveTo>
                  <a:pt x="33495" y="0"/>
                </a:moveTo>
                <a:lnTo>
                  <a:pt x="3433186" y="0"/>
                </a:lnTo>
                <a:cubicBezTo>
                  <a:pt x="3451673" y="0"/>
                  <a:pt x="3466681" y="15009"/>
                  <a:pt x="3466681" y="33495"/>
                </a:cubicBezTo>
                <a:lnTo>
                  <a:pt x="3466681" y="334945"/>
                </a:lnTo>
                <a:cubicBezTo>
                  <a:pt x="3466681" y="353431"/>
                  <a:pt x="3451673" y="368440"/>
                  <a:pt x="3433186" y="368440"/>
                </a:cubicBezTo>
                <a:lnTo>
                  <a:pt x="33495" y="368440"/>
                </a:lnTo>
                <a:cubicBezTo>
                  <a:pt x="15009" y="368440"/>
                  <a:pt x="0" y="353431"/>
                  <a:pt x="0" y="334945"/>
                </a:cubicBezTo>
                <a:lnTo>
                  <a:pt x="0" y="33495"/>
                </a:lnTo>
                <a:cubicBezTo>
                  <a:pt x="0" y="15009"/>
                  <a:pt x="15009" y="0"/>
                  <a:pt x="3349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92853" y="2954218"/>
            <a:ext cx="117231" cy="117231"/>
          </a:xfrm>
          <a:custGeom>
            <a:avLst/>
            <a:gdLst/>
            <a:ahLst/>
            <a:cxnLst/>
            <a:rect l="l" t="t" r="r" b="b"/>
            <a:pathLst>
              <a:path w="117231" h="117231">
                <a:moveTo>
                  <a:pt x="58615" y="117231"/>
                </a:moveTo>
                <a:cubicBezTo>
                  <a:pt x="90966" y="117231"/>
                  <a:pt x="117231" y="90966"/>
                  <a:pt x="117231" y="58615"/>
                </a:cubicBezTo>
                <a:cubicBezTo>
                  <a:pt x="117231" y="26265"/>
                  <a:pt x="90966" y="0"/>
                  <a:pt x="58615" y="0"/>
                </a:cubicBezTo>
                <a:cubicBezTo>
                  <a:pt x="26265" y="0"/>
                  <a:pt x="0" y="26265"/>
                  <a:pt x="0" y="58615"/>
                </a:cubicBezTo>
                <a:cubicBezTo>
                  <a:pt x="0" y="90966"/>
                  <a:pt x="26265" y="117231"/>
                  <a:pt x="58615" y="117231"/>
                </a:cubicBezTo>
                <a:close/>
                <a:moveTo>
                  <a:pt x="51288" y="36635"/>
                </a:moveTo>
                <a:cubicBezTo>
                  <a:pt x="51288" y="32591"/>
                  <a:pt x="54572" y="29308"/>
                  <a:pt x="58615" y="29308"/>
                </a:cubicBezTo>
                <a:cubicBezTo>
                  <a:pt x="62659" y="29308"/>
                  <a:pt x="65942" y="32591"/>
                  <a:pt x="65942" y="36635"/>
                </a:cubicBezTo>
                <a:cubicBezTo>
                  <a:pt x="65942" y="40678"/>
                  <a:pt x="62659" y="43962"/>
                  <a:pt x="58615" y="43962"/>
                </a:cubicBezTo>
                <a:cubicBezTo>
                  <a:pt x="54572" y="43962"/>
                  <a:pt x="51288" y="40678"/>
                  <a:pt x="51288" y="36635"/>
                </a:cubicBezTo>
                <a:close/>
                <a:moveTo>
                  <a:pt x="49457" y="51288"/>
                </a:moveTo>
                <a:lnTo>
                  <a:pt x="60447" y="51288"/>
                </a:lnTo>
                <a:cubicBezTo>
                  <a:pt x="63492" y="51288"/>
                  <a:pt x="65942" y="53738"/>
                  <a:pt x="65942" y="56784"/>
                </a:cubicBezTo>
                <a:lnTo>
                  <a:pt x="65942" y="76933"/>
                </a:lnTo>
                <a:lnTo>
                  <a:pt x="67774" y="76933"/>
                </a:lnTo>
                <a:cubicBezTo>
                  <a:pt x="70819" y="76933"/>
                  <a:pt x="73269" y="79383"/>
                  <a:pt x="73269" y="82428"/>
                </a:cubicBezTo>
                <a:cubicBezTo>
                  <a:pt x="73269" y="85473"/>
                  <a:pt x="70819" y="87923"/>
                  <a:pt x="67774" y="87923"/>
                </a:cubicBezTo>
                <a:lnTo>
                  <a:pt x="49457" y="87923"/>
                </a:lnTo>
                <a:cubicBezTo>
                  <a:pt x="46411" y="87923"/>
                  <a:pt x="43962" y="85473"/>
                  <a:pt x="43962" y="82428"/>
                </a:cubicBezTo>
                <a:cubicBezTo>
                  <a:pt x="43962" y="79383"/>
                  <a:pt x="46411" y="76933"/>
                  <a:pt x="49457" y="76933"/>
                </a:cubicBezTo>
                <a:lnTo>
                  <a:pt x="54952" y="76933"/>
                </a:lnTo>
                <a:lnTo>
                  <a:pt x="54952" y="62279"/>
                </a:lnTo>
                <a:lnTo>
                  <a:pt x="49457" y="62279"/>
                </a:lnTo>
                <a:cubicBezTo>
                  <a:pt x="46411" y="62279"/>
                  <a:pt x="43962" y="59829"/>
                  <a:pt x="43962" y="56784"/>
                </a:cubicBezTo>
                <a:cubicBezTo>
                  <a:pt x="43962" y="53738"/>
                  <a:pt x="46411" y="51288"/>
                  <a:pt x="49457" y="5128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48915" y="2934118"/>
            <a:ext cx="3151520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Simple, interpretable baseline for comparison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223657" y="1142163"/>
            <a:ext cx="3741336" cy="2552281"/>
          </a:xfrm>
          <a:custGeom>
            <a:avLst/>
            <a:gdLst/>
            <a:ahLst/>
            <a:cxnLst/>
            <a:rect l="l" t="t" r="r" b="b"/>
            <a:pathLst>
              <a:path w="3741336" h="2552281">
                <a:moveTo>
                  <a:pt x="66997" y="0"/>
                </a:moveTo>
                <a:lnTo>
                  <a:pt x="3674339" y="0"/>
                </a:lnTo>
                <a:cubicBezTo>
                  <a:pt x="3711341" y="0"/>
                  <a:pt x="3741336" y="29996"/>
                  <a:pt x="3741336" y="66997"/>
                </a:cubicBezTo>
                <a:lnTo>
                  <a:pt x="3741336" y="2485284"/>
                </a:lnTo>
                <a:cubicBezTo>
                  <a:pt x="3741336" y="2522286"/>
                  <a:pt x="3711341" y="2552281"/>
                  <a:pt x="3674339" y="2552281"/>
                </a:cubicBezTo>
                <a:lnTo>
                  <a:pt x="66997" y="2552281"/>
                </a:lnTo>
                <a:cubicBezTo>
                  <a:pt x="29996" y="2552281"/>
                  <a:pt x="0" y="2522286"/>
                  <a:pt x="0" y="2485284"/>
                </a:cubicBezTo>
                <a:lnTo>
                  <a:pt x="0" y="66997"/>
                </a:lnTo>
                <a:cubicBezTo>
                  <a:pt x="0" y="30021"/>
                  <a:pt x="30021" y="0"/>
                  <a:pt x="66997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40000"/>
                </a:srgbClr>
              </a:gs>
              <a:gs pos="100000">
                <a:srgbClr val="4A5568">
                  <a:alpha val="20000"/>
                </a:srgbClr>
              </a:gs>
            </a:gsLst>
            <a:lin ang="2700000" scaled="1"/>
          </a:gra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360985" y="1279493"/>
            <a:ext cx="401934" cy="401934"/>
          </a:xfrm>
          <a:custGeom>
            <a:avLst/>
            <a:gdLst/>
            <a:ahLst/>
            <a:cxnLst/>
            <a:rect l="l" t="t" r="r" b="b"/>
            <a:pathLst>
              <a:path w="401934" h="401934">
                <a:moveTo>
                  <a:pt x="66990" y="0"/>
                </a:moveTo>
                <a:lnTo>
                  <a:pt x="334944" y="0"/>
                </a:lnTo>
                <a:cubicBezTo>
                  <a:pt x="371941" y="0"/>
                  <a:pt x="401934" y="29993"/>
                  <a:pt x="401934" y="66990"/>
                </a:cubicBezTo>
                <a:lnTo>
                  <a:pt x="401934" y="334944"/>
                </a:lnTo>
                <a:cubicBezTo>
                  <a:pt x="401934" y="371941"/>
                  <a:pt x="371941" y="401934"/>
                  <a:pt x="334944" y="401934"/>
                </a:cubicBezTo>
                <a:lnTo>
                  <a:pt x="66990" y="401934"/>
                </a:lnTo>
                <a:cubicBezTo>
                  <a:pt x="29993" y="401934"/>
                  <a:pt x="0" y="371941"/>
                  <a:pt x="0" y="334944"/>
                </a:cubicBezTo>
                <a:lnTo>
                  <a:pt x="0" y="66990"/>
                </a:lnTo>
                <a:cubicBezTo>
                  <a:pt x="0" y="29993"/>
                  <a:pt x="29993" y="0"/>
                  <a:pt x="6699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461468" y="1379976"/>
            <a:ext cx="200967" cy="200967"/>
          </a:xfrm>
          <a:custGeom>
            <a:avLst/>
            <a:gdLst/>
            <a:ahLst/>
            <a:cxnLst/>
            <a:rect l="l" t="t" r="r" b="b"/>
            <a:pathLst>
              <a:path w="200967" h="200967">
                <a:moveTo>
                  <a:pt x="75363" y="25121"/>
                </a:moveTo>
                <a:cubicBezTo>
                  <a:pt x="75363" y="18173"/>
                  <a:pt x="80976" y="12560"/>
                  <a:pt x="87923" y="12560"/>
                </a:cubicBezTo>
                <a:lnTo>
                  <a:pt x="113044" y="12560"/>
                </a:lnTo>
                <a:cubicBezTo>
                  <a:pt x="119991" y="12560"/>
                  <a:pt x="125604" y="18173"/>
                  <a:pt x="125604" y="25121"/>
                </a:cubicBezTo>
                <a:lnTo>
                  <a:pt x="125604" y="50242"/>
                </a:lnTo>
                <a:cubicBezTo>
                  <a:pt x="125604" y="57189"/>
                  <a:pt x="119991" y="62802"/>
                  <a:pt x="113044" y="62802"/>
                </a:cubicBezTo>
                <a:lnTo>
                  <a:pt x="109904" y="62802"/>
                </a:lnTo>
                <a:lnTo>
                  <a:pt x="109904" y="87923"/>
                </a:lnTo>
                <a:lnTo>
                  <a:pt x="157005" y="87923"/>
                </a:lnTo>
                <a:cubicBezTo>
                  <a:pt x="172628" y="87923"/>
                  <a:pt x="185266" y="100562"/>
                  <a:pt x="185266" y="116184"/>
                </a:cubicBezTo>
                <a:lnTo>
                  <a:pt x="185266" y="138165"/>
                </a:lnTo>
                <a:lnTo>
                  <a:pt x="188407" y="138165"/>
                </a:lnTo>
                <a:cubicBezTo>
                  <a:pt x="195354" y="138165"/>
                  <a:pt x="200967" y="143778"/>
                  <a:pt x="200967" y="150725"/>
                </a:cubicBezTo>
                <a:lnTo>
                  <a:pt x="200967" y="175846"/>
                </a:lnTo>
                <a:cubicBezTo>
                  <a:pt x="200967" y="182794"/>
                  <a:pt x="195354" y="188407"/>
                  <a:pt x="188407" y="188407"/>
                </a:cubicBezTo>
                <a:lnTo>
                  <a:pt x="163286" y="188407"/>
                </a:lnTo>
                <a:cubicBezTo>
                  <a:pt x="156338" y="188407"/>
                  <a:pt x="150725" y="182794"/>
                  <a:pt x="150725" y="175846"/>
                </a:cubicBezTo>
                <a:lnTo>
                  <a:pt x="150725" y="150725"/>
                </a:lnTo>
                <a:cubicBezTo>
                  <a:pt x="150725" y="143778"/>
                  <a:pt x="156338" y="138165"/>
                  <a:pt x="163286" y="138165"/>
                </a:cubicBezTo>
                <a:lnTo>
                  <a:pt x="166426" y="138165"/>
                </a:lnTo>
                <a:lnTo>
                  <a:pt x="166426" y="116184"/>
                </a:lnTo>
                <a:cubicBezTo>
                  <a:pt x="166426" y="110964"/>
                  <a:pt x="162226" y="106764"/>
                  <a:pt x="157005" y="106764"/>
                </a:cubicBezTo>
                <a:lnTo>
                  <a:pt x="109904" y="106764"/>
                </a:lnTo>
                <a:lnTo>
                  <a:pt x="109904" y="138165"/>
                </a:lnTo>
                <a:lnTo>
                  <a:pt x="113044" y="138165"/>
                </a:lnTo>
                <a:cubicBezTo>
                  <a:pt x="119991" y="138165"/>
                  <a:pt x="125604" y="143778"/>
                  <a:pt x="125604" y="150725"/>
                </a:cubicBezTo>
                <a:lnTo>
                  <a:pt x="125604" y="175846"/>
                </a:lnTo>
                <a:cubicBezTo>
                  <a:pt x="125604" y="182794"/>
                  <a:pt x="119991" y="188407"/>
                  <a:pt x="113044" y="188407"/>
                </a:cubicBezTo>
                <a:lnTo>
                  <a:pt x="87923" y="188407"/>
                </a:lnTo>
                <a:cubicBezTo>
                  <a:pt x="80976" y="188407"/>
                  <a:pt x="75363" y="182794"/>
                  <a:pt x="75363" y="175846"/>
                </a:cubicBezTo>
                <a:lnTo>
                  <a:pt x="75363" y="150725"/>
                </a:lnTo>
                <a:cubicBezTo>
                  <a:pt x="75363" y="143778"/>
                  <a:pt x="80976" y="138165"/>
                  <a:pt x="87923" y="138165"/>
                </a:cubicBezTo>
                <a:lnTo>
                  <a:pt x="91063" y="138165"/>
                </a:lnTo>
                <a:lnTo>
                  <a:pt x="91063" y="106764"/>
                </a:lnTo>
                <a:lnTo>
                  <a:pt x="43962" y="106764"/>
                </a:lnTo>
                <a:cubicBezTo>
                  <a:pt x="38741" y="106764"/>
                  <a:pt x="34541" y="110964"/>
                  <a:pt x="34541" y="116184"/>
                </a:cubicBezTo>
                <a:lnTo>
                  <a:pt x="34541" y="138165"/>
                </a:lnTo>
                <a:lnTo>
                  <a:pt x="37681" y="138165"/>
                </a:lnTo>
                <a:cubicBezTo>
                  <a:pt x="44629" y="138165"/>
                  <a:pt x="50242" y="143778"/>
                  <a:pt x="50242" y="150725"/>
                </a:cubicBezTo>
                <a:lnTo>
                  <a:pt x="50242" y="175846"/>
                </a:lnTo>
                <a:cubicBezTo>
                  <a:pt x="50242" y="182794"/>
                  <a:pt x="44629" y="188407"/>
                  <a:pt x="37681" y="188407"/>
                </a:cubicBezTo>
                <a:lnTo>
                  <a:pt x="12560" y="188407"/>
                </a:lnTo>
                <a:cubicBezTo>
                  <a:pt x="5613" y="188407"/>
                  <a:pt x="0" y="182794"/>
                  <a:pt x="0" y="175846"/>
                </a:cubicBezTo>
                <a:lnTo>
                  <a:pt x="0" y="150725"/>
                </a:lnTo>
                <a:cubicBezTo>
                  <a:pt x="0" y="143778"/>
                  <a:pt x="5613" y="138165"/>
                  <a:pt x="12560" y="138165"/>
                </a:cubicBezTo>
                <a:lnTo>
                  <a:pt x="15701" y="138165"/>
                </a:lnTo>
                <a:lnTo>
                  <a:pt x="15701" y="116184"/>
                </a:lnTo>
                <a:cubicBezTo>
                  <a:pt x="15701" y="100562"/>
                  <a:pt x="28339" y="87923"/>
                  <a:pt x="43962" y="87923"/>
                </a:cubicBezTo>
                <a:lnTo>
                  <a:pt x="91063" y="87923"/>
                </a:lnTo>
                <a:lnTo>
                  <a:pt x="91063" y="62802"/>
                </a:lnTo>
                <a:lnTo>
                  <a:pt x="87923" y="62802"/>
                </a:lnTo>
                <a:cubicBezTo>
                  <a:pt x="80976" y="62802"/>
                  <a:pt x="75363" y="57189"/>
                  <a:pt x="75363" y="50242"/>
                </a:cubicBezTo>
                <a:lnTo>
                  <a:pt x="75363" y="25121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63402" y="1279493"/>
            <a:ext cx="1096945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Tree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63402" y="1513954"/>
            <a:ext cx="1071824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Interpretable Model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60985" y="2053216"/>
            <a:ext cx="3466681" cy="6699"/>
          </a:xfrm>
          <a:custGeom>
            <a:avLst/>
            <a:gdLst/>
            <a:ahLst/>
            <a:cxnLst/>
            <a:rect l="l" t="t" r="r" b="b"/>
            <a:pathLst>
              <a:path w="3466681" h="6699">
                <a:moveTo>
                  <a:pt x="0" y="0"/>
                </a:moveTo>
                <a:lnTo>
                  <a:pt x="3466681" y="0"/>
                </a:lnTo>
                <a:lnTo>
                  <a:pt x="3466681" y="6699"/>
                </a:lnTo>
                <a:lnTo>
                  <a:pt x="0" y="6699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360985" y="1815405"/>
            <a:ext cx="720132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max_depth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757118" y="1815405"/>
            <a:ext cx="142352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60985" y="2394858"/>
            <a:ext cx="3466681" cy="6699"/>
          </a:xfrm>
          <a:custGeom>
            <a:avLst/>
            <a:gdLst/>
            <a:ahLst/>
            <a:cxnLst/>
            <a:rect l="l" t="t" r="r" b="b"/>
            <a:pathLst>
              <a:path w="3466681" h="6699">
                <a:moveTo>
                  <a:pt x="0" y="0"/>
                </a:moveTo>
                <a:lnTo>
                  <a:pt x="3466681" y="0"/>
                </a:lnTo>
                <a:lnTo>
                  <a:pt x="3466681" y="6699"/>
                </a:lnTo>
                <a:lnTo>
                  <a:pt x="0" y="6699"/>
                </a:lnTo>
                <a:lnTo>
                  <a:pt x="0" y="0"/>
                </a:ln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360985" y="2157047"/>
            <a:ext cx="862484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random_state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94735" y="2157047"/>
            <a:ext cx="200967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360985" y="2498689"/>
            <a:ext cx="535912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78580" y="2498689"/>
            <a:ext cx="921099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Interpretability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60985" y="2833634"/>
            <a:ext cx="3466681" cy="368440"/>
          </a:xfrm>
          <a:custGeom>
            <a:avLst/>
            <a:gdLst/>
            <a:ahLst/>
            <a:cxnLst/>
            <a:rect l="l" t="t" r="r" b="b"/>
            <a:pathLst>
              <a:path w="3466681" h="368440">
                <a:moveTo>
                  <a:pt x="33495" y="0"/>
                </a:moveTo>
                <a:lnTo>
                  <a:pt x="3433186" y="0"/>
                </a:lnTo>
                <a:cubicBezTo>
                  <a:pt x="3451673" y="0"/>
                  <a:pt x="3466681" y="15009"/>
                  <a:pt x="3466681" y="33495"/>
                </a:cubicBezTo>
                <a:lnTo>
                  <a:pt x="3466681" y="334945"/>
                </a:lnTo>
                <a:cubicBezTo>
                  <a:pt x="3466681" y="353431"/>
                  <a:pt x="3451673" y="368440"/>
                  <a:pt x="3433186" y="368440"/>
                </a:cubicBezTo>
                <a:lnTo>
                  <a:pt x="33495" y="368440"/>
                </a:lnTo>
                <a:cubicBezTo>
                  <a:pt x="15009" y="368440"/>
                  <a:pt x="0" y="353431"/>
                  <a:pt x="0" y="334945"/>
                </a:cubicBezTo>
                <a:lnTo>
                  <a:pt x="0" y="33495"/>
                </a:lnTo>
                <a:cubicBezTo>
                  <a:pt x="0" y="15009"/>
                  <a:pt x="15009" y="0"/>
                  <a:pt x="33495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478215" y="2954218"/>
            <a:ext cx="117231" cy="117231"/>
          </a:xfrm>
          <a:custGeom>
            <a:avLst/>
            <a:gdLst/>
            <a:ahLst/>
            <a:cxnLst/>
            <a:rect l="l" t="t" r="r" b="b"/>
            <a:pathLst>
              <a:path w="117231" h="117231">
                <a:moveTo>
                  <a:pt x="58615" y="117231"/>
                </a:moveTo>
                <a:cubicBezTo>
                  <a:pt x="90966" y="117231"/>
                  <a:pt x="117231" y="90966"/>
                  <a:pt x="117231" y="58615"/>
                </a:cubicBezTo>
                <a:cubicBezTo>
                  <a:pt x="117231" y="26265"/>
                  <a:pt x="90966" y="0"/>
                  <a:pt x="58615" y="0"/>
                </a:cubicBezTo>
                <a:cubicBezTo>
                  <a:pt x="26265" y="0"/>
                  <a:pt x="0" y="26265"/>
                  <a:pt x="0" y="58615"/>
                </a:cubicBezTo>
                <a:cubicBezTo>
                  <a:pt x="0" y="90966"/>
                  <a:pt x="26265" y="117231"/>
                  <a:pt x="58615" y="117231"/>
                </a:cubicBezTo>
                <a:close/>
                <a:moveTo>
                  <a:pt x="51288" y="36635"/>
                </a:moveTo>
                <a:cubicBezTo>
                  <a:pt x="51288" y="32591"/>
                  <a:pt x="54572" y="29308"/>
                  <a:pt x="58615" y="29308"/>
                </a:cubicBezTo>
                <a:cubicBezTo>
                  <a:pt x="62659" y="29308"/>
                  <a:pt x="65942" y="32591"/>
                  <a:pt x="65942" y="36635"/>
                </a:cubicBezTo>
                <a:cubicBezTo>
                  <a:pt x="65942" y="40678"/>
                  <a:pt x="62659" y="43962"/>
                  <a:pt x="58615" y="43962"/>
                </a:cubicBezTo>
                <a:cubicBezTo>
                  <a:pt x="54572" y="43962"/>
                  <a:pt x="51288" y="40678"/>
                  <a:pt x="51288" y="36635"/>
                </a:cubicBezTo>
                <a:close/>
                <a:moveTo>
                  <a:pt x="49457" y="51288"/>
                </a:moveTo>
                <a:lnTo>
                  <a:pt x="60447" y="51288"/>
                </a:lnTo>
                <a:cubicBezTo>
                  <a:pt x="63492" y="51288"/>
                  <a:pt x="65942" y="53738"/>
                  <a:pt x="65942" y="56784"/>
                </a:cubicBezTo>
                <a:lnTo>
                  <a:pt x="65942" y="76933"/>
                </a:lnTo>
                <a:lnTo>
                  <a:pt x="67774" y="76933"/>
                </a:lnTo>
                <a:cubicBezTo>
                  <a:pt x="70819" y="76933"/>
                  <a:pt x="73269" y="79383"/>
                  <a:pt x="73269" y="82428"/>
                </a:cubicBezTo>
                <a:cubicBezTo>
                  <a:pt x="73269" y="85473"/>
                  <a:pt x="70819" y="87923"/>
                  <a:pt x="67774" y="87923"/>
                </a:cubicBezTo>
                <a:lnTo>
                  <a:pt x="49457" y="87923"/>
                </a:lnTo>
                <a:cubicBezTo>
                  <a:pt x="46411" y="87923"/>
                  <a:pt x="43962" y="85473"/>
                  <a:pt x="43962" y="82428"/>
                </a:cubicBezTo>
                <a:cubicBezTo>
                  <a:pt x="43962" y="79383"/>
                  <a:pt x="46411" y="76933"/>
                  <a:pt x="49457" y="76933"/>
                </a:cubicBezTo>
                <a:lnTo>
                  <a:pt x="54952" y="76933"/>
                </a:lnTo>
                <a:lnTo>
                  <a:pt x="54952" y="62279"/>
                </a:lnTo>
                <a:lnTo>
                  <a:pt x="49457" y="62279"/>
                </a:lnTo>
                <a:cubicBezTo>
                  <a:pt x="46411" y="62279"/>
                  <a:pt x="43962" y="59829"/>
                  <a:pt x="43962" y="56784"/>
                </a:cubicBezTo>
                <a:cubicBezTo>
                  <a:pt x="43962" y="53738"/>
                  <a:pt x="46411" y="51288"/>
                  <a:pt x="49457" y="51288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634278" y="2934118"/>
            <a:ext cx="3151520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Captures non-linear relationships, easy to explain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12369" y="1145512"/>
            <a:ext cx="3739662" cy="2542233"/>
          </a:xfrm>
          <a:custGeom>
            <a:avLst/>
            <a:gdLst/>
            <a:ahLst/>
            <a:cxnLst/>
            <a:rect l="l" t="t" r="r" b="b"/>
            <a:pathLst>
              <a:path w="3739662" h="2542233">
                <a:moveTo>
                  <a:pt x="66988" y="0"/>
                </a:moveTo>
                <a:lnTo>
                  <a:pt x="3672674" y="0"/>
                </a:lnTo>
                <a:cubicBezTo>
                  <a:pt x="3709670" y="0"/>
                  <a:pt x="3739662" y="29991"/>
                  <a:pt x="3739662" y="66988"/>
                </a:cubicBezTo>
                <a:lnTo>
                  <a:pt x="3739662" y="2475245"/>
                </a:lnTo>
                <a:cubicBezTo>
                  <a:pt x="3739662" y="2512241"/>
                  <a:pt x="3709670" y="2542233"/>
                  <a:pt x="3672674" y="2542233"/>
                </a:cubicBezTo>
                <a:lnTo>
                  <a:pt x="66988" y="2542233"/>
                </a:lnTo>
                <a:cubicBezTo>
                  <a:pt x="29991" y="2542233"/>
                  <a:pt x="0" y="2512241"/>
                  <a:pt x="0" y="2475245"/>
                </a:cubicBezTo>
                <a:lnTo>
                  <a:pt x="0" y="66988"/>
                </a:lnTo>
                <a:cubicBezTo>
                  <a:pt x="0" y="29991"/>
                  <a:pt x="29991" y="0"/>
                  <a:pt x="66988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2032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8253046" y="1286190"/>
            <a:ext cx="401934" cy="401934"/>
          </a:xfrm>
          <a:custGeom>
            <a:avLst/>
            <a:gdLst/>
            <a:ahLst/>
            <a:cxnLst/>
            <a:rect l="l" t="t" r="r" b="b"/>
            <a:pathLst>
              <a:path w="401934" h="401934">
                <a:moveTo>
                  <a:pt x="66990" y="0"/>
                </a:moveTo>
                <a:lnTo>
                  <a:pt x="334944" y="0"/>
                </a:lnTo>
                <a:cubicBezTo>
                  <a:pt x="371941" y="0"/>
                  <a:pt x="401934" y="29993"/>
                  <a:pt x="401934" y="66990"/>
                </a:cubicBezTo>
                <a:lnTo>
                  <a:pt x="401934" y="334944"/>
                </a:lnTo>
                <a:cubicBezTo>
                  <a:pt x="401934" y="371941"/>
                  <a:pt x="371941" y="401934"/>
                  <a:pt x="334944" y="401934"/>
                </a:cubicBezTo>
                <a:lnTo>
                  <a:pt x="66990" y="401934"/>
                </a:lnTo>
                <a:cubicBezTo>
                  <a:pt x="29993" y="401934"/>
                  <a:pt x="0" y="371941"/>
                  <a:pt x="0" y="334944"/>
                </a:cubicBezTo>
                <a:lnTo>
                  <a:pt x="0" y="66990"/>
                </a:lnTo>
                <a:cubicBezTo>
                  <a:pt x="0" y="29993"/>
                  <a:pt x="29993" y="0"/>
                  <a:pt x="6699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8366090" y="1386673"/>
            <a:ext cx="175846" cy="200967"/>
          </a:xfrm>
          <a:custGeom>
            <a:avLst/>
            <a:gdLst/>
            <a:ahLst/>
            <a:cxnLst/>
            <a:rect l="l" t="t" r="r" b="b"/>
            <a:pathLst>
              <a:path w="175846" h="200967">
                <a:moveTo>
                  <a:pt x="87923" y="-12560"/>
                </a:moveTo>
                <a:cubicBezTo>
                  <a:pt x="90671" y="-12560"/>
                  <a:pt x="93301" y="-11344"/>
                  <a:pt x="95106" y="-9224"/>
                </a:cubicBezTo>
                <a:lnTo>
                  <a:pt x="148488" y="53578"/>
                </a:lnTo>
                <a:cubicBezTo>
                  <a:pt x="150882" y="56365"/>
                  <a:pt x="151393" y="60290"/>
                  <a:pt x="149862" y="63626"/>
                </a:cubicBezTo>
                <a:cubicBezTo>
                  <a:pt x="148331" y="66963"/>
                  <a:pt x="144995" y="69082"/>
                  <a:pt x="141305" y="69082"/>
                </a:cubicBezTo>
                <a:lnTo>
                  <a:pt x="131531" y="69082"/>
                </a:lnTo>
                <a:lnTo>
                  <a:pt x="161048" y="103820"/>
                </a:lnTo>
                <a:cubicBezTo>
                  <a:pt x="163443" y="106607"/>
                  <a:pt x="163953" y="110532"/>
                  <a:pt x="162422" y="113868"/>
                </a:cubicBezTo>
                <a:cubicBezTo>
                  <a:pt x="160891" y="117205"/>
                  <a:pt x="157555" y="119324"/>
                  <a:pt x="153865" y="119324"/>
                </a:cubicBezTo>
                <a:lnTo>
                  <a:pt x="138754" y="119324"/>
                </a:lnTo>
                <a:lnTo>
                  <a:pt x="173609" y="160342"/>
                </a:lnTo>
                <a:cubicBezTo>
                  <a:pt x="176003" y="163129"/>
                  <a:pt x="176513" y="167054"/>
                  <a:pt x="174983" y="170390"/>
                </a:cubicBezTo>
                <a:cubicBezTo>
                  <a:pt x="173452" y="173727"/>
                  <a:pt x="170115" y="175846"/>
                  <a:pt x="166426" y="175846"/>
                </a:cubicBezTo>
                <a:lnTo>
                  <a:pt x="100484" y="175846"/>
                </a:lnTo>
                <a:lnTo>
                  <a:pt x="100484" y="200967"/>
                </a:lnTo>
                <a:cubicBezTo>
                  <a:pt x="100484" y="207915"/>
                  <a:pt x="94871" y="213527"/>
                  <a:pt x="87923" y="213527"/>
                </a:cubicBezTo>
                <a:cubicBezTo>
                  <a:pt x="80976" y="213527"/>
                  <a:pt x="75363" y="207915"/>
                  <a:pt x="75363" y="200967"/>
                </a:cubicBezTo>
                <a:lnTo>
                  <a:pt x="75363" y="175846"/>
                </a:lnTo>
                <a:lnTo>
                  <a:pt x="9420" y="175846"/>
                </a:lnTo>
                <a:cubicBezTo>
                  <a:pt x="5731" y="175846"/>
                  <a:pt x="2394" y="173727"/>
                  <a:pt x="864" y="170390"/>
                </a:cubicBezTo>
                <a:cubicBezTo>
                  <a:pt x="-667" y="167054"/>
                  <a:pt x="-157" y="163129"/>
                  <a:pt x="2237" y="160342"/>
                </a:cubicBezTo>
                <a:lnTo>
                  <a:pt x="37093" y="119324"/>
                </a:lnTo>
                <a:lnTo>
                  <a:pt x="21981" y="119324"/>
                </a:lnTo>
                <a:cubicBezTo>
                  <a:pt x="18291" y="119324"/>
                  <a:pt x="14955" y="117205"/>
                  <a:pt x="13424" y="113868"/>
                </a:cubicBezTo>
                <a:cubicBezTo>
                  <a:pt x="11893" y="110532"/>
                  <a:pt x="12403" y="106607"/>
                  <a:pt x="14798" y="103820"/>
                </a:cubicBezTo>
                <a:lnTo>
                  <a:pt x="44315" y="69082"/>
                </a:lnTo>
                <a:lnTo>
                  <a:pt x="34541" y="69082"/>
                </a:lnTo>
                <a:cubicBezTo>
                  <a:pt x="30852" y="69082"/>
                  <a:pt x="27515" y="66963"/>
                  <a:pt x="25984" y="63626"/>
                </a:cubicBezTo>
                <a:cubicBezTo>
                  <a:pt x="24454" y="60290"/>
                  <a:pt x="24964" y="56365"/>
                  <a:pt x="27358" y="53578"/>
                </a:cubicBezTo>
                <a:lnTo>
                  <a:pt x="80740" y="-9224"/>
                </a:lnTo>
                <a:cubicBezTo>
                  <a:pt x="82546" y="-11344"/>
                  <a:pt x="85175" y="-12560"/>
                  <a:pt x="87923" y="-1256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755464" y="1286190"/>
            <a:ext cx="1205802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755464" y="1520651"/>
            <a:ext cx="1180681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Model ★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253046" y="2059913"/>
            <a:ext cx="3458308" cy="6699"/>
          </a:xfrm>
          <a:custGeom>
            <a:avLst/>
            <a:gdLst/>
            <a:ahLst/>
            <a:cxnLst/>
            <a:rect l="l" t="t" r="r" b="b"/>
            <a:pathLst>
              <a:path w="3458308" h="6699">
                <a:moveTo>
                  <a:pt x="0" y="0"/>
                </a:moveTo>
                <a:lnTo>
                  <a:pt x="3458308" y="0"/>
                </a:lnTo>
                <a:lnTo>
                  <a:pt x="3458308" y="6699"/>
                </a:lnTo>
                <a:lnTo>
                  <a:pt x="0" y="6699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253046" y="1822102"/>
            <a:ext cx="812242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n_estimators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554453" y="1822102"/>
            <a:ext cx="226088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253046" y="2401555"/>
            <a:ext cx="3458308" cy="6699"/>
          </a:xfrm>
          <a:custGeom>
            <a:avLst/>
            <a:gdLst/>
            <a:ahLst/>
            <a:cxnLst/>
            <a:rect l="l" t="t" r="r" b="b"/>
            <a:pathLst>
              <a:path w="3458308" h="6699">
                <a:moveTo>
                  <a:pt x="0" y="0"/>
                </a:moveTo>
                <a:lnTo>
                  <a:pt x="3458308" y="0"/>
                </a:lnTo>
                <a:lnTo>
                  <a:pt x="3458308" y="6699"/>
                </a:lnTo>
                <a:lnTo>
                  <a:pt x="0" y="6699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8253046" y="2163744"/>
            <a:ext cx="720132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max_depth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634840" y="2163744"/>
            <a:ext cx="142352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53046" y="2743202"/>
            <a:ext cx="3458308" cy="6699"/>
          </a:xfrm>
          <a:custGeom>
            <a:avLst/>
            <a:gdLst/>
            <a:ahLst/>
            <a:cxnLst/>
            <a:rect l="l" t="t" r="r" b="b"/>
            <a:pathLst>
              <a:path w="3458308" h="6699">
                <a:moveTo>
                  <a:pt x="0" y="0"/>
                </a:moveTo>
                <a:lnTo>
                  <a:pt x="3458308" y="0"/>
                </a:lnTo>
                <a:lnTo>
                  <a:pt x="3458308" y="6699"/>
                </a:lnTo>
                <a:lnTo>
                  <a:pt x="0" y="6699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8253046" y="2505391"/>
            <a:ext cx="443802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n_jobs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004201" y="2505391"/>
            <a:ext cx="770374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-1 (all cores)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253046" y="2847033"/>
            <a:ext cx="535912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Purpose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689667" y="2847033"/>
            <a:ext cx="1088571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Performance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53046" y="3181978"/>
            <a:ext cx="3458308" cy="368440"/>
          </a:xfrm>
          <a:custGeom>
            <a:avLst/>
            <a:gdLst/>
            <a:ahLst/>
            <a:cxnLst/>
            <a:rect l="l" t="t" r="r" b="b"/>
            <a:pathLst>
              <a:path w="3458308" h="368440">
                <a:moveTo>
                  <a:pt x="33495" y="0"/>
                </a:moveTo>
                <a:lnTo>
                  <a:pt x="3424813" y="0"/>
                </a:lnTo>
                <a:cubicBezTo>
                  <a:pt x="3443299" y="0"/>
                  <a:pt x="3458308" y="15009"/>
                  <a:pt x="3458308" y="33495"/>
                </a:cubicBezTo>
                <a:lnTo>
                  <a:pt x="3458308" y="334945"/>
                </a:lnTo>
                <a:cubicBezTo>
                  <a:pt x="3458308" y="353431"/>
                  <a:pt x="3443299" y="368440"/>
                  <a:pt x="3424813" y="368440"/>
                </a:cubicBezTo>
                <a:lnTo>
                  <a:pt x="33495" y="368440"/>
                </a:lnTo>
                <a:cubicBezTo>
                  <a:pt x="15009" y="368440"/>
                  <a:pt x="0" y="353431"/>
                  <a:pt x="0" y="334945"/>
                </a:cubicBezTo>
                <a:lnTo>
                  <a:pt x="0" y="33495"/>
                </a:lnTo>
                <a:cubicBezTo>
                  <a:pt x="0" y="15009"/>
                  <a:pt x="15009" y="0"/>
                  <a:pt x="33495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8370277" y="3302557"/>
            <a:ext cx="117231" cy="117231"/>
          </a:xfrm>
          <a:custGeom>
            <a:avLst/>
            <a:gdLst/>
            <a:ahLst/>
            <a:cxnLst/>
            <a:rect l="l" t="t" r="r" b="b"/>
            <a:pathLst>
              <a:path w="117231" h="117231">
                <a:moveTo>
                  <a:pt x="33040" y="0"/>
                </a:moveTo>
                <a:lnTo>
                  <a:pt x="84328" y="0"/>
                </a:lnTo>
                <a:cubicBezTo>
                  <a:pt x="90396" y="0"/>
                  <a:pt x="95342" y="4991"/>
                  <a:pt x="95113" y="11036"/>
                </a:cubicBezTo>
                <a:cubicBezTo>
                  <a:pt x="95067" y="12250"/>
                  <a:pt x="95021" y="13463"/>
                  <a:pt x="94952" y="14654"/>
                </a:cubicBezTo>
                <a:lnTo>
                  <a:pt x="106309" y="14654"/>
                </a:lnTo>
                <a:cubicBezTo>
                  <a:pt x="112285" y="14654"/>
                  <a:pt x="117551" y="19600"/>
                  <a:pt x="117093" y="26056"/>
                </a:cubicBezTo>
                <a:cubicBezTo>
                  <a:pt x="115376" y="49800"/>
                  <a:pt x="103241" y="62851"/>
                  <a:pt x="90075" y="69674"/>
                </a:cubicBezTo>
                <a:cubicBezTo>
                  <a:pt x="86458" y="71552"/>
                  <a:pt x="82771" y="72949"/>
                  <a:pt x="79268" y="73979"/>
                </a:cubicBezTo>
                <a:cubicBezTo>
                  <a:pt x="74643" y="80527"/>
                  <a:pt x="69835" y="83985"/>
                  <a:pt x="66011" y="85839"/>
                </a:cubicBezTo>
                <a:lnTo>
                  <a:pt x="66011" y="102577"/>
                </a:lnTo>
                <a:lnTo>
                  <a:pt x="80665" y="102577"/>
                </a:lnTo>
                <a:cubicBezTo>
                  <a:pt x="84718" y="102577"/>
                  <a:pt x="87992" y="105851"/>
                  <a:pt x="87992" y="109904"/>
                </a:cubicBezTo>
                <a:cubicBezTo>
                  <a:pt x="87992" y="113957"/>
                  <a:pt x="84718" y="117231"/>
                  <a:pt x="80665" y="117231"/>
                </a:cubicBezTo>
                <a:lnTo>
                  <a:pt x="36703" y="117231"/>
                </a:lnTo>
                <a:cubicBezTo>
                  <a:pt x="32651" y="117231"/>
                  <a:pt x="29376" y="113957"/>
                  <a:pt x="29376" y="109904"/>
                </a:cubicBezTo>
                <a:cubicBezTo>
                  <a:pt x="29376" y="105851"/>
                  <a:pt x="32651" y="102577"/>
                  <a:pt x="36703" y="102577"/>
                </a:cubicBezTo>
                <a:lnTo>
                  <a:pt x="51357" y="102577"/>
                </a:lnTo>
                <a:lnTo>
                  <a:pt x="51357" y="85839"/>
                </a:lnTo>
                <a:cubicBezTo>
                  <a:pt x="47694" y="84076"/>
                  <a:pt x="43137" y="80802"/>
                  <a:pt x="38695" y="74780"/>
                </a:cubicBezTo>
                <a:cubicBezTo>
                  <a:pt x="34482" y="73681"/>
                  <a:pt x="29903" y="72010"/>
                  <a:pt x="25438" y="69491"/>
                </a:cubicBezTo>
                <a:cubicBezTo>
                  <a:pt x="13051" y="62554"/>
                  <a:pt x="1878" y="49480"/>
                  <a:pt x="275" y="26011"/>
                </a:cubicBezTo>
                <a:cubicBezTo>
                  <a:pt x="-160" y="19577"/>
                  <a:pt x="5083" y="14631"/>
                  <a:pt x="11059" y="14631"/>
                </a:cubicBezTo>
                <a:lnTo>
                  <a:pt x="22416" y="14631"/>
                </a:lnTo>
                <a:cubicBezTo>
                  <a:pt x="22347" y="13440"/>
                  <a:pt x="22301" y="12250"/>
                  <a:pt x="22256" y="11013"/>
                </a:cubicBezTo>
                <a:cubicBezTo>
                  <a:pt x="22027" y="4946"/>
                  <a:pt x="26972" y="-23"/>
                  <a:pt x="33040" y="-23"/>
                </a:cubicBezTo>
                <a:close/>
                <a:moveTo>
                  <a:pt x="23240" y="25644"/>
                </a:moveTo>
                <a:lnTo>
                  <a:pt x="11242" y="25644"/>
                </a:lnTo>
                <a:cubicBezTo>
                  <a:pt x="12662" y="45038"/>
                  <a:pt x="21569" y="54746"/>
                  <a:pt x="30750" y="59898"/>
                </a:cubicBezTo>
                <a:cubicBezTo>
                  <a:pt x="27453" y="51357"/>
                  <a:pt x="24728" y="40206"/>
                  <a:pt x="23240" y="25644"/>
                </a:cubicBezTo>
                <a:close/>
                <a:moveTo>
                  <a:pt x="87007" y="58799"/>
                </a:moveTo>
                <a:cubicBezTo>
                  <a:pt x="96280" y="53349"/>
                  <a:pt x="104661" y="43664"/>
                  <a:pt x="106080" y="25644"/>
                </a:cubicBezTo>
                <a:lnTo>
                  <a:pt x="94105" y="25644"/>
                </a:lnTo>
                <a:cubicBezTo>
                  <a:pt x="92686" y="39588"/>
                  <a:pt x="90121" y="50418"/>
                  <a:pt x="87007" y="58799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8526340" y="3282462"/>
            <a:ext cx="3143146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Expected winner:</a:t>
            </a:r>
            <a:r>
              <a:rPr lang="en-US" sz="923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Ensemble + engineered features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38295" y="3835122"/>
            <a:ext cx="5684018" cy="3021204"/>
          </a:xfrm>
          <a:custGeom>
            <a:avLst/>
            <a:gdLst/>
            <a:ahLst/>
            <a:cxnLst/>
            <a:rect l="l" t="t" r="r" b="b"/>
            <a:pathLst>
              <a:path w="5684018" h="3021204">
                <a:moveTo>
                  <a:pt x="66980" y="0"/>
                </a:moveTo>
                <a:lnTo>
                  <a:pt x="5617037" y="0"/>
                </a:lnTo>
                <a:cubicBezTo>
                  <a:pt x="5654030" y="0"/>
                  <a:pt x="5684018" y="29988"/>
                  <a:pt x="5684018" y="66980"/>
                </a:cubicBezTo>
                <a:lnTo>
                  <a:pt x="5684018" y="2954224"/>
                </a:lnTo>
                <a:cubicBezTo>
                  <a:pt x="5684018" y="2991216"/>
                  <a:pt x="5654030" y="3021204"/>
                  <a:pt x="5617037" y="3021204"/>
                </a:cubicBezTo>
                <a:lnTo>
                  <a:pt x="66980" y="3021204"/>
                </a:lnTo>
                <a:cubicBezTo>
                  <a:pt x="29988" y="3021204"/>
                  <a:pt x="0" y="2991216"/>
                  <a:pt x="0" y="2954224"/>
                </a:cubicBezTo>
                <a:lnTo>
                  <a:pt x="0" y="66980"/>
                </a:lnTo>
                <a:cubicBezTo>
                  <a:pt x="0" y="29988"/>
                  <a:pt x="29988" y="0"/>
                  <a:pt x="6698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96556" y="4005942"/>
            <a:ext cx="167473" cy="167473"/>
          </a:xfrm>
          <a:custGeom>
            <a:avLst/>
            <a:gdLst/>
            <a:ahLst/>
            <a:cxnLst/>
            <a:rect l="l" t="t" r="r" b="b"/>
            <a:pathLst>
              <a:path w="167473" h="167473">
                <a:moveTo>
                  <a:pt x="0" y="23551"/>
                </a:moveTo>
                <a:cubicBezTo>
                  <a:pt x="0" y="19233"/>
                  <a:pt x="3500" y="15701"/>
                  <a:pt x="7850" y="15701"/>
                </a:cubicBezTo>
                <a:lnTo>
                  <a:pt x="23551" y="15701"/>
                </a:lnTo>
                <a:cubicBezTo>
                  <a:pt x="27901" y="15701"/>
                  <a:pt x="31401" y="19200"/>
                  <a:pt x="31401" y="23551"/>
                </a:cubicBezTo>
                <a:lnTo>
                  <a:pt x="31401" y="57569"/>
                </a:lnTo>
                <a:lnTo>
                  <a:pt x="39251" y="57569"/>
                </a:lnTo>
                <a:cubicBezTo>
                  <a:pt x="43602" y="57569"/>
                  <a:pt x="47102" y="61069"/>
                  <a:pt x="47102" y="65419"/>
                </a:cubicBezTo>
                <a:cubicBezTo>
                  <a:pt x="47102" y="69769"/>
                  <a:pt x="43602" y="73269"/>
                  <a:pt x="39251" y="73269"/>
                </a:cubicBezTo>
                <a:lnTo>
                  <a:pt x="7850" y="73269"/>
                </a:lnTo>
                <a:cubicBezTo>
                  <a:pt x="3500" y="73269"/>
                  <a:pt x="0" y="69769"/>
                  <a:pt x="0" y="65419"/>
                </a:cubicBezTo>
                <a:cubicBezTo>
                  <a:pt x="0" y="61069"/>
                  <a:pt x="3500" y="57569"/>
                  <a:pt x="7850" y="57569"/>
                </a:cubicBezTo>
                <a:lnTo>
                  <a:pt x="15701" y="57569"/>
                </a:lnTo>
                <a:lnTo>
                  <a:pt x="15701" y="31401"/>
                </a:lnTo>
                <a:lnTo>
                  <a:pt x="7850" y="31401"/>
                </a:lnTo>
                <a:cubicBezTo>
                  <a:pt x="3500" y="31401"/>
                  <a:pt x="0" y="27901"/>
                  <a:pt x="0" y="23551"/>
                </a:cubicBezTo>
                <a:close/>
                <a:moveTo>
                  <a:pt x="9944" y="98521"/>
                </a:moveTo>
                <a:cubicBezTo>
                  <a:pt x="13673" y="95708"/>
                  <a:pt x="18219" y="94203"/>
                  <a:pt x="22897" y="94203"/>
                </a:cubicBezTo>
                <a:lnTo>
                  <a:pt x="24499" y="94203"/>
                </a:lnTo>
                <a:cubicBezTo>
                  <a:pt x="35522" y="94203"/>
                  <a:pt x="44485" y="103166"/>
                  <a:pt x="44485" y="114189"/>
                </a:cubicBezTo>
                <a:cubicBezTo>
                  <a:pt x="44485" y="120600"/>
                  <a:pt x="41410" y="126586"/>
                  <a:pt x="36242" y="130347"/>
                </a:cubicBezTo>
                <a:lnTo>
                  <a:pt x="28392" y="136071"/>
                </a:lnTo>
                <a:lnTo>
                  <a:pt x="39251" y="136071"/>
                </a:lnTo>
                <a:cubicBezTo>
                  <a:pt x="43602" y="136071"/>
                  <a:pt x="47102" y="139571"/>
                  <a:pt x="47102" y="143922"/>
                </a:cubicBezTo>
                <a:cubicBezTo>
                  <a:pt x="47102" y="148272"/>
                  <a:pt x="43602" y="151772"/>
                  <a:pt x="39251" y="151772"/>
                </a:cubicBezTo>
                <a:lnTo>
                  <a:pt x="9584" y="151772"/>
                </a:lnTo>
                <a:cubicBezTo>
                  <a:pt x="4285" y="151772"/>
                  <a:pt x="0" y="147487"/>
                  <a:pt x="0" y="142188"/>
                </a:cubicBezTo>
                <a:cubicBezTo>
                  <a:pt x="0" y="139113"/>
                  <a:pt x="1472" y="136235"/>
                  <a:pt x="3958" y="134436"/>
                </a:cubicBezTo>
                <a:lnTo>
                  <a:pt x="27018" y="117656"/>
                </a:lnTo>
                <a:cubicBezTo>
                  <a:pt x="28130" y="116838"/>
                  <a:pt x="28784" y="115563"/>
                  <a:pt x="28784" y="114189"/>
                </a:cubicBezTo>
                <a:cubicBezTo>
                  <a:pt x="28784" y="111834"/>
                  <a:pt x="26854" y="109904"/>
                  <a:pt x="24499" y="109904"/>
                </a:cubicBezTo>
                <a:lnTo>
                  <a:pt x="22897" y="109904"/>
                </a:lnTo>
                <a:cubicBezTo>
                  <a:pt x="21621" y="109904"/>
                  <a:pt x="20378" y="110329"/>
                  <a:pt x="19364" y="111081"/>
                </a:cubicBezTo>
                <a:lnTo>
                  <a:pt x="12560" y="116184"/>
                </a:lnTo>
                <a:cubicBezTo>
                  <a:pt x="9093" y="118801"/>
                  <a:pt x="4187" y="118081"/>
                  <a:pt x="1570" y="114614"/>
                </a:cubicBezTo>
                <a:cubicBezTo>
                  <a:pt x="-1047" y="111147"/>
                  <a:pt x="-327" y="106240"/>
                  <a:pt x="3140" y="103624"/>
                </a:cubicBezTo>
                <a:lnTo>
                  <a:pt x="9944" y="98521"/>
                </a:lnTo>
                <a:close/>
                <a:moveTo>
                  <a:pt x="73269" y="20934"/>
                </a:moveTo>
                <a:lnTo>
                  <a:pt x="157005" y="20934"/>
                </a:lnTo>
                <a:cubicBezTo>
                  <a:pt x="162795" y="20934"/>
                  <a:pt x="167473" y="25612"/>
                  <a:pt x="167473" y="31401"/>
                </a:cubicBezTo>
                <a:cubicBezTo>
                  <a:pt x="167473" y="37191"/>
                  <a:pt x="162795" y="41868"/>
                  <a:pt x="157005" y="41868"/>
                </a:cubicBezTo>
                <a:lnTo>
                  <a:pt x="73269" y="41868"/>
                </a:lnTo>
                <a:cubicBezTo>
                  <a:pt x="67480" y="41868"/>
                  <a:pt x="62802" y="37191"/>
                  <a:pt x="62802" y="31401"/>
                </a:cubicBezTo>
                <a:cubicBezTo>
                  <a:pt x="62802" y="25612"/>
                  <a:pt x="67480" y="20934"/>
                  <a:pt x="73269" y="20934"/>
                </a:cubicBezTo>
                <a:close/>
                <a:moveTo>
                  <a:pt x="73269" y="73269"/>
                </a:moveTo>
                <a:lnTo>
                  <a:pt x="157005" y="73269"/>
                </a:lnTo>
                <a:cubicBezTo>
                  <a:pt x="162795" y="73269"/>
                  <a:pt x="167473" y="77947"/>
                  <a:pt x="167473" y="83736"/>
                </a:cubicBezTo>
                <a:cubicBezTo>
                  <a:pt x="167473" y="89526"/>
                  <a:pt x="162795" y="94203"/>
                  <a:pt x="157005" y="94203"/>
                </a:cubicBezTo>
                <a:lnTo>
                  <a:pt x="73269" y="94203"/>
                </a:lnTo>
                <a:cubicBezTo>
                  <a:pt x="67480" y="94203"/>
                  <a:pt x="62802" y="89526"/>
                  <a:pt x="62802" y="83736"/>
                </a:cubicBezTo>
                <a:cubicBezTo>
                  <a:pt x="62802" y="77947"/>
                  <a:pt x="67480" y="73269"/>
                  <a:pt x="73269" y="73269"/>
                </a:cubicBezTo>
                <a:close/>
                <a:moveTo>
                  <a:pt x="73269" y="125604"/>
                </a:moveTo>
                <a:lnTo>
                  <a:pt x="157005" y="125604"/>
                </a:lnTo>
                <a:cubicBezTo>
                  <a:pt x="162795" y="125604"/>
                  <a:pt x="167473" y="130282"/>
                  <a:pt x="167473" y="136071"/>
                </a:cubicBezTo>
                <a:cubicBezTo>
                  <a:pt x="167473" y="141861"/>
                  <a:pt x="162795" y="146538"/>
                  <a:pt x="157005" y="146538"/>
                </a:cubicBezTo>
                <a:lnTo>
                  <a:pt x="73269" y="146538"/>
                </a:lnTo>
                <a:cubicBezTo>
                  <a:pt x="67480" y="146538"/>
                  <a:pt x="62802" y="141861"/>
                  <a:pt x="62802" y="136071"/>
                </a:cubicBezTo>
                <a:cubicBezTo>
                  <a:pt x="62802" y="130282"/>
                  <a:pt x="67480" y="125604"/>
                  <a:pt x="73269" y="125604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84963" y="3972448"/>
            <a:ext cx="5283758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Set for ML Module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75622" y="4307393"/>
            <a:ext cx="2671187" cy="502418"/>
          </a:xfrm>
          <a:custGeom>
            <a:avLst/>
            <a:gdLst/>
            <a:ahLst/>
            <a:cxnLst/>
            <a:rect l="l" t="t" r="r" b="b"/>
            <a:pathLst>
              <a:path w="2671187" h="502418">
                <a:moveTo>
                  <a:pt x="33496" y="0"/>
                </a:moveTo>
                <a:lnTo>
                  <a:pt x="2637691" y="0"/>
                </a:lnTo>
                <a:cubicBezTo>
                  <a:pt x="2656190" y="0"/>
                  <a:pt x="2671187" y="14997"/>
                  <a:pt x="2671187" y="33496"/>
                </a:cubicBezTo>
                <a:lnTo>
                  <a:pt x="2671187" y="468921"/>
                </a:lnTo>
                <a:cubicBezTo>
                  <a:pt x="2671187" y="487421"/>
                  <a:pt x="2656190" y="502418"/>
                  <a:pt x="2637691" y="502418"/>
                </a:cubicBezTo>
                <a:lnTo>
                  <a:pt x="33496" y="502418"/>
                </a:lnTo>
                <a:cubicBezTo>
                  <a:pt x="14997" y="502418"/>
                  <a:pt x="0" y="487421"/>
                  <a:pt x="0" y="468921"/>
                </a:cubicBezTo>
                <a:lnTo>
                  <a:pt x="0" y="33496"/>
                </a:lnTo>
                <a:cubicBezTo>
                  <a:pt x="0" y="15009"/>
                  <a:pt x="15009" y="0"/>
                  <a:pt x="3349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542611" y="4374382"/>
            <a:ext cx="2595824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Temporal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542611" y="4541854"/>
            <a:ext cx="2604198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hour, dayofweek, month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215473" y="4307393"/>
            <a:ext cx="2671187" cy="502418"/>
          </a:xfrm>
          <a:custGeom>
            <a:avLst/>
            <a:gdLst/>
            <a:ahLst/>
            <a:cxnLst/>
            <a:rect l="l" t="t" r="r" b="b"/>
            <a:pathLst>
              <a:path w="2671187" h="502418">
                <a:moveTo>
                  <a:pt x="33496" y="0"/>
                </a:moveTo>
                <a:lnTo>
                  <a:pt x="2637691" y="0"/>
                </a:lnTo>
                <a:cubicBezTo>
                  <a:pt x="2656190" y="0"/>
                  <a:pt x="2671187" y="14997"/>
                  <a:pt x="2671187" y="33496"/>
                </a:cubicBezTo>
                <a:lnTo>
                  <a:pt x="2671187" y="468921"/>
                </a:lnTo>
                <a:cubicBezTo>
                  <a:pt x="2671187" y="487421"/>
                  <a:pt x="2656190" y="502418"/>
                  <a:pt x="2637691" y="502418"/>
                </a:cubicBezTo>
                <a:lnTo>
                  <a:pt x="33496" y="502418"/>
                </a:lnTo>
                <a:cubicBezTo>
                  <a:pt x="14997" y="502418"/>
                  <a:pt x="0" y="487421"/>
                  <a:pt x="0" y="468921"/>
                </a:cubicBezTo>
                <a:lnTo>
                  <a:pt x="0" y="33496"/>
                </a:lnTo>
                <a:cubicBezTo>
                  <a:pt x="0" y="15009"/>
                  <a:pt x="15009" y="0"/>
                  <a:pt x="3349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3282462" y="4374382"/>
            <a:ext cx="2595824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Calendar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3282462" y="4541854"/>
            <a:ext cx="2604198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dayofmonth, is_weekend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75622" y="4876799"/>
            <a:ext cx="2671187" cy="502418"/>
          </a:xfrm>
          <a:custGeom>
            <a:avLst/>
            <a:gdLst/>
            <a:ahLst/>
            <a:cxnLst/>
            <a:rect l="l" t="t" r="r" b="b"/>
            <a:pathLst>
              <a:path w="2671187" h="502418">
                <a:moveTo>
                  <a:pt x="33496" y="0"/>
                </a:moveTo>
                <a:lnTo>
                  <a:pt x="2637691" y="0"/>
                </a:lnTo>
                <a:cubicBezTo>
                  <a:pt x="2656190" y="0"/>
                  <a:pt x="2671187" y="14997"/>
                  <a:pt x="2671187" y="33496"/>
                </a:cubicBezTo>
                <a:lnTo>
                  <a:pt x="2671187" y="468921"/>
                </a:lnTo>
                <a:cubicBezTo>
                  <a:pt x="2671187" y="487421"/>
                  <a:pt x="2656190" y="502418"/>
                  <a:pt x="2637691" y="502418"/>
                </a:cubicBezTo>
                <a:lnTo>
                  <a:pt x="33496" y="502418"/>
                </a:lnTo>
                <a:cubicBezTo>
                  <a:pt x="14997" y="502418"/>
                  <a:pt x="0" y="487421"/>
                  <a:pt x="0" y="468921"/>
                </a:cubicBezTo>
                <a:lnTo>
                  <a:pt x="0" y="33496"/>
                </a:lnTo>
                <a:cubicBezTo>
                  <a:pt x="0" y="15009"/>
                  <a:pt x="15009" y="0"/>
                  <a:pt x="3349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542611" y="4943788"/>
            <a:ext cx="2595824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Lag Features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542611" y="5111261"/>
            <a:ext cx="2604198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lag_1, lag_2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3215473" y="4876799"/>
            <a:ext cx="2671187" cy="502418"/>
          </a:xfrm>
          <a:custGeom>
            <a:avLst/>
            <a:gdLst/>
            <a:ahLst/>
            <a:cxnLst/>
            <a:rect l="l" t="t" r="r" b="b"/>
            <a:pathLst>
              <a:path w="2671187" h="502418">
                <a:moveTo>
                  <a:pt x="33496" y="0"/>
                </a:moveTo>
                <a:lnTo>
                  <a:pt x="2637691" y="0"/>
                </a:lnTo>
                <a:cubicBezTo>
                  <a:pt x="2656190" y="0"/>
                  <a:pt x="2671187" y="14997"/>
                  <a:pt x="2671187" y="33496"/>
                </a:cubicBezTo>
                <a:lnTo>
                  <a:pt x="2671187" y="468921"/>
                </a:lnTo>
                <a:cubicBezTo>
                  <a:pt x="2671187" y="487421"/>
                  <a:pt x="2656190" y="502418"/>
                  <a:pt x="2637691" y="502418"/>
                </a:cubicBezTo>
                <a:lnTo>
                  <a:pt x="33496" y="502418"/>
                </a:lnTo>
                <a:cubicBezTo>
                  <a:pt x="14997" y="502418"/>
                  <a:pt x="0" y="487421"/>
                  <a:pt x="0" y="468921"/>
                </a:cubicBezTo>
                <a:lnTo>
                  <a:pt x="0" y="33496"/>
                </a:lnTo>
                <a:cubicBezTo>
                  <a:pt x="0" y="15009"/>
                  <a:pt x="15009" y="0"/>
                  <a:pt x="3349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3282462" y="4943788"/>
            <a:ext cx="2595824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Rolling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3282462" y="5111261"/>
            <a:ext cx="2604198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rolling_mean_10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475622" y="5446206"/>
            <a:ext cx="2671187" cy="502418"/>
          </a:xfrm>
          <a:custGeom>
            <a:avLst/>
            <a:gdLst/>
            <a:ahLst/>
            <a:cxnLst/>
            <a:rect l="l" t="t" r="r" b="b"/>
            <a:pathLst>
              <a:path w="2671187" h="502418">
                <a:moveTo>
                  <a:pt x="33496" y="0"/>
                </a:moveTo>
                <a:lnTo>
                  <a:pt x="2637691" y="0"/>
                </a:lnTo>
                <a:cubicBezTo>
                  <a:pt x="2656190" y="0"/>
                  <a:pt x="2671187" y="14997"/>
                  <a:pt x="2671187" y="33496"/>
                </a:cubicBezTo>
                <a:lnTo>
                  <a:pt x="2671187" y="468921"/>
                </a:lnTo>
                <a:cubicBezTo>
                  <a:pt x="2671187" y="487421"/>
                  <a:pt x="2656190" y="502418"/>
                  <a:pt x="2637691" y="502418"/>
                </a:cubicBezTo>
                <a:lnTo>
                  <a:pt x="33496" y="502418"/>
                </a:lnTo>
                <a:cubicBezTo>
                  <a:pt x="14997" y="502418"/>
                  <a:pt x="0" y="487421"/>
                  <a:pt x="0" y="468921"/>
                </a:cubicBezTo>
                <a:lnTo>
                  <a:pt x="0" y="33496"/>
                </a:lnTo>
                <a:cubicBezTo>
                  <a:pt x="0" y="15009"/>
                  <a:pt x="15009" y="0"/>
                  <a:pt x="3349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542611" y="5513195"/>
            <a:ext cx="2595824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Electrical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542611" y="5680667"/>
            <a:ext cx="2604198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Voltage, Global_intensity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3215473" y="5446206"/>
            <a:ext cx="2671187" cy="502418"/>
          </a:xfrm>
          <a:custGeom>
            <a:avLst/>
            <a:gdLst/>
            <a:ahLst/>
            <a:cxnLst/>
            <a:rect l="l" t="t" r="r" b="b"/>
            <a:pathLst>
              <a:path w="2671187" h="502418">
                <a:moveTo>
                  <a:pt x="33496" y="0"/>
                </a:moveTo>
                <a:lnTo>
                  <a:pt x="2637691" y="0"/>
                </a:lnTo>
                <a:cubicBezTo>
                  <a:pt x="2656190" y="0"/>
                  <a:pt x="2671187" y="14997"/>
                  <a:pt x="2671187" y="33496"/>
                </a:cubicBezTo>
                <a:lnTo>
                  <a:pt x="2671187" y="468921"/>
                </a:lnTo>
                <a:cubicBezTo>
                  <a:pt x="2671187" y="487421"/>
                  <a:pt x="2656190" y="502418"/>
                  <a:pt x="2637691" y="502418"/>
                </a:cubicBezTo>
                <a:lnTo>
                  <a:pt x="33496" y="502418"/>
                </a:lnTo>
                <a:cubicBezTo>
                  <a:pt x="14997" y="502418"/>
                  <a:pt x="0" y="487421"/>
                  <a:pt x="0" y="468921"/>
                </a:cubicBezTo>
                <a:lnTo>
                  <a:pt x="0" y="33496"/>
                </a:lnTo>
                <a:cubicBezTo>
                  <a:pt x="0" y="15009"/>
                  <a:pt x="15009" y="0"/>
                  <a:pt x="3349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3282462" y="5513195"/>
            <a:ext cx="2595824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Sub-metering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3282462" y="5680667"/>
            <a:ext cx="2604198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Sub_metering_1/2/3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166338" y="3835122"/>
            <a:ext cx="5684018" cy="3021204"/>
          </a:xfrm>
          <a:custGeom>
            <a:avLst/>
            <a:gdLst/>
            <a:ahLst/>
            <a:cxnLst/>
            <a:rect l="l" t="t" r="r" b="b"/>
            <a:pathLst>
              <a:path w="5684018" h="3021204">
                <a:moveTo>
                  <a:pt x="66980" y="0"/>
                </a:moveTo>
                <a:lnTo>
                  <a:pt x="5617037" y="0"/>
                </a:lnTo>
                <a:cubicBezTo>
                  <a:pt x="5654030" y="0"/>
                  <a:pt x="5684018" y="29988"/>
                  <a:pt x="5684018" y="66980"/>
                </a:cubicBezTo>
                <a:lnTo>
                  <a:pt x="5684018" y="2954224"/>
                </a:lnTo>
                <a:cubicBezTo>
                  <a:pt x="5684018" y="2991216"/>
                  <a:pt x="5654030" y="3021204"/>
                  <a:pt x="5617037" y="3021204"/>
                </a:cubicBezTo>
                <a:lnTo>
                  <a:pt x="66980" y="3021204"/>
                </a:lnTo>
                <a:cubicBezTo>
                  <a:pt x="29988" y="3021204"/>
                  <a:pt x="0" y="2991216"/>
                  <a:pt x="0" y="2954224"/>
                </a:cubicBezTo>
                <a:lnTo>
                  <a:pt x="0" y="66980"/>
                </a:lnTo>
                <a:cubicBezTo>
                  <a:pt x="0" y="29988"/>
                  <a:pt x="29988" y="0"/>
                  <a:pt x="6698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6324600" y="4005942"/>
            <a:ext cx="167473" cy="167473"/>
          </a:xfrm>
          <a:custGeom>
            <a:avLst/>
            <a:gdLst/>
            <a:ahLst/>
            <a:cxnLst/>
            <a:rect l="l" t="t" r="r" b="b"/>
            <a:pathLst>
              <a:path w="167473" h="167473">
                <a:moveTo>
                  <a:pt x="0" y="26168"/>
                </a:moveTo>
                <a:cubicBezTo>
                  <a:pt x="0" y="17500"/>
                  <a:pt x="7033" y="10467"/>
                  <a:pt x="15701" y="10467"/>
                </a:cubicBezTo>
                <a:lnTo>
                  <a:pt x="47102" y="10467"/>
                </a:lnTo>
                <a:cubicBezTo>
                  <a:pt x="55770" y="10467"/>
                  <a:pt x="62802" y="17500"/>
                  <a:pt x="62802" y="26168"/>
                </a:cubicBezTo>
                <a:lnTo>
                  <a:pt x="62802" y="31401"/>
                </a:lnTo>
                <a:lnTo>
                  <a:pt x="104670" y="31401"/>
                </a:lnTo>
                <a:lnTo>
                  <a:pt x="104670" y="26168"/>
                </a:lnTo>
                <a:cubicBezTo>
                  <a:pt x="104670" y="17500"/>
                  <a:pt x="111703" y="10467"/>
                  <a:pt x="120371" y="10467"/>
                </a:cubicBezTo>
                <a:lnTo>
                  <a:pt x="151772" y="10467"/>
                </a:lnTo>
                <a:cubicBezTo>
                  <a:pt x="160440" y="10467"/>
                  <a:pt x="167473" y="17500"/>
                  <a:pt x="167473" y="26168"/>
                </a:cubicBezTo>
                <a:lnTo>
                  <a:pt x="167473" y="57569"/>
                </a:lnTo>
                <a:cubicBezTo>
                  <a:pt x="167473" y="66237"/>
                  <a:pt x="160440" y="73269"/>
                  <a:pt x="151772" y="73269"/>
                </a:cubicBezTo>
                <a:lnTo>
                  <a:pt x="120371" y="73269"/>
                </a:lnTo>
                <a:cubicBezTo>
                  <a:pt x="111703" y="73269"/>
                  <a:pt x="104670" y="66237"/>
                  <a:pt x="104670" y="57569"/>
                </a:cubicBezTo>
                <a:lnTo>
                  <a:pt x="104670" y="52335"/>
                </a:lnTo>
                <a:lnTo>
                  <a:pt x="62802" y="52335"/>
                </a:lnTo>
                <a:lnTo>
                  <a:pt x="62802" y="57569"/>
                </a:lnTo>
                <a:cubicBezTo>
                  <a:pt x="62802" y="59956"/>
                  <a:pt x="62246" y="62246"/>
                  <a:pt x="61298" y="64274"/>
                </a:cubicBezTo>
                <a:lnTo>
                  <a:pt x="83736" y="94203"/>
                </a:lnTo>
                <a:lnTo>
                  <a:pt x="109904" y="94203"/>
                </a:lnTo>
                <a:cubicBezTo>
                  <a:pt x="118572" y="94203"/>
                  <a:pt x="125604" y="101236"/>
                  <a:pt x="125604" y="109904"/>
                </a:cubicBezTo>
                <a:lnTo>
                  <a:pt x="125604" y="141305"/>
                </a:lnTo>
                <a:cubicBezTo>
                  <a:pt x="125604" y="149973"/>
                  <a:pt x="118572" y="157005"/>
                  <a:pt x="109904" y="157005"/>
                </a:cubicBezTo>
                <a:lnTo>
                  <a:pt x="78503" y="157005"/>
                </a:lnTo>
                <a:cubicBezTo>
                  <a:pt x="69835" y="157005"/>
                  <a:pt x="62802" y="149973"/>
                  <a:pt x="62802" y="141305"/>
                </a:cubicBezTo>
                <a:lnTo>
                  <a:pt x="62802" y="109904"/>
                </a:lnTo>
                <a:cubicBezTo>
                  <a:pt x="62802" y="107516"/>
                  <a:pt x="63358" y="105226"/>
                  <a:pt x="64307" y="103198"/>
                </a:cubicBezTo>
                <a:lnTo>
                  <a:pt x="41868" y="73269"/>
                </a:lnTo>
                <a:lnTo>
                  <a:pt x="15701" y="73269"/>
                </a:lnTo>
                <a:cubicBezTo>
                  <a:pt x="7033" y="73269"/>
                  <a:pt x="0" y="66237"/>
                  <a:pt x="0" y="57569"/>
                </a:cubicBezTo>
                <a:lnTo>
                  <a:pt x="0" y="26168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6513006" y="3972448"/>
            <a:ext cx="5283758" cy="234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9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Workflow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303666" y="4307393"/>
            <a:ext cx="267956" cy="267956"/>
          </a:xfrm>
          <a:custGeom>
            <a:avLst/>
            <a:gdLst/>
            <a:ahLst/>
            <a:cxnLst/>
            <a:rect l="l" t="t" r="r" b="b"/>
            <a:pathLst>
              <a:path w="267956" h="267956">
                <a:moveTo>
                  <a:pt x="33495" y="0"/>
                </a:moveTo>
                <a:lnTo>
                  <a:pt x="234462" y="0"/>
                </a:lnTo>
                <a:cubicBezTo>
                  <a:pt x="252960" y="0"/>
                  <a:pt x="267956" y="14996"/>
                  <a:pt x="267956" y="33495"/>
                </a:cubicBezTo>
                <a:lnTo>
                  <a:pt x="267956" y="234462"/>
                </a:lnTo>
                <a:cubicBezTo>
                  <a:pt x="267956" y="252960"/>
                  <a:pt x="252960" y="267956"/>
                  <a:pt x="234462" y="267956"/>
                </a:cubicBezTo>
                <a:lnTo>
                  <a:pt x="33495" y="267956"/>
                </a:lnTo>
                <a:cubicBezTo>
                  <a:pt x="14996" y="267956"/>
                  <a:pt x="0" y="252960"/>
                  <a:pt x="0" y="234462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6419013" y="4357634"/>
            <a:ext cx="92110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6638611" y="4340887"/>
            <a:ext cx="1858945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Sensor Data</a:t>
            </a:r>
            <a:r>
              <a:rPr lang="en-US" sz="105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(UCI Dataset)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6437644" y="4642338"/>
            <a:ext cx="16747" cy="133978"/>
          </a:xfrm>
          <a:custGeom>
            <a:avLst/>
            <a:gdLst/>
            <a:ahLst/>
            <a:cxnLst/>
            <a:rect l="l" t="t" r="r" b="b"/>
            <a:pathLst>
              <a:path w="16747" h="133978">
                <a:moveTo>
                  <a:pt x="0" y="0"/>
                </a:moveTo>
                <a:lnTo>
                  <a:pt x="16747" y="0"/>
                </a:lnTo>
                <a:lnTo>
                  <a:pt x="16747" y="133978"/>
                </a:lnTo>
                <a:lnTo>
                  <a:pt x="0" y="133978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6303666" y="4843305"/>
            <a:ext cx="267956" cy="267956"/>
          </a:xfrm>
          <a:custGeom>
            <a:avLst/>
            <a:gdLst/>
            <a:ahLst/>
            <a:cxnLst/>
            <a:rect l="l" t="t" r="r" b="b"/>
            <a:pathLst>
              <a:path w="267956" h="267956">
                <a:moveTo>
                  <a:pt x="33495" y="0"/>
                </a:moveTo>
                <a:lnTo>
                  <a:pt x="234462" y="0"/>
                </a:lnTo>
                <a:cubicBezTo>
                  <a:pt x="252960" y="0"/>
                  <a:pt x="267956" y="14996"/>
                  <a:pt x="267956" y="33495"/>
                </a:cubicBezTo>
                <a:lnTo>
                  <a:pt x="267956" y="234462"/>
                </a:lnTo>
                <a:cubicBezTo>
                  <a:pt x="267956" y="252960"/>
                  <a:pt x="252960" y="267956"/>
                  <a:pt x="234462" y="267956"/>
                </a:cubicBezTo>
                <a:lnTo>
                  <a:pt x="33495" y="267956"/>
                </a:lnTo>
                <a:cubicBezTo>
                  <a:pt x="14996" y="267956"/>
                  <a:pt x="0" y="252960"/>
                  <a:pt x="0" y="234462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6407709" y="4893546"/>
            <a:ext cx="117231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6638611" y="4876799"/>
            <a:ext cx="2888901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Preprocessing Pipeline</a:t>
            </a:r>
            <a:r>
              <a:rPr lang="en-US" sz="105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(Validation → Imputation)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6437644" y="5178250"/>
            <a:ext cx="16747" cy="133978"/>
          </a:xfrm>
          <a:custGeom>
            <a:avLst/>
            <a:gdLst/>
            <a:ahLst/>
            <a:cxnLst/>
            <a:rect l="l" t="t" r="r" b="b"/>
            <a:pathLst>
              <a:path w="16747" h="133978">
                <a:moveTo>
                  <a:pt x="0" y="0"/>
                </a:moveTo>
                <a:lnTo>
                  <a:pt x="16747" y="0"/>
                </a:lnTo>
                <a:lnTo>
                  <a:pt x="16747" y="133978"/>
                </a:lnTo>
                <a:lnTo>
                  <a:pt x="0" y="133978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6303666" y="5379217"/>
            <a:ext cx="267956" cy="267956"/>
          </a:xfrm>
          <a:custGeom>
            <a:avLst/>
            <a:gdLst/>
            <a:ahLst/>
            <a:cxnLst/>
            <a:rect l="l" t="t" r="r" b="b"/>
            <a:pathLst>
              <a:path w="267956" h="267956">
                <a:moveTo>
                  <a:pt x="33495" y="0"/>
                </a:moveTo>
                <a:lnTo>
                  <a:pt x="234462" y="0"/>
                </a:lnTo>
                <a:cubicBezTo>
                  <a:pt x="252960" y="0"/>
                  <a:pt x="267956" y="14996"/>
                  <a:pt x="267956" y="33495"/>
                </a:cubicBezTo>
                <a:lnTo>
                  <a:pt x="267956" y="234462"/>
                </a:lnTo>
                <a:cubicBezTo>
                  <a:pt x="267956" y="252960"/>
                  <a:pt x="252960" y="267956"/>
                  <a:pt x="234462" y="267956"/>
                </a:cubicBezTo>
                <a:lnTo>
                  <a:pt x="33495" y="267956"/>
                </a:lnTo>
                <a:cubicBezTo>
                  <a:pt x="14996" y="267956"/>
                  <a:pt x="0" y="252960"/>
                  <a:pt x="0" y="234462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6406243" y="5429459"/>
            <a:ext cx="125604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6638611" y="5412711"/>
            <a:ext cx="2620945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</a:t>
            </a:r>
            <a:r>
              <a:rPr lang="en-US" sz="105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(Cyclical + Lag + Rolling)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6437644" y="5714162"/>
            <a:ext cx="16747" cy="133978"/>
          </a:xfrm>
          <a:custGeom>
            <a:avLst/>
            <a:gdLst/>
            <a:ahLst/>
            <a:cxnLst/>
            <a:rect l="l" t="t" r="r" b="b"/>
            <a:pathLst>
              <a:path w="16747" h="133978">
                <a:moveTo>
                  <a:pt x="0" y="0"/>
                </a:moveTo>
                <a:lnTo>
                  <a:pt x="16747" y="0"/>
                </a:lnTo>
                <a:lnTo>
                  <a:pt x="16747" y="133978"/>
                </a:lnTo>
                <a:lnTo>
                  <a:pt x="0" y="133978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6303666" y="5915129"/>
            <a:ext cx="267956" cy="267956"/>
          </a:xfrm>
          <a:custGeom>
            <a:avLst/>
            <a:gdLst/>
            <a:ahLst/>
            <a:cxnLst/>
            <a:rect l="l" t="t" r="r" b="b"/>
            <a:pathLst>
              <a:path w="267956" h="267956">
                <a:moveTo>
                  <a:pt x="33495" y="0"/>
                </a:moveTo>
                <a:lnTo>
                  <a:pt x="234462" y="0"/>
                </a:lnTo>
                <a:cubicBezTo>
                  <a:pt x="252960" y="0"/>
                  <a:pt x="267956" y="14996"/>
                  <a:pt x="267956" y="33495"/>
                </a:cubicBezTo>
                <a:lnTo>
                  <a:pt x="267956" y="234462"/>
                </a:lnTo>
                <a:cubicBezTo>
                  <a:pt x="267956" y="252960"/>
                  <a:pt x="252960" y="267956"/>
                  <a:pt x="234462" y="267956"/>
                </a:cubicBezTo>
                <a:lnTo>
                  <a:pt x="33495" y="267956"/>
                </a:lnTo>
                <a:cubicBezTo>
                  <a:pt x="14996" y="267956"/>
                  <a:pt x="0" y="252960"/>
                  <a:pt x="0" y="234462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6407813" y="5965371"/>
            <a:ext cx="117231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93" name="Text 91"/>
          <p:cNvSpPr/>
          <p:nvPr/>
        </p:nvSpPr>
        <p:spPr>
          <a:xfrm>
            <a:off x="6638611" y="5948623"/>
            <a:ext cx="2386484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Training</a:t>
            </a:r>
            <a:r>
              <a:rPr lang="en-US" sz="105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(3 algorithms compared)</a:t>
            </a:r>
            <a:endParaRPr lang="en-US" sz="1600" dirty="0"/>
          </a:p>
        </p:txBody>
      </p:sp>
      <p:sp>
        <p:nvSpPr>
          <p:cNvPr id="94" name="Shape 92"/>
          <p:cNvSpPr/>
          <p:nvPr/>
        </p:nvSpPr>
        <p:spPr>
          <a:xfrm>
            <a:off x="6437644" y="6250074"/>
            <a:ext cx="16747" cy="133978"/>
          </a:xfrm>
          <a:custGeom>
            <a:avLst/>
            <a:gdLst/>
            <a:ahLst/>
            <a:cxnLst/>
            <a:rect l="l" t="t" r="r" b="b"/>
            <a:pathLst>
              <a:path w="16747" h="133978">
                <a:moveTo>
                  <a:pt x="0" y="0"/>
                </a:moveTo>
                <a:lnTo>
                  <a:pt x="16747" y="0"/>
                </a:lnTo>
                <a:lnTo>
                  <a:pt x="16747" y="133978"/>
                </a:lnTo>
                <a:lnTo>
                  <a:pt x="0" y="133978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Shape 93"/>
          <p:cNvSpPr/>
          <p:nvPr/>
        </p:nvSpPr>
        <p:spPr>
          <a:xfrm>
            <a:off x="6303666" y="6451041"/>
            <a:ext cx="267956" cy="267956"/>
          </a:xfrm>
          <a:custGeom>
            <a:avLst/>
            <a:gdLst/>
            <a:ahLst/>
            <a:cxnLst/>
            <a:rect l="l" t="t" r="r" b="b"/>
            <a:pathLst>
              <a:path w="267956" h="267956">
                <a:moveTo>
                  <a:pt x="33495" y="0"/>
                </a:moveTo>
                <a:lnTo>
                  <a:pt x="234462" y="0"/>
                </a:lnTo>
                <a:cubicBezTo>
                  <a:pt x="252960" y="0"/>
                  <a:pt x="267956" y="14996"/>
                  <a:pt x="267956" y="33495"/>
                </a:cubicBezTo>
                <a:lnTo>
                  <a:pt x="267956" y="234462"/>
                </a:lnTo>
                <a:cubicBezTo>
                  <a:pt x="267956" y="252960"/>
                  <a:pt x="252960" y="267956"/>
                  <a:pt x="234462" y="267956"/>
                </a:cubicBezTo>
                <a:lnTo>
                  <a:pt x="33495" y="267956"/>
                </a:lnTo>
                <a:cubicBezTo>
                  <a:pt x="14996" y="267956"/>
                  <a:pt x="0" y="252960"/>
                  <a:pt x="0" y="234462"/>
                </a:cubicBezTo>
                <a:lnTo>
                  <a:pt x="0" y="33495"/>
                </a:lnTo>
                <a:cubicBezTo>
                  <a:pt x="0" y="15008"/>
                  <a:pt x="15008" y="0"/>
                  <a:pt x="33495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6406034" y="6501283"/>
            <a:ext cx="125604" cy="16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23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6638611" y="6484535"/>
            <a:ext cx="1917560" cy="200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5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Evaluation</a:t>
            </a:r>
            <a:r>
              <a:rPr lang="en-US" sz="105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(MAE, RMSE metrics)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Performance Comparison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675" y="1082675"/>
            <a:ext cx="5705475" cy="3467100"/>
          </a:xfrm>
          <a:custGeom>
            <a:avLst/>
            <a:gdLst/>
            <a:ahLst/>
            <a:cxnLst/>
            <a:rect l="l" t="t" r="r" b="b"/>
            <a:pathLst>
              <a:path w="5705475" h="3467100">
                <a:moveTo>
                  <a:pt x="63517" y="0"/>
                </a:moveTo>
                <a:lnTo>
                  <a:pt x="5641958" y="0"/>
                </a:lnTo>
                <a:cubicBezTo>
                  <a:pt x="5677037" y="0"/>
                  <a:pt x="5705475" y="28438"/>
                  <a:pt x="5705475" y="63517"/>
                </a:cubicBezTo>
                <a:lnTo>
                  <a:pt x="5705475" y="3403583"/>
                </a:lnTo>
                <a:cubicBezTo>
                  <a:pt x="5705475" y="3438662"/>
                  <a:pt x="5677037" y="3467100"/>
                  <a:pt x="5641958" y="3467100"/>
                </a:cubicBezTo>
                <a:lnTo>
                  <a:pt x="63517" y="3467100"/>
                </a:lnTo>
                <a:cubicBezTo>
                  <a:pt x="28438" y="3467100"/>
                  <a:pt x="0" y="3438662"/>
                  <a:pt x="0" y="3403583"/>
                </a:cubicBezTo>
                <a:lnTo>
                  <a:pt x="0" y="63517"/>
                </a:lnTo>
                <a:cubicBezTo>
                  <a:pt x="0" y="28438"/>
                  <a:pt x="28438" y="0"/>
                  <a:pt x="63517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70694" y="1244602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9922" y="9922"/>
                </a:moveTo>
                <a:cubicBezTo>
                  <a:pt x="15410" y="9922"/>
                  <a:pt x="19844" y="14356"/>
                  <a:pt x="19844" y="19844"/>
                </a:cubicBez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148828" y="128984"/>
                </a:lnTo>
                <a:cubicBezTo>
                  <a:pt x="154316" y="128984"/>
                  <a:pt x="158750" y="133418"/>
                  <a:pt x="158750" y="138906"/>
                </a:cubicBezTo>
                <a:cubicBezTo>
                  <a:pt x="158750" y="144394"/>
                  <a:pt x="154316" y="148828"/>
                  <a:pt x="148828" y="148828"/>
                </a:cubicBezTo>
                <a:lnTo>
                  <a:pt x="24805" y="148828"/>
                </a:lnTo>
                <a:cubicBezTo>
                  <a:pt x="11100" y="148828"/>
                  <a:pt x="0" y="137728"/>
                  <a:pt x="0" y="124023"/>
                </a:cubicBezTo>
                <a:lnTo>
                  <a:pt x="0" y="19844"/>
                </a:lnTo>
                <a:cubicBezTo>
                  <a:pt x="0" y="14356"/>
                  <a:pt x="4434" y="9922"/>
                  <a:pt x="9922" y="9922"/>
                </a:cubicBezTo>
                <a:close/>
                <a:moveTo>
                  <a:pt x="39688" y="29766"/>
                </a:moveTo>
                <a:cubicBezTo>
                  <a:pt x="39688" y="24278"/>
                  <a:pt x="44121" y="19844"/>
                  <a:pt x="49609" y="19844"/>
                </a:cubicBezTo>
                <a:lnTo>
                  <a:pt x="109141" y="19844"/>
                </a:lnTo>
                <a:cubicBezTo>
                  <a:pt x="114629" y="19844"/>
                  <a:pt x="119062" y="24278"/>
                  <a:pt x="119062" y="29766"/>
                </a:cubicBezTo>
                <a:cubicBezTo>
                  <a:pt x="119062" y="35254"/>
                  <a:pt x="114629" y="39688"/>
                  <a:pt x="109141" y="39688"/>
                </a:cubicBezTo>
                <a:lnTo>
                  <a:pt x="49609" y="39688"/>
                </a:lnTo>
                <a:cubicBezTo>
                  <a:pt x="44121" y="39688"/>
                  <a:pt x="39688" y="35254"/>
                  <a:pt x="39688" y="29766"/>
                </a:cubicBezTo>
                <a:close/>
                <a:moveTo>
                  <a:pt x="49609" y="54570"/>
                </a:moveTo>
                <a:lnTo>
                  <a:pt x="89297" y="54570"/>
                </a:lnTo>
                <a:cubicBezTo>
                  <a:pt x="94785" y="54570"/>
                  <a:pt x="99219" y="59004"/>
                  <a:pt x="99219" y="64492"/>
                </a:cubicBezTo>
                <a:cubicBezTo>
                  <a:pt x="99219" y="69980"/>
                  <a:pt x="94785" y="74414"/>
                  <a:pt x="89297" y="74414"/>
                </a:cubicBezTo>
                <a:lnTo>
                  <a:pt x="49609" y="74414"/>
                </a:lnTo>
                <a:cubicBezTo>
                  <a:pt x="44121" y="74414"/>
                  <a:pt x="39688" y="69980"/>
                  <a:pt x="39688" y="64492"/>
                </a:cubicBezTo>
                <a:cubicBezTo>
                  <a:pt x="39688" y="59004"/>
                  <a:pt x="44121" y="54570"/>
                  <a:pt x="49609" y="54570"/>
                </a:cubicBezTo>
                <a:close/>
                <a:moveTo>
                  <a:pt x="49609" y="89297"/>
                </a:moveTo>
                <a:lnTo>
                  <a:pt x="128984" y="89297"/>
                </a:lnTo>
                <a:cubicBezTo>
                  <a:pt x="134472" y="89297"/>
                  <a:pt x="138906" y="93731"/>
                  <a:pt x="138906" y="99219"/>
                </a:cubicBezTo>
                <a:cubicBezTo>
                  <a:pt x="138906" y="104707"/>
                  <a:pt x="134472" y="109141"/>
                  <a:pt x="128984" y="109141"/>
                </a:cubicBezTo>
                <a:lnTo>
                  <a:pt x="49609" y="109141"/>
                </a:lnTo>
                <a:cubicBezTo>
                  <a:pt x="44121" y="109141"/>
                  <a:pt x="39688" y="104707"/>
                  <a:pt x="39688" y="99219"/>
                </a:cubicBezTo>
                <a:cubicBezTo>
                  <a:pt x="39688" y="93731"/>
                  <a:pt x="44121" y="89297"/>
                  <a:pt x="49609" y="89297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49287" y="1212852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66725" y="1530352"/>
            <a:ext cx="5429250" cy="889000"/>
          </a:xfrm>
          <a:custGeom>
            <a:avLst/>
            <a:gdLst/>
            <a:ahLst/>
            <a:cxnLst/>
            <a:rect l="l" t="t" r="r" b="b"/>
            <a:pathLst>
              <a:path w="5429250" h="889000">
                <a:moveTo>
                  <a:pt x="31746" y="0"/>
                </a:moveTo>
                <a:lnTo>
                  <a:pt x="5397504" y="0"/>
                </a:lnTo>
                <a:cubicBezTo>
                  <a:pt x="5415037" y="0"/>
                  <a:pt x="5429250" y="14213"/>
                  <a:pt x="5429250" y="31746"/>
                </a:cubicBezTo>
                <a:lnTo>
                  <a:pt x="5429250" y="857254"/>
                </a:lnTo>
                <a:cubicBezTo>
                  <a:pt x="5429250" y="874787"/>
                  <a:pt x="5415037" y="889000"/>
                  <a:pt x="5397504" y="889000"/>
                </a:cubicBezTo>
                <a:lnTo>
                  <a:pt x="31746" y="889000"/>
                </a:lnTo>
                <a:cubicBezTo>
                  <a:pt x="14213" y="889000"/>
                  <a:pt x="0" y="874787"/>
                  <a:pt x="0" y="857254"/>
                </a:cubicBezTo>
                <a:lnTo>
                  <a:pt x="0" y="31746"/>
                </a:lnTo>
                <a:cubicBezTo>
                  <a:pt x="0" y="14225"/>
                  <a:pt x="14225" y="0"/>
                  <a:pt x="3174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66725" y="1530352"/>
            <a:ext cx="31750" cy="889000"/>
          </a:xfrm>
          <a:custGeom>
            <a:avLst/>
            <a:gdLst/>
            <a:ahLst/>
            <a:cxnLst/>
            <a:rect l="l" t="t" r="r" b="b"/>
            <a:pathLst>
              <a:path w="31750" h="889000">
                <a:moveTo>
                  <a:pt x="31750" y="0"/>
                </a:moveTo>
                <a:lnTo>
                  <a:pt x="31750" y="0"/>
                </a:lnTo>
                <a:lnTo>
                  <a:pt x="31750" y="889000"/>
                </a:lnTo>
                <a:lnTo>
                  <a:pt x="31750" y="889000"/>
                </a:lnTo>
                <a:cubicBezTo>
                  <a:pt x="14227" y="889000"/>
                  <a:pt x="0" y="874773"/>
                  <a:pt x="0" y="85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77850" y="1625602"/>
            <a:ext cx="119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83398" y="1625602"/>
            <a:ext cx="523875" cy="222250"/>
          </a:xfrm>
          <a:custGeom>
            <a:avLst/>
            <a:gdLst/>
            <a:ahLst/>
            <a:cxnLst/>
            <a:rect l="l" t="t" r="r" b="b"/>
            <a:pathLst>
              <a:path w="523875" h="222250">
                <a:moveTo>
                  <a:pt x="31751" y="0"/>
                </a:moveTo>
                <a:lnTo>
                  <a:pt x="492124" y="0"/>
                </a:lnTo>
                <a:cubicBezTo>
                  <a:pt x="509660" y="0"/>
                  <a:pt x="523875" y="14215"/>
                  <a:pt x="523875" y="31751"/>
                </a:cubicBezTo>
                <a:lnTo>
                  <a:pt x="523875" y="190499"/>
                </a:lnTo>
                <a:cubicBezTo>
                  <a:pt x="523875" y="208035"/>
                  <a:pt x="509660" y="222250"/>
                  <a:pt x="49212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A0AEC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283398" y="1625602"/>
            <a:ext cx="579438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Baseline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7850" y="1911352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7850" y="2070102"/>
            <a:ext cx="2659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~0.040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38500" y="1911352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38500" y="2070102"/>
            <a:ext cx="2659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~0.065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725" y="2514502"/>
            <a:ext cx="5429250" cy="889000"/>
          </a:xfrm>
          <a:custGeom>
            <a:avLst/>
            <a:gdLst/>
            <a:ahLst/>
            <a:cxnLst/>
            <a:rect l="l" t="t" r="r" b="b"/>
            <a:pathLst>
              <a:path w="5429250" h="889000">
                <a:moveTo>
                  <a:pt x="31746" y="0"/>
                </a:moveTo>
                <a:lnTo>
                  <a:pt x="5397504" y="0"/>
                </a:lnTo>
                <a:cubicBezTo>
                  <a:pt x="5415037" y="0"/>
                  <a:pt x="5429250" y="14213"/>
                  <a:pt x="5429250" y="31746"/>
                </a:cubicBezTo>
                <a:lnTo>
                  <a:pt x="5429250" y="857254"/>
                </a:lnTo>
                <a:cubicBezTo>
                  <a:pt x="5429250" y="874787"/>
                  <a:pt x="5415037" y="889000"/>
                  <a:pt x="5397504" y="889000"/>
                </a:cubicBezTo>
                <a:lnTo>
                  <a:pt x="31746" y="889000"/>
                </a:lnTo>
                <a:cubicBezTo>
                  <a:pt x="14213" y="889000"/>
                  <a:pt x="0" y="874787"/>
                  <a:pt x="0" y="857254"/>
                </a:cubicBezTo>
                <a:lnTo>
                  <a:pt x="0" y="31746"/>
                </a:lnTo>
                <a:cubicBezTo>
                  <a:pt x="0" y="14225"/>
                  <a:pt x="14225" y="0"/>
                  <a:pt x="3174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6725" y="2514502"/>
            <a:ext cx="31750" cy="889000"/>
          </a:xfrm>
          <a:custGeom>
            <a:avLst/>
            <a:gdLst/>
            <a:ahLst/>
            <a:cxnLst/>
            <a:rect l="l" t="t" r="r" b="b"/>
            <a:pathLst>
              <a:path w="31750" h="889000">
                <a:moveTo>
                  <a:pt x="31750" y="0"/>
                </a:moveTo>
                <a:lnTo>
                  <a:pt x="31750" y="0"/>
                </a:lnTo>
                <a:lnTo>
                  <a:pt x="31750" y="889000"/>
                </a:lnTo>
                <a:lnTo>
                  <a:pt x="31750" y="889000"/>
                </a:lnTo>
                <a:cubicBezTo>
                  <a:pt x="14227" y="889000"/>
                  <a:pt x="0" y="874773"/>
                  <a:pt x="0" y="85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77850" y="2609752"/>
            <a:ext cx="936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Tree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55096" y="2609752"/>
            <a:ext cx="746125" cy="222250"/>
          </a:xfrm>
          <a:custGeom>
            <a:avLst/>
            <a:gdLst/>
            <a:ahLst/>
            <a:cxnLst/>
            <a:rect l="l" t="t" r="r" b="b"/>
            <a:pathLst>
              <a:path w="746125" h="222250">
                <a:moveTo>
                  <a:pt x="31751" y="0"/>
                </a:moveTo>
                <a:lnTo>
                  <a:pt x="714374" y="0"/>
                </a:lnTo>
                <a:cubicBezTo>
                  <a:pt x="731910" y="0"/>
                  <a:pt x="746125" y="14215"/>
                  <a:pt x="746125" y="31751"/>
                </a:cubicBezTo>
                <a:lnTo>
                  <a:pt x="746125" y="190499"/>
                </a:lnTo>
                <a:cubicBezTo>
                  <a:pt x="746125" y="208035"/>
                  <a:pt x="731910" y="222250"/>
                  <a:pt x="71437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A0AEC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55096" y="2609752"/>
            <a:ext cx="801688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Interpretable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7850" y="2895502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7850" y="3054252"/>
            <a:ext cx="2659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~0.040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38500" y="2895502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238500" y="3054252"/>
            <a:ext cx="2659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~0.068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66725" y="3498651"/>
            <a:ext cx="5429250" cy="920750"/>
          </a:xfrm>
          <a:custGeom>
            <a:avLst/>
            <a:gdLst/>
            <a:ahLst/>
            <a:cxnLst/>
            <a:rect l="l" t="t" r="r" b="b"/>
            <a:pathLst>
              <a:path w="5429250" h="920750">
                <a:moveTo>
                  <a:pt x="31747" y="0"/>
                </a:moveTo>
                <a:lnTo>
                  <a:pt x="5397503" y="0"/>
                </a:lnTo>
                <a:cubicBezTo>
                  <a:pt x="5415036" y="0"/>
                  <a:pt x="5429250" y="14214"/>
                  <a:pt x="5429250" y="31747"/>
                </a:cubicBezTo>
                <a:lnTo>
                  <a:pt x="5429250" y="889003"/>
                </a:lnTo>
                <a:cubicBezTo>
                  <a:pt x="5429250" y="906536"/>
                  <a:pt x="5415036" y="920750"/>
                  <a:pt x="5397503" y="920750"/>
                </a:cubicBezTo>
                <a:lnTo>
                  <a:pt x="31747" y="920750"/>
                </a:lnTo>
                <a:cubicBezTo>
                  <a:pt x="14214" y="920750"/>
                  <a:pt x="0" y="906536"/>
                  <a:pt x="0" y="889003"/>
                </a:cubicBezTo>
                <a:lnTo>
                  <a:pt x="0" y="31747"/>
                </a:lnTo>
                <a:cubicBezTo>
                  <a:pt x="0" y="14226"/>
                  <a:pt x="14226" y="0"/>
                  <a:pt x="3174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66725" y="3498651"/>
            <a:ext cx="31750" cy="920750"/>
          </a:xfrm>
          <a:custGeom>
            <a:avLst/>
            <a:gdLst/>
            <a:ahLst/>
            <a:cxnLst/>
            <a:rect l="l" t="t" r="r" b="b"/>
            <a:pathLst>
              <a:path w="31750" h="920750">
                <a:moveTo>
                  <a:pt x="31750" y="0"/>
                </a:moveTo>
                <a:lnTo>
                  <a:pt x="31750" y="0"/>
                </a:lnTo>
                <a:lnTo>
                  <a:pt x="31750" y="920750"/>
                </a:lnTo>
                <a:lnTo>
                  <a:pt x="31750" y="920750"/>
                </a:lnTo>
                <a:cubicBezTo>
                  <a:pt x="14227" y="920750"/>
                  <a:pt x="0" y="906523"/>
                  <a:pt x="0" y="889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77850" y="3593901"/>
            <a:ext cx="1174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 ★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36295" y="3593901"/>
            <a:ext cx="365125" cy="222250"/>
          </a:xfrm>
          <a:custGeom>
            <a:avLst/>
            <a:gdLst/>
            <a:ahLst/>
            <a:cxnLst/>
            <a:rect l="l" t="t" r="r" b="b"/>
            <a:pathLst>
              <a:path w="365125" h="222250">
                <a:moveTo>
                  <a:pt x="31751" y="0"/>
                </a:moveTo>
                <a:lnTo>
                  <a:pt x="333374" y="0"/>
                </a:lnTo>
                <a:cubicBezTo>
                  <a:pt x="350910" y="0"/>
                  <a:pt x="365125" y="14215"/>
                  <a:pt x="365125" y="31751"/>
                </a:cubicBezTo>
                <a:lnTo>
                  <a:pt x="365125" y="190499"/>
                </a:lnTo>
                <a:cubicBezTo>
                  <a:pt x="365125" y="208035"/>
                  <a:pt x="350910" y="222250"/>
                  <a:pt x="333374" y="222250"/>
                </a:cubicBezTo>
                <a:lnTo>
                  <a:pt x="31751" y="222250"/>
                </a:lnTo>
                <a:cubicBezTo>
                  <a:pt x="14227" y="222250"/>
                  <a:pt x="0" y="208023"/>
                  <a:pt x="0" y="19049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436295" y="3593901"/>
            <a:ext cx="420688" cy="22225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77850" y="3879651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77850" y="4038401"/>
            <a:ext cx="268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~0.027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238500" y="3879651"/>
            <a:ext cx="2619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RMSE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38500" y="4038401"/>
            <a:ext cx="26828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~0.048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0675" y="4682928"/>
            <a:ext cx="5705475" cy="1244600"/>
          </a:xfrm>
          <a:custGeom>
            <a:avLst/>
            <a:gdLst/>
            <a:ahLst/>
            <a:cxnLst/>
            <a:rect l="l" t="t" r="r" b="b"/>
            <a:pathLst>
              <a:path w="5705475" h="1244600">
                <a:moveTo>
                  <a:pt x="63499" y="0"/>
                </a:moveTo>
                <a:lnTo>
                  <a:pt x="5641976" y="0"/>
                </a:lnTo>
                <a:cubicBezTo>
                  <a:pt x="5677045" y="0"/>
                  <a:pt x="5705475" y="28430"/>
                  <a:pt x="5705475" y="63499"/>
                </a:cubicBezTo>
                <a:lnTo>
                  <a:pt x="5705475" y="1181101"/>
                </a:lnTo>
                <a:cubicBezTo>
                  <a:pt x="5705475" y="1216170"/>
                  <a:pt x="5677045" y="1244600"/>
                  <a:pt x="5641976" y="1244600"/>
                </a:cubicBezTo>
                <a:lnTo>
                  <a:pt x="63499" y="1244600"/>
                </a:lnTo>
                <a:cubicBezTo>
                  <a:pt x="28430" y="1244600"/>
                  <a:pt x="0" y="1216170"/>
                  <a:pt x="0" y="11811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70694" y="4852789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40267" y="0"/>
                </a:moveTo>
                <a:lnTo>
                  <a:pt x="102775" y="0"/>
                </a:lnTo>
                <a:cubicBezTo>
                  <a:pt x="110170" y="0"/>
                  <a:pt x="116198" y="6083"/>
                  <a:pt x="115919" y="13450"/>
                </a:cubicBezTo>
                <a:cubicBezTo>
                  <a:pt x="115863" y="14929"/>
                  <a:pt x="115807" y="16408"/>
                  <a:pt x="115723" y="17859"/>
                </a:cubicBezTo>
                <a:lnTo>
                  <a:pt x="129564" y="17859"/>
                </a:lnTo>
                <a:cubicBezTo>
                  <a:pt x="136847" y="17859"/>
                  <a:pt x="143266" y="23887"/>
                  <a:pt x="142708" y="31756"/>
                </a:cubicBezTo>
                <a:cubicBezTo>
                  <a:pt x="140615" y="60694"/>
                  <a:pt x="125825" y="76600"/>
                  <a:pt x="109779" y="84916"/>
                </a:cubicBezTo>
                <a:cubicBezTo>
                  <a:pt x="105370" y="87204"/>
                  <a:pt x="100878" y="88906"/>
                  <a:pt x="96608" y="90162"/>
                </a:cubicBezTo>
                <a:cubicBezTo>
                  <a:pt x="90971" y="98143"/>
                  <a:pt x="85111" y="102357"/>
                  <a:pt x="80451" y="104617"/>
                </a:cubicBezTo>
                <a:lnTo>
                  <a:pt x="80451" y="125016"/>
                </a:lnTo>
                <a:lnTo>
                  <a:pt x="98310" y="125016"/>
                </a:lnTo>
                <a:cubicBezTo>
                  <a:pt x="103250" y="125016"/>
                  <a:pt x="107240" y="129006"/>
                  <a:pt x="107240" y="133945"/>
                </a:cubicBezTo>
                <a:cubicBezTo>
                  <a:pt x="107240" y="138885"/>
                  <a:pt x="103250" y="142875"/>
                  <a:pt x="98310" y="142875"/>
                </a:cubicBezTo>
                <a:lnTo>
                  <a:pt x="44732" y="142875"/>
                </a:lnTo>
                <a:cubicBezTo>
                  <a:pt x="39793" y="142875"/>
                  <a:pt x="35802" y="138885"/>
                  <a:pt x="35802" y="133945"/>
                </a:cubicBezTo>
                <a:cubicBezTo>
                  <a:pt x="35802" y="129006"/>
                  <a:pt x="39793" y="125016"/>
                  <a:pt x="44732" y="125016"/>
                </a:cubicBezTo>
                <a:lnTo>
                  <a:pt x="62592" y="125016"/>
                </a:lnTo>
                <a:lnTo>
                  <a:pt x="62592" y="104617"/>
                </a:lnTo>
                <a:cubicBezTo>
                  <a:pt x="58127" y="102468"/>
                  <a:pt x="52574" y="98478"/>
                  <a:pt x="47160" y="91139"/>
                </a:cubicBezTo>
                <a:cubicBezTo>
                  <a:pt x="42025" y="89799"/>
                  <a:pt x="36444" y="87762"/>
                  <a:pt x="31003" y="84693"/>
                </a:cubicBezTo>
                <a:cubicBezTo>
                  <a:pt x="15906" y="76237"/>
                  <a:pt x="2288" y="60303"/>
                  <a:pt x="335" y="31700"/>
                </a:cubicBezTo>
                <a:cubicBezTo>
                  <a:pt x="-195" y="23859"/>
                  <a:pt x="6195" y="17831"/>
                  <a:pt x="13478" y="17831"/>
                </a:cubicBezTo>
                <a:lnTo>
                  <a:pt x="27319" y="17831"/>
                </a:lnTo>
                <a:cubicBezTo>
                  <a:pt x="27236" y="16380"/>
                  <a:pt x="27180" y="14929"/>
                  <a:pt x="27124" y="13422"/>
                </a:cubicBezTo>
                <a:cubicBezTo>
                  <a:pt x="26845" y="6028"/>
                  <a:pt x="32872" y="-28"/>
                  <a:pt x="40267" y="-28"/>
                </a:cubicBezTo>
                <a:close/>
                <a:moveTo>
                  <a:pt x="28324" y="31254"/>
                </a:moveTo>
                <a:lnTo>
                  <a:pt x="13701" y="31254"/>
                </a:lnTo>
                <a:cubicBezTo>
                  <a:pt x="15432" y="54890"/>
                  <a:pt x="26287" y="66722"/>
                  <a:pt x="37477" y="73000"/>
                </a:cubicBezTo>
                <a:cubicBezTo>
                  <a:pt x="33458" y="62592"/>
                  <a:pt x="30138" y="49002"/>
                  <a:pt x="28324" y="31254"/>
                </a:cubicBezTo>
                <a:close/>
                <a:moveTo>
                  <a:pt x="106040" y="71661"/>
                </a:moveTo>
                <a:cubicBezTo>
                  <a:pt x="117342" y="65019"/>
                  <a:pt x="127555" y="53215"/>
                  <a:pt x="129285" y="31254"/>
                </a:cubicBezTo>
                <a:lnTo>
                  <a:pt x="114691" y="31254"/>
                </a:lnTo>
                <a:cubicBezTo>
                  <a:pt x="112961" y="48248"/>
                  <a:pt x="109835" y="61447"/>
                  <a:pt x="106040" y="71661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33412" y="4813102"/>
            <a:ext cx="5334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Results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66725" y="513060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73100" y="5098852"/>
            <a:ext cx="265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wins</a:t>
            </a: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30-40% lower RMSE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66725" y="538460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73100" y="5352852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model selected</a:t>
            </a: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by lowest RMSE criterion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66725" y="5638602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127000"/>
                </a:moveTo>
                <a:cubicBezTo>
                  <a:pt x="98547" y="127000"/>
                  <a:pt x="127000" y="98547"/>
                  <a:pt x="127000" y="63500"/>
                </a:cubicBezTo>
                <a:cubicBezTo>
                  <a:pt x="127000" y="28453"/>
                  <a:pt x="98547" y="0"/>
                  <a:pt x="63500" y="0"/>
                </a:cubicBezTo>
                <a:cubicBezTo>
                  <a:pt x="28453" y="0"/>
                  <a:pt x="0" y="28453"/>
                  <a:pt x="0" y="63500"/>
                </a:cubicBezTo>
                <a:cubicBezTo>
                  <a:pt x="0" y="98547"/>
                  <a:pt x="28453" y="127000"/>
                  <a:pt x="63500" y="127000"/>
                </a:cubicBezTo>
                <a:close/>
                <a:moveTo>
                  <a:pt x="84435" y="52760"/>
                </a:moveTo>
                <a:lnTo>
                  <a:pt x="64591" y="84510"/>
                </a:lnTo>
                <a:cubicBezTo>
                  <a:pt x="63550" y="86171"/>
                  <a:pt x="61764" y="87213"/>
                  <a:pt x="59804" y="87313"/>
                </a:cubicBezTo>
                <a:cubicBezTo>
                  <a:pt x="57845" y="87412"/>
                  <a:pt x="55959" y="86519"/>
                  <a:pt x="54794" y="84931"/>
                </a:cubicBezTo>
                <a:lnTo>
                  <a:pt x="42887" y="69056"/>
                </a:lnTo>
                <a:cubicBezTo>
                  <a:pt x="40903" y="66427"/>
                  <a:pt x="41449" y="62706"/>
                  <a:pt x="44078" y="60722"/>
                </a:cubicBezTo>
                <a:cubicBezTo>
                  <a:pt x="46707" y="58737"/>
                  <a:pt x="50428" y="59283"/>
                  <a:pt x="52412" y="61913"/>
                </a:cubicBezTo>
                <a:lnTo>
                  <a:pt x="59110" y="70842"/>
                </a:lnTo>
                <a:lnTo>
                  <a:pt x="74340" y="46459"/>
                </a:lnTo>
                <a:cubicBezTo>
                  <a:pt x="76076" y="43681"/>
                  <a:pt x="79747" y="42813"/>
                  <a:pt x="82550" y="44574"/>
                </a:cubicBezTo>
                <a:cubicBezTo>
                  <a:pt x="85353" y="46335"/>
                  <a:pt x="86196" y="49981"/>
                  <a:pt x="84435" y="52784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673100" y="5606852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metrics in kW</a:t>
            </a: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(same unit as target)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62675" y="1082675"/>
            <a:ext cx="5705475" cy="3022600"/>
          </a:xfrm>
          <a:custGeom>
            <a:avLst/>
            <a:gdLst/>
            <a:ahLst/>
            <a:cxnLst/>
            <a:rect l="l" t="t" r="r" b="b"/>
            <a:pathLst>
              <a:path w="5705475" h="3022600">
                <a:moveTo>
                  <a:pt x="63505" y="0"/>
                </a:moveTo>
                <a:lnTo>
                  <a:pt x="5641970" y="0"/>
                </a:lnTo>
                <a:cubicBezTo>
                  <a:pt x="5677043" y="0"/>
                  <a:pt x="5705475" y="28432"/>
                  <a:pt x="5705475" y="63505"/>
                </a:cubicBezTo>
                <a:lnTo>
                  <a:pt x="5705475" y="2959095"/>
                </a:lnTo>
                <a:cubicBezTo>
                  <a:pt x="5705475" y="2994168"/>
                  <a:pt x="5677043" y="3022600"/>
                  <a:pt x="5641970" y="3022600"/>
                </a:cubicBezTo>
                <a:lnTo>
                  <a:pt x="63505" y="3022600"/>
                </a:lnTo>
                <a:cubicBezTo>
                  <a:pt x="28432" y="3022600"/>
                  <a:pt x="0" y="2994168"/>
                  <a:pt x="0" y="29590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322616" y="1244602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9844" y="9922"/>
                </a:moveTo>
                <a:cubicBezTo>
                  <a:pt x="8899" y="9922"/>
                  <a:pt x="0" y="18821"/>
                  <a:pt x="0" y="29766"/>
                </a:cubicBezTo>
                <a:lnTo>
                  <a:pt x="0" y="128984"/>
                </a:lnTo>
                <a:cubicBezTo>
                  <a:pt x="0" y="139929"/>
                  <a:pt x="8899" y="148828"/>
                  <a:pt x="19844" y="148828"/>
                </a:cubicBezTo>
                <a:lnTo>
                  <a:pt x="119062" y="148828"/>
                </a:lnTo>
                <a:cubicBezTo>
                  <a:pt x="130008" y="148828"/>
                  <a:pt x="138906" y="139929"/>
                  <a:pt x="138906" y="128984"/>
                </a:cubicBezTo>
                <a:lnTo>
                  <a:pt x="138906" y="29766"/>
                </a:lnTo>
                <a:cubicBezTo>
                  <a:pt x="138906" y="18821"/>
                  <a:pt x="130008" y="9922"/>
                  <a:pt x="119062" y="9922"/>
                </a:cubicBezTo>
                <a:lnTo>
                  <a:pt x="19844" y="9922"/>
                </a:lnTo>
                <a:close/>
                <a:moveTo>
                  <a:pt x="39688" y="34727"/>
                </a:moveTo>
                <a:cubicBezTo>
                  <a:pt x="47902" y="34727"/>
                  <a:pt x="54570" y="41395"/>
                  <a:pt x="54570" y="49609"/>
                </a:cubicBezTo>
                <a:cubicBezTo>
                  <a:pt x="54570" y="57823"/>
                  <a:pt x="47902" y="64492"/>
                  <a:pt x="39688" y="64492"/>
                </a:cubicBezTo>
                <a:cubicBezTo>
                  <a:pt x="31473" y="64492"/>
                  <a:pt x="24805" y="57823"/>
                  <a:pt x="24805" y="49609"/>
                </a:cubicBezTo>
                <a:cubicBezTo>
                  <a:pt x="24805" y="41395"/>
                  <a:pt x="31473" y="34727"/>
                  <a:pt x="39688" y="34727"/>
                </a:cubicBezTo>
                <a:close/>
                <a:moveTo>
                  <a:pt x="84336" y="69453"/>
                </a:moveTo>
                <a:cubicBezTo>
                  <a:pt x="86940" y="69453"/>
                  <a:pt x="89328" y="70817"/>
                  <a:pt x="90692" y="73019"/>
                </a:cubicBezTo>
                <a:lnTo>
                  <a:pt x="117977" y="117667"/>
                </a:lnTo>
                <a:cubicBezTo>
                  <a:pt x="119373" y="119962"/>
                  <a:pt x="119435" y="122845"/>
                  <a:pt x="118132" y="125202"/>
                </a:cubicBezTo>
                <a:cubicBezTo>
                  <a:pt x="116830" y="127558"/>
                  <a:pt x="114319" y="128984"/>
                  <a:pt x="111621" y="128984"/>
                </a:cubicBezTo>
                <a:lnTo>
                  <a:pt x="27285" y="128984"/>
                </a:lnTo>
                <a:cubicBezTo>
                  <a:pt x="24526" y="128984"/>
                  <a:pt x="21952" y="127434"/>
                  <a:pt x="20681" y="124985"/>
                </a:cubicBezTo>
                <a:cubicBezTo>
                  <a:pt x="19410" y="122535"/>
                  <a:pt x="19596" y="119559"/>
                  <a:pt x="21177" y="117295"/>
                </a:cubicBezTo>
                <a:lnTo>
                  <a:pt x="38540" y="92490"/>
                </a:lnTo>
                <a:cubicBezTo>
                  <a:pt x="39936" y="90506"/>
                  <a:pt x="42199" y="89328"/>
                  <a:pt x="44648" y="89328"/>
                </a:cubicBezTo>
                <a:cubicBezTo>
                  <a:pt x="47098" y="89328"/>
                  <a:pt x="49361" y="90506"/>
                  <a:pt x="50757" y="92490"/>
                </a:cubicBezTo>
                <a:lnTo>
                  <a:pt x="58942" y="104211"/>
                </a:lnTo>
                <a:lnTo>
                  <a:pt x="77980" y="73050"/>
                </a:lnTo>
                <a:cubicBezTo>
                  <a:pt x="79344" y="70848"/>
                  <a:pt x="81731" y="69484"/>
                  <a:pt x="84336" y="69484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491287" y="1212852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Comparison Chart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92850" y="1530352"/>
            <a:ext cx="5445125" cy="2222500"/>
          </a:xfrm>
          <a:custGeom>
            <a:avLst/>
            <a:gdLst/>
            <a:ahLst/>
            <a:cxnLst/>
            <a:rect l="l" t="t" r="r" b="b"/>
            <a:pathLst>
              <a:path w="5445125" h="2222500">
                <a:moveTo>
                  <a:pt x="63497" y="0"/>
                </a:moveTo>
                <a:lnTo>
                  <a:pt x="5381628" y="0"/>
                </a:lnTo>
                <a:cubicBezTo>
                  <a:pt x="5416697" y="0"/>
                  <a:pt x="5445125" y="28428"/>
                  <a:pt x="5445125" y="63497"/>
                </a:cubicBezTo>
                <a:lnTo>
                  <a:pt x="5445125" y="2159003"/>
                </a:lnTo>
                <a:cubicBezTo>
                  <a:pt x="5445125" y="2194072"/>
                  <a:pt x="5416697" y="2222500"/>
                  <a:pt x="5381628" y="2222500"/>
                </a:cubicBezTo>
                <a:lnTo>
                  <a:pt x="63497" y="2222500"/>
                </a:lnTo>
                <a:cubicBezTo>
                  <a:pt x="28428" y="2222500"/>
                  <a:pt x="0" y="2194072"/>
                  <a:pt x="0" y="215900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7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0" y="2641602"/>
            <a:ext cx="914400" cy="914400"/>
          </a:xfrm>
          <a:prstGeom prst="roundRect">
            <a:avLst>
              <a:gd name="adj" fmla="val 0"/>
            </a:avLst>
          </a:prstGeom>
        </p:spPr>
      </p:pic>
      <p:sp>
        <p:nvSpPr>
          <p:cNvPr id="48" name="Shape 45"/>
          <p:cNvSpPr/>
          <p:nvPr/>
        </p:nvSpPr>
        <p:spPr>
          <a:xfrm>
            <a:off x="7701161" y="383540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48617" y="34727"/>
                </a:moveTo>
                <a:cubicBezTo>
                  <a:pt x="48617" y="30893"/>
                  <a:pt x="51729" y="27781"/>
                  <a:pt x="55563" y="27781"/>
                </a:cubicBezTo>
                <a:cubicBezTo>
                  <a:pt x="59396" y="27781"/>
                  <a:pt x="62508" y="30893"/>
                  <a:pt x="62508" y="34727"/>
                </a:cubicBezTo>
                <a:cubicBezTo>
                  <a:pt x="62508" y="38560"/>
                  <a:pt x="59396" y="41672"/>
                  <a:pt x="55563" y="41672"/>
                </a:cubicBezTo>
                <a:cubicBezTo>
                  <a:pt x="51729" y="41672"/>
                  <a:pt x="48617" y="38560"/>
                  <a:pt x="48617" y="34727"/>
                </a:cubicBezTo>
                <a:close/>
                <a:moveTo>
                  <a:pt x="46881" y="48617"/>
                </a:moveTo>
                <a:lnTo>
                  <a:pt x="57299" y="48617"/>
                </a:lnTo>
                <a:cubicBezTo>
                  <a:pt x="60185" y="48617"/>
                  <a:pt x="62508" y="50940"/>
                  <a:pt x="62508" y="53826"/>
                </a:cubicBezTo>
                <a:lnTo>
                  <a:pt x="62508" y="72926"/>
                </a:lnTo>
                <a:lnTo>
                  <a:pt x="64244" y="72926"/>
                </a:lnTo>
                <a:cubicBezTo>
                  <a:pt x="67131" y="72926"/>
                  <a:pt x="69453" y="75248"/>
                  <a:pt x="69453" y="78135"/>
                </a:cubicBezTo>
                <a:cubicBezTo>
                  <a:pt x="69453" y="81021"/>
                  <a:pt x="67131" y="83344"/>
                  <a:pt x="64244" y="83344"/>
                </a:cubicBezTo>
                <a:lnTo>
                  <a:pt x="46881" y="83344"/>
                </a:lnTo>
                <a:cubicBezTo>
                  <a:pt x="43994" y="83344"/>
                  <a:pt x="41672" y="81021"/>
                  <a:pt x="41672" y="78135"/>
                </a:cubicBezTo>
                <a:cubicBezTo>
                  <a:pt x="41672" y="75248"/>
                  <a:pt x="43994" y="72926"/>
                  <a:pt x="46881" y="72926"/>
                </a:cubicBezTo>
                <a:lnTo>
                  <a:pt x="52090" y="72926"/>
                </a:lnTo>
                <a:lnTo>
                  <a:pt x="52090" y="59035"/>
                </a:lnTo>
                <a:lnTo>
                  <a:pt x="46881" y="59035"/>
                </a:lnTo>
                <a:cubicBezTo>
                  <a:pt x="43994" y="59035"/>
                  <a:pt x="41672" y="56713"/>
                  <a:pt x="41672" y="53826"/>
                </a:cubicBezTo>
                <a:cubicBezTo>
                  <a:pt x="41672" y="50940"/>
                  <a:pt x="43994" y="48617"/>
                  <a:pt x="46881" y="48617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6427787" y="3816352"/>
            <a:ext cx="5337969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 and RMSE comparison across all three models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6162675" y="4238626"/>
            <a:ext cx="5705475" cy="3022600"/>
          </a:xfrm>
          <a:custGeom>
            <a:avLst/>
            <a:gdLst/>
            <a:ahLst/>
            <a:cxnLst/>
            <a:rect l="l" t="t" r="r" b="b"/>
            <a:pathLst>
              <a:path w="5705475" h="3022600">
                <a:moveTo>
                  <a:pt x="63505" y="0"/>
                </a:moveTo>
                <a:lnTo>
                  <a:pt x="5641970" y="0"/>
                </a:lnTo>
                <a:cubicBezTo>
                  <a:pt x="5677043" y="0"/>
                  <a:pt x="5705475" y="28432"/>
                  <a:pt x="5705475" y="63505"/>
                </a:cubicBezTo>
                <a:lnTo>
                  <a:pt x="5705475" y="2959095"/>
                </a:lnTo>
                <a:cubicBezTo>
                  <a:pt x="5705475" y="2994168"/>
                  <a:pt x="5677043" y="3022600"/>
                  <a:pt x="5641970" y="3022600"/>
                </a:cubicBezTo>
                <a:lnTo>
                  <a:pt x="63505" y="3022600"/>
                </a:lnTo>
                <a:cubicBezTo>
                  <a:pt x="28432" y="3022600"/>
                  <a:pt x="0" y="2994168"/>
                  <a:pt x="0" y="29590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8"/>
          <p:cNvSpPr/>
          <p:nvPr/>
        </p:nvSpPr>
        <p:spPr>
          <a:xfrm>
            <a:off x="6312694" y="4400549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6491287" y="4368799"/>
            <a:ext cx="5326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Actual vs Predicted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6292850" y="4686299"/>
            <a:ext cx="5445125" cy="2222500"/>
          </a:xfrm>
          <a:custGeom>
            <a:avLst/>
            <a:gdLst/>
            <a:ahLst/>
            <a:cxnLst/>
            <a:rect l="l" t="t" r="r" b="b"/>
            <a:pathLst>
              <a:path w="5445125" h="2222500">
                <a:moveTo>
                  <a:pt x="63497" y="0"/>
                </a:moveTo>
                <a:lnTo>
                  <a:pt x="5381628" y="0"/>
                </a:lnTo>
                <a:cubicBezTo>
                  <a:pt x="5416697" y="0"/>
                  <a:pt x="5445125" y="28428"/>
                  <a:pt x="5445125" y="63497"/>
                </a:cubicBezTo>
                <a:lnTo>
                  <a:pt x="5445125" y="2159003"/>
                </a:lnTo>
                <a:cubicBezTo>
                  <a:pt x="5445125" y="2194072"/>
                  <a:pt x="5416697" y="2222500"/>
                  <a:pt x="5381628" y="2222500"/>
                </a:cubicBezTo>
                <a:lnTo>
                  <a:pt x="63497" y="2222500"/>
                </a:lnTo>
                <a:cubicBezTo>
                  <a:pt x="28428" y="2222500"/>
                  <a:pt x="0" y="2194072"/>
                  <a:pt x="0" y="2159003"/>
                </a:cubicBezTo>
                <a:lnTo>
                  <a:pt x="0" y="63497"/>
                </a:lnTo>
                <a:cubicBezTo>
                  <a:pt x="0" y="28428"/>
                  <a:pt x="28428" y="0"/>
                  <a:pt x="63497" y="0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4" name="Image 1" descr="https://statics.moonshot.cn/kimi-ppt/html-gen/static/image-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0" y="5797549"/>
            <a:ext cx="914400" cy="914400"/>
          </a:xfrm>
          <a:prstGeom prst="roundRect">
            <a:avLst>
              <a:gd name="adj" fmla="val 0"/>
            </a:avLst>
          </a:prstGeom>
        </p:spPr>
      </p:pic>
      <p:sp>
        <p:nvSpPr>
          <p:cNvPr id="55" name="Shape 51"/>
          <p:cNvSpPr/>
          <p:nvPr/>
        </p:nvSpPr>
        <p:spPr>
          <a:xfrm>
            <a:off x="7679134" y="6991352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48617" y="34727"/>
                </a:moveTo>
                <a:cubicBezTo>
                  <a:pt x="48617" y="30893"/>
                  <a:pt x="51729" y="27781"/>
                  <a:pt x="55563" y="27781"/>
                </a:cubicBezTo>
                <a:cubicBezTo>
                  <a:pt x="59396" y="27781"/>
                  <a:pt x="62508" y="30893"/>
                  <a:pt x="62508" y="34727"/>
                </a:cubicBezTo>
                <a:cubicBezTo>
                  <a:pt x="62508" y="38560"/>
                  <a:pt x="59396" y="41672"/>
                  <a:pt x="55563" y="41672"/>
                </a:cubicBezTo>
                <a:cubicBezTo>
                  <a:pt x="51729" y="41672"/>
                  <a:pt x="48617" y="38560"/>
                  <a:pt x="48617" y="34727"/>
                </a:cubicBezTo>
                <a:close/>
                <a:moveTo>
                  <a:pt x="46881" y="48617"/>
                </a:moveTo>
                <a:lnTo>
                  <a:pt x="57299" y="48617"/>
                </a:lnTo>
                <a:cubicBezTo>
                  <a:pt x="60185" y="48617"/>
                  <a:pt x="62508" y="50940"/>
                  <a:pt x="62508" y="53826"/>
                </a:cubicBezTo>
                <a:lnTo>
                  <a:pt x="62508" y="72926"/>
                </a:lnTo>
                <a:lnTo>
                  <a:pt x="64244" y="72926"/>
                </a:lnTo>
                <a:cubicBezTo>
                  <a:pt x="67131" y="72926"/>
                  <a:pt x="69453" y="75248"/>
                  <a:pt x="69453" y="78135"/>
                </a:cubicBezTo>
                <a:cubicBezTo>
                  <a:pt x="69453" y="81021"/>
                  <a:pt x="67131" y="83344"/>
                  <a:pt x="64244" y="83344"/>
                </a:cubicBezTo>
                <a:lnTo>
                  <a:pt x="46881" y="83344"/>
                </a:lnTo>
                <a:cubicBezTo>
                  <a:pt x="43994" y="83344"/>
                  <a:pt x="41672" y="81021"/>
                  <a:pt x="41672" y="78135"/>
                </a:cubicBezTo>
                <a:cubicBezTo>
                  <a:pt x="41672" y="75248"/>
                  <a:pt x="43994" y="72926"/>
                  <a:pt x="46881" y="72926"/>
                </a:cubicBezTo>
                <a:lnTo>
                  <a:pt x="52090" y="72926"/>
                </a:lnTo>
                <a:lnTo>
                  <a:pt x="52090" y="59035"/>
                </a:lnTo>
                <a:lnTo>
                  <a:pt x="46881" y="59035"/>
                </a:lnTo>
                <a:cubicBezTo>
                  <a:pt x="43994" y="59035"/>
                  <a:pt x="41672" y="56713"/>
                  <a:pt x="41672" y="53826"/>
                </a:cubicBezTo>
                <a:cubicBezTo>
                  <a:pt x="41672" y="50940"/>
                  <a:pt x="43994" y="48617"/>
                  <a:pt x="46881" y="48617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2"/>
          <p:cNvSpPr/>
          <p:nvPr/>
        </p:nvSpPr>
        <p:spPr>
          <a:xfrm>
            <a:off x="6427787" y="6972299"/>
            <a:ext cx="5337969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 predictions on first 500 test samples</a:t>
            </a:r>
            <a:endParaRPr lang="en-US" sz="1600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C0DF3D16-4DCF-11BA-54A2-3FF3547E77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025" y="1530352"/>
            <a:ext cx="5705475" cy="2574923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8C2D570-9125-9A09-7108-538F92F9B6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675" y="4726010"/>
            <a:ext cx="5705475" cy="211611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Importance &amp; Insights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675" y="1082675"/>
            <a:ext cx="5673725" cy="5467350"/>
          </a:xfrm>
          <a:custGeom>
            <a:avLst/>
            <a:gdLst/>
            <a:ahLst/>
            <a:cxnLst/>
            <a:rect l="l" t="t" r="r" b="b"/>
            <a:pathLst>
              <a:path w="5673725" h="5467350">
                <a:moveTo>
                  <a:pt x="63476" y="0"/>
                </a:moveTo>
                <a:lnTo>
                  <a:pt x="5610249" y="0"/>
                </a:lnTo>
                <a:cubicBezTo>
                  <a:pt x="5645306" y="0"/>
                  <a:pt x="5673725" y="28419"/>
                  <a:pt x="5673725" y="63476"/>
                </a:cubicBezTo>
                <a:lnTo>
                  <a:pt x="5673725" y="5403874"/>
                </a:lnTo>
                <a:cubicBezTo>
                  <a:pt x="5673725" y="5438931"/>
                  <a:pt x="5645306" y="5467350"/>
                  <a:pt x="5610249" y="5467350"/>
                </a:cubicBezTo>
                <a:lnTo>
                  <a:pt x="63476" y="5467350"/>
                </a:lnTo>
                <a:cubicBezTo>
                  <a:pt x="28419" y="5467350"/>
                  <a:pt x="0" y="5438931"/>
                  <a:pt x="0" y="5403874"/>
                </a:cubicBezTo>
                <a:lnTo>
                  <a:pt x="0" y="63476"/>
                </a:lnTo>
                <a:cubicBezTo>
                  <a:pt x="0" y="28443"/>
                  <a:pt x="28443" y="0"/>
                  <a:pt x="63476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94506" y="127625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9732" y="20129"/>
                </a:moveTo>
                <a:lnTo>
                  <a:pt x="110951" y="2344"/>
                </a:lnTo>
                <a:cubicBezTo>
                  <a:pt x="109500" y="-744"/>
                  <a:pt x="104961" y="-856"/>
                  <a:pt x="103361" y="2344"/>
                </a:cubicBezTo>
                <a:lnTo>
                  <a:pt x="94580" y="20129"/>
                </a:lnTo>
                <a:lnTo>
                  <a:pt x="75121" y="22920"/>
                </a:lnTo>
                <a:cubicBezTo>
                  <a:pt x="71661" y="23440"/>
                  <a:pt x="70172" y="27719"/>
                  <a:pt x="72740" y="30287"/>
                </a:cubicBezTo>
                <a:lnTo>
                  <a:pt x="86878" y="44053"/>
                </a:lnTo>
                <a:lnTo>
                  <a:pt x="83530" y="63438"/>
                </a:lnTo>
                <a:cubicBezTo>
                  <a:pt x="83009" y="66898"/>
                  <a:pt x="86581" y="69577"/>
                  <a:pt x="89781" y="67977"/>
                </a:cubicBezTo>
                <a:lnTo>
                  <a:pt x="107231" y="58750"/>
                </a:lnTo>
                <a:lnTo>
                  <a:pt x="124569" y="67828"/>
                </a:lnTo>
                <a:cubicBezTo>
                  <a:pt x="127769" y="69428"/>
                  <a:pt x="131378" y="66749"/>
                  <a:pt x="130820" y="63289"/>
                </a:cubicBezTo>
                <a:lnTo>
                  <a:pt x="127471" y="43904"/>
                </a:lnTo>
                <a:lnTo>
                  <a:pt x="141610" y="30287"/>
                </a:lnTo>
                <a:cubicBezTo>
                  <a:pt x="144140" y="27756"/>
                  <a:pt x="142689" y="23478"/>
                  <a:pt x="139229" y="22920"/>
                </a:cubicBezTo>
                <a:lnTo>
                  <a:pt x="119769" y="20129"/>
                </a:lnTo>
                <a:close/>
                <a:moveTo>
                  <a:pt x="95250" y="95250"/>
                </a:moveTo>
                <a:cubicBezTo>
                  <a:pt x="85390" y="95250"/>
                  <a:pt x="77391" y="103250"/>
                  <a:pt x="77391" y="113109"/>
                </a:cubicBezTo>
                <a:lnTo>
                  <a:pt x="77391" y="172641"/>
                </a:lnTo>
                <a:cubicBezTo>
                  <a:pt x="77391" y="182500"/>
                  <a:pt x="85390" y="190500"/>
                  <a:pt x="95250" y="190500"/>
                </a:cubicBezTo>
                <a:lnTo>
                  <a:pt x="119063" y="190500"/>
                </a:lnTo>
                <a:cubicBezTo>
                  <a:pt x="128922" y="190500"/>
                  <a:pt x="136922" y="182500"/>
                  <a:pt x="136922" y="172641"/>
                </a:cubicBezTo>
                <a:lnTo>
                  <a:pt x="136922" y="113109"/>
                </a:lnTo>
                <a:cubicBezTo>
                  <a:pt x="136922" y="103250"/>
                  <a:pt x="128922" y="95250"/>
                  <a:pt x="119063" y="95250"/>
                </a:cubicBezTo>
                <a:lnTo>
                  <a:pt x="95250" y="95250"/>
                </a:lnTo>
                <a:close/>
                <a:moveTo>
                  <a:pt x="17859" y="119063"/>
                </a:moveTo>
                <a:cubicBezTo>
                  <a:pt x="8000" y="119063"/>
                  <a:pt x="0" y="127062"/>
                  <a:pt x="0" y="136922"/>
                </a:cubicBezTo>
                <a:lnTo>
                  <a:pt x="0" y="172641"/>
                </a:lnTo>
                <a:cubicBezTo>
                  <a:pt x="0" y="182500"/>
                  <a:pt x="8000" y="190500"/>
                  <a:pt x="17859" y="190500"/>
                </a:cubicBezTo>
                <a:lnTo>
                  <a:pt x="41672" y="190500"/>
                </a:lnTo>
                <a:cubicBezTo>
                  <a:pt x="51532" y="190500"/>
                  <a:pt x="59531" y="182500"/>
                  <a:pt x="59531" y="172641"/>
                </a:cubicBezTo>
                <a:lnTo>
                  <a:pt x="59531" y="136922"/>
                </a:lnTo>
                <a:cubicBezTo>
                  <a:pt x="59531" y="127062"/>
                  <a:pt x="51532" y="119063"/>
                  <a:pt x="41672" y="119063"/>
                </a:cubicBezTo>
                <a:lnTo>
                  <a:pt x="17859" y="119063"/>
                </a:lnTo>
                <a:close/>
                <a:moveTo>
                  <a:pt x="154781" y="160734"/>
                </a:moveTo>
                <a:lnTo>
                  <a:pt x="154781" y="172641"/>
                </a:lnTo>
                <a:cubicBezTo>
                  <a:pt x="154781" y="182500"/>
                  <a:pt x="162781" y="190500"/>
                  <a:pt x="172641" y="190500"/>
                </a:cubicBezTo>
                <a:lnTo>
                  <a:pt x="196453" y="190500"/>
                </a:lnTo>
                <a:cubicBezTo>
                  <a:pt x="206313" y="190500"/>
                  <a:pt x="214313" y="182500"/>
                  <a:pt x="214313" y="172641"/>
                </a:cubicBezTo>
                <a:lnTo>
                  <a:pt x="214313" y="160734"/>
                </a:lnTo>
                <a:cubicBezTo>
                  <a:pt x="214313" y="150875"/>
                  <a:pt x="206313" y="142875"/>
                  <a:pt x="196453" y="142875"/>
                </a:cubicBezTo>
                <a:lnTo>
                  <a:pt x="172641" y="142875"/>
                </a:lnTo>
                <a:cubicBezTo>
                  <a:pt x="162781" y="142875"/>
                  <a:pt x="154781" y="150875"/>
                  <a:pt x="154781" y="160734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20725" y="1244602"/>
            <a:ext cx="520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 Feature Rankings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8475" y="1625502"/>
            <a:ext cx="5334000" cy="873125"/>
          </a:xfrm>
          <a:custGeom>
            <a:avLst/>
            <a:gdLst/>
            <a:ahLst/>
            <a:cxnLst/>
            <a:rect l="l" t="t" r="r" b="b"/>
            <a:pathLst>
              <a:path w="5334000" h="873125">
                <a:moveTo>
                  <a:pt x="31747" y="0"/>
                </a:moveTo>
                <a:lnTo>
                  <a:pt x="5302253" y="0"/>
                </a:lnTo>
                <a:cubicBezTo>
                  <a:pt x="5319786" y="0"/>
                  <a:pt x="5334000" y="14214"/>
                  <a:pt x="5334000" y="31747"/>
                </a:cubicBezTo>
                <a:lnTo>
                  <a:pt x="5334000" y="841378"/>
                </a:lnTo>
                <a:cubicBezTo>
                  <a:pt x="5334000" y="858911"/>
                  <a:pt x="5319786" y="873125"/>
                  <a:pt x="5302253" y="873125"/>
                </a:cubicBezTo>
                <a:lnTo>
                  <a:pt x="31747" y="873125"/>
                </a:lnTo>
                <a:cubicBezTo>
                  <a:pt x="14214" y="873125"/>
                  <a:pt x="0" y="858911"/>
                  <a:pt x="0" y="841378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98475" y="1625502"/>
            <a:ext cx="31750" cy="873125"/>
          </a:xfrm>
          <a:custGeom>
            <a:avLst/>
            <a:gdLst/>
            <a:ahLst/>
            <a:cxnLst/>
            <a:rect l="l" t="t" r="r" b="b"/>
            <a:pathLst>
              <a:path w="31750" h="873125">
                <a:moveTo>
                  <a:pt x="31750" y="0"/>
                </a:moveTo>
                <a:lnTo>
                  <a:pt x="31750" y="0"/>
                </a:lnTo>
                <a:lnTo>
                  <a:pt x="31750" y="873125"/>
                </a:lnTo>
                <a:lnTo>
                  <a:pt x="31750" y="873125"/>
                </a:lnTo>
                <a:cubicBezTo>
                  <a:pt x="14227" y="873125"/>
                  <a:pt x="0" y="858898"/>
                  <a:pt x="0" y="841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1350" y="1752502"/>
            <a:ext cx="896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lag_1 &amp; lag_2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78115" y="1752502"/>
            <a:ext cx="627063" cy="222250"/>
          </a:xfrm>
          <a:custGeom>
            <a:avLst/>
            <a:gdLst/>
            <a:ahLst/>
            <a:cxnLst/>
            <a:rect l="l" t="t" r="r" b="b"/>
            <a:pathLst>
              <a:path w="627063" h="222250">
                <a:moveTo>
                  <a:pt x="111125" y="0"/>
                </a:moveTo>
                <a:lnTo>
                  <a:pt x="515938" y="0"/>
                </a:lnTo>
                <a:cubicBezTo>
                  <a:pt x="577269" y="0"/>
                  <a:pt x="627063" y="49793"/>
                  <a:pt x="627063" y="111125"/>
                </a:cubicBezTo>
                <a:lnTo>
                  <a:pt x="627063" y="111125"/>
                </a:lnTo>
                <a:cubicBezTo>
                  <a:pt x="627063" y="172457"/>
                  <a:pt x="577269" y="222250"/>
                  <a:pt x="515938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78115" y="1752502"/>
            <a:ext cx="68262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1350" y="2038252"/>
            <a:ext cx="512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recent consumption readings (1-2 min ago) are the strongest predictors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1350" y="2292252"/>
            <a:ext cx="5064125" cy="79375"/>
          </a:xfrm>
          <a:custGeom>
            <a:avLst/>
            <a:gdLst/>
            <a:ahLst/>
            <a:cxnLst/>
            <a:rect l="l" t="t" r="r" b="b"/>
            <a:pathLst>
              <a:path w="5064125" h="79375">
                <a:moveTo>
                  <a:pt x="39688" y="0"/>
                </a:moveTo>
                <a:lnTo>
                  <a:pt x="5024438" y="0"/>
                </a:lnTo>
                <a:cubicBezTo>
                  <a:pt x="5046342" y="0"/>
                  <a:pt x="5064125" y="17783"/>
                  <a:pt x="5064125" y="39688"/>
                </a:cubicBezTo>
                <a:lnTo>
                  <a:pt x="5064125" y="39688"/>
                </a:lnTo>
                <a:cubicBezTo>
                  <a:pt x="5064125" y="61592"/>
                  <a:pt x="5046342" y="79375"/>
                  <a:pt x="502443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41350" y="2292252"/>
            <a:ext cx="4810125" cy="79375"/>
          </a:xfrm>
          <a:custGeom>
            <a:avLst/>
            <a:gdLst/>
            <a:ahLst/>
            <a:cxnLst/>
            <a:rect l="l" t="t" r="r" b="b"/>
            <a:pathLst>
              <a:path w="4810125" h="79375">
                <a:moveTo>
                  <a:pt x="39688" y="0"/>
                </a:moveTo>
                <a:lnTo>
                  <a:pt x="4770438" y="0"/>
                </a:lnTo>
                <a:cubicBezTo>
                  <a:pt x="4792342" y="0"/>
                  <a:pt x="4810125" y="17783"/>
                  <a:pt x="4810125" y="39688"/>
                </a:cubicBezTo>
                <a:lnTo>
                  <a:pt x="4810125" y="39688"/>
                </a:lnTo>
                <a:cubicBezTo>
                  <a:pt x="4810125" y="61592"/>
                  <a:pt x="4792342" y="79375"/>
                  <a:pt x="477043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98475" y="2593877"/>
            <a:ext cx="5334000" cy="873125"/>
          </a:xfrm>
          <a:custGeom>
            <a:avLst/>
            <a:gdLst/>
            <a:ahLst/>
            <a:cxnLst/>
            <a:rect l="l" t="t" r="r" b="b"/>
            <a:pathLst>
              <a:path w="5334000" h="873125">
                <a:moveTo>
                  <a:pt x="31747" y="0"/>
                </a:moveTo>
                <a:lnTo>
                  <a:pt x="5302253" y="0"/>
                </a:lnTo>
                <a:cubicBezTo>
                  <a:pt x="5319786" y="0"/>
                  <a:pt x="5334000" y="14214"/>
                  <a:pt x="5334000" y="31747"/>
                </a:cubicBezTo>
                <a:lnTo>
                  <a:pt x="5334000" y="841378"/>
                </a:lnTo>
                <a:cubicBezTo>
                  <a:pt x="5334000" y="858911"/>
                  <a:pt x="5319786" y="873125"/>
                  <a:pt x="5302253" y="873125"/>
                </a:cubicBezTo>
                <a:lnTo>
                  <a:pt x="31747" y="873125"/>
                </a:lnTo>
                <a:cubicBezTo>
                  <a:pt x="14214" y="873125"/>
                  <a:pt x="0" y="858911"/>
                  <a:pt x="0" y="841378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98475" y="2593877"/>
            <a:ext cx="31750" cy="873125"/>
          </a:xfrm>
          <a:custGeom>
            <a:avLst/>
            <a:gdLst/>
            <a:ahLst/>
            <a:cxnLst/>
            <a:rect l="l" t="t" r="r" b="b"/>
            <a:pathLst>
              <a:path w="31750" h="873125">
                <a:moveTo>
                  <a:pt x="31750" y="0"/>
                </a:moveTo>
                <a:lnTo>
                  <a:pt x="31750" y="0"/>
                </a:lnTo>
                <a:lnTo>
                  <a:pt x="31750" y="873125"/>
                </a:lnTo>
                <a:lnTo>
                  <a:pt x="31750" y="873125"/>
                </a:lnTo>
                <a:cubicBezTo>
                  <a:pt x="14227" y="873125"/>
                  <a:pt x="0" y="858898"/>
                  <a:pt x="0" y="841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1350" y="2720877"/>
            <a:ext cx="10953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rolling_mean_10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56609" y="2720877"/>
            <a:ext cx="452438" cy="222250"/>
          </a:xfrm>
          <a:custGeom>
            <a:avLst/>
            <a:gdLst/>
            <a:ahLst/>
            <a:cxnLst/>
            <a:rect l="l" t="t" r="r" b="b"/>
            <a:pathLst>
              <a:path w="452438" h="222250">
                <a:moveTo>
                  <a:pt x="111125" y="0"/>
                </a:moveTo>
                <a:lnTo>
                  <a:pt x="341313" y="0"/>
                </a:lnTo>
                <a:cubicBezTo>
                  <a:pt x="402644" y="0"/>
                  <a:pt x="452438" y="49793"/>
                  <a:pt x="452438" y="111125"/>
                </a:cubicBezTo>
                <a:lnTo>
                  <a:pt x="452438" y="111125"/>
                </a:lnTo>
                <a:cubicBezTo>
                  <a:pt x="452438" y="172457"/>
                  <a:pt x="402644" y="222250"/>
                  <a:pt x="341313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38B2AC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256609" y="2720877"/>
            <a:ext cx="508000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A202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1350" y="3006627"/>
            <a:ext cx="512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Short-term trend (10-reading rolling mean) captures momentum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1350" y="3260627"/>
            <a:ext cx="5064125" cy="79375"/>
          </a:xfrm>
          <a:custGeom>
            <a:avLst/>
            <a:gdLst/>
            <a:ahLst/>
            <a:cxnLst/>
            <a:rect l="l" t="t" r="r" b="b"/>
            <a:pathLst>
              <a:path w="5064125" h="79375">
                <a:moveTo>
                  <a:pt x="39688" y="0"/>
                </a:moveTo>
                <a:lnTo>
                  <a:pt x="5024438" y="0"/>
                </a:lnTo>
                <a:cubicBezTo>
                  <a:pt x="5046342" y="0"/>
                  <a:pt x="5064125" y="17783"/>
                  <a:pt x="5064125" y="39688"/>
                </a:cubicBezTo>
                <a:lnTo>
                  <a:pt x="5064125" y="39688"/>
                </a:lnTo>
                <a:cubicBezTo>
                  <a:pt x="5064125" y="61592"/>
                  <a:pt x="5046342" y="79375"/>
                  <a:pt x="502443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41350" y="3260627"/>
            <a:ext cx="4310063" cy="79375"/>
          </a:xfrm>
          <a:custGeom>
            <a:avLst/>
            <a:gdLst/>
            <a:ahLst/>
            <a:cxnLst/>
            <a:rect l="l" t="t" r="r" b="b"/>
            <a:pathLst>
              <a:path w="4310063" h="79375">
                <a:moveTo>
                  <a:pt x="39688" y="0"/>
                </a:moveTo>
                <a:lnTo>
                  <a:pt x="4270375" y="0"/>
                </a:lnTo>
                <a:cubicBezTo>
                  <a:pt x="4292279" y="0"/>
                  <a:pt x="4310063" y="17783"/>
                  <a:pt x="4310063" y="39688"/>
                </a:cubicBezTo>
                <a:lnTo>
                  <a:pt x="4310063" y="39688"/>
                </a:lnTo>
                <a:cubicBezTo>
                  <a:pt x="4310063" y="61592"/>
                  <a:pt x="4292279" y="79375"/>
                  <a:pt x="4270375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98475" y="3562252"/>
            <a:ext cx="5334000" cy="873125"/>
          </a:xfrm>
          <a:custGeom>
            <a:avLst/>
            <a:gdLst/>
            <a:ahLst/>
            <a:cxnLst/>
            <a:rect l="l" t="t" r="r" b="b"/>
            <a:pathLst>
              <a:path w="5334000" h="873125">
                <a:moveTo>
                  <a:pt x="31747" y="0"/>
                </a:moveTo>
                <a:lnTo>
                  <a:pt x="5302253" y="0"/>
                </a:lnTo>
                <a:cubicBezTo>
                  <a:pt x="5319786" y="0"/>
                  <a:pt x="5334000" y="14214"/>
                  <a:pt x="5334000" y="31747"/>
                </a:cubicBezTo>
                <a:lnTo>
                  <a:pt x="5334000" y="841378"/>
                </a:lnTo>
                <a:cubicBezTo>
                  <a:pt x="5334000" y="858911"/>
                  <a:pt x="5319786" y="873125"/>
                  <a:pt x="5302253" y="873125"/>
                </a:cubicBezTo>
                <a:lnTo>
                  <a:pt x="31747" y="873125"/>
                </a:lnTo>
                <a:cubicBezTo>
                  <a:pt x="14214" y="873125"/>
                  <a:pt x="0" y="858911"/>
                  <a:pt x="0" y="841378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98475" y="3562252"/>
            <a:ext cx="31750" cy="873125"/>
          </a:xfrm>
          <a:custGeom>
            <a:avLst/>
            <a:gdLst/>
            <a:ahLst/>
            <a:cxnLst/>
            <a:rect l="l" t="t" r="r" b="b"/>
            <a:pathLst>
              <a:path w="31750" h="873125">
                <a:moveTo>
                  <a:pt x="31750" y="0"/>
                </a:moveTo>
                <a:lnTo>
                  <a:pt x="31750" y="0"/>
                </a:lnTo>
                <a:lnTo>
                  <a:pt x="31750" y="873125"/>
                </a:lnTo>
                <a:lnTo>
                  <a:pt x="31750" y="873125"/>
                </a:lnTo>
                <a:cubicBezTo>
                  <a:pt x="14227" y="873125"/>
                  <a:pt x="0" y="858898"/>
                  <a:pt x="0" y="841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1350" y="3689252"/>
            <a:ext cx="1087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Global_intensity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087739" y="3689252"/>
            <a:ext cx="619125" cy="222250"/>
          </a:xfrm>
          <a:custGeom>
            <a:avLst/>
            <a:gdLst/>
            <a:ahLst/>
            <a:cxnLst/>
            <a:rect l="l" t="t" r="r" b="b"/>
            <a:pathLst>
              <a:path w="619125" h="222250">
                <a:moveTo>
                  <a:pt x="111125" y="0"/>
                </a:moveTo>
                <a:lnTo>
                  <a:pt x="508000" y="0"/>
                </a:lnTo>
                <a:cubicBezTo>
                  <a:pt x="569332" y="0"/>
                  <a:pt x="619125" y="49793"/>
                  <a:pt x="619125" y="111125"/>
                </a:cubicBezTo>
                <a:lnTo>
                  <a:pt x="619125" y="111125"/>
                </a:lnTo>
                <a:cubicBezTo>
                  <a:pt x="619125" y="172457"/>
                  <a:pt x="569332" y="222250"/>
                  <a:pt x="50800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A0AEC0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87739" y="3689252"/>
            <a:ext cx="67468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1350" y="3975002"/>
            <a:ext cx="512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intensity highly correlated with power (I = P/V)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1350" y="4229002"/>
            <a:ext cx="5064125" cy="79375"/>
          </a:xfrm>
          <a:custGeom>
            <a:avLst/>
            <a:gdLst/>
            <a:ahLst/>
            <a:cxnLst/>
            <a:rect l="l" t="t" r="r" b="b"/>
            <a:pathLst>
              <a:path w="5064125" h="79375">
                <a:moveTo>
                  <a:pt x="39688" y="0"/>
                </a:moveTo>
                <a:lnTo>
                  <a:pt x="5024438" y="0"/>
                </a:lnTo>
                <a:cubicBezTo>
                  <a:pt x="5046342" y="0"/>
                  <a:pt x="5064125" y="17783"/>
                  <a:pt x="5064125" y="39688"/>
                </a:cubicBezTo>
                <a:lnTo>
                  <a:pt x="5064125" y="39688"/>
                </a:lnTo>
                <a:cubicBezTo>
                  <a:pt x="5064125" y="61592"/>
                  <a:pt x="5046342" y="79375"/>
                  <a:pt x="502443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41350" y="4229002"/>
            <a:ext cx="3548063" cy="79375"/>
          </a:xfrm>
          <a:custGeom>
            <a:avLst/>
            <a:gdLst/>
            <a:ahLst/>
            <a:cxnLst/>
            <a:rect l="l" t="t" r="r" b="b"/>
            <a:pathLst>
              <a:path w="3548063" h="79375">
                <a:moveTo>
                  <a:pt x="39688" y="0"/>
                </a:moveTo>
                <a:lnTo>
                  <a:pt x="3508375" y="0"/>
                </a:lnTo>
                <a:cubicBezTo>
                  <a:pt x="3530279" y="0"/>
                  <a:pt x="3548063" y="17783"/>
                  <a:pt x="3548063" y="39688"/>
                </a:cubicBezTo>
                <a:lnTo>
                  <a:pt x="3548063" y="39688"/>
                </a:lnTo>
                <a:cubicBezTo>
                  <a:pt x="3548063" y="61592"/>
                  <a:pt x="3530279" y="79375"/>
                  <a:pt x="3508375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98475" y="4530627"/>
            <a:ext cx="5334000" cy="873125"/>
          </a:xfrm>
          <a:custGeom>
            <a:avLst/>
            <a:gdLst/>
            <a:ahLst/>
            <a:cxnLst/>
            <a:rect l="l" t="t" r="r" b="b"/>
            <a:pathLst>
              <a:path w="5334000" h="873125">
                <a:moveTo>
                  <a:pt x="31747" y="0"/>
                </a:moveTo>
                <a:lnTo>
                  <a:pt x="5302253" y="0"/>
                </a:lnTo>
                <a:cubicBezTo>
                  <a:pt x="5319786" y="0"/>
                  <a:pt x="5334000" y="14214"/>
                  <a:pt x="5334000" y="31747"/>
                </a:cubicBezTo>
                <a:lnTo>
                  <a:pt x="5334000" y="841378"/>
                </a:lnTo>
                <a:cubicBezTo>
                  <a:pt x="5334000" y="858911"/>
                  <a:pt x="5319786" y="873125"/>
                  <a:pt x="5302253" y="873125"/>
                </a:cubicBezTo>
                <a:lnTo>
                  <a:pt x="31747" y="873125"/>
                </a:lnTo>
                <a:cubicBezTo>
                  <a:pt x="14214" y="873125"/>
                  <a:pt x="0" y="858911"/>
                  <a:pt x="0" y="841378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98475" y="4530627"/>
            <a:ext cx="31750" cy="873125"/>
          </a:xfrm>
          <a:custGeom>
            <a:avLst/>
            <a:gdLst/>
            <a:ahLst/>
            <a:cxnLst/>
            <a:rect l="l" t="t" r="r" b="b"/>
            <a:pathLst>
              <a:path w="31750" h="873125">
                <a:moveTo>
                  <a:pt x="31750" y="0"/>
                </a:moveTo>
                <a:lnTo>
                  <a:pt x="31750" y="0"/>
                </a:lnTo>
                <a:lnTo>
                  <a:pt x="31750" y="873125"/>
                </a:lnTo>
                <a:lnTo>
                  <a:pt x="31750" y="873125"/>
                </a:lnTo>
                <a:cubicBezTo>
                  <a:pt x="14227" y="873125"/>
                  <a:pt x="0" y="858898"/>
                  <a:pt x="0" y="841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41350" y="4657627"/>
            <a:ext cx="563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Voltage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087739" y="4657627"/>
            <a:ext cx="619125" cy="222250"/>
          </a:xfrm>
          <a:custGeom>
            <a:avLst/>
            <a:gdLst/>
            <a:ahLst/>
            <a:cxnLst/>
            <a:rect l="l" t="t" r="r" b="b"/>
            <a:pathLst>
              <a:path w="619125" h="222250">
                <a:moveTo>
                  <a:pt x="111125" y="0"/>
                </a:moveTo>
                <a:lnTo>
                  <a:pt x="508000" y="0"/>
                </a:lnTo>
                <a:cubicBezTo>
                  <a:pt x="569332" y="0"/>
                  <a:pt x="619125" y="49793"/>
                  <a:pt x="619125" y="111125"/>
                </a:cubicBezTo>
                <a:lnTo>
                  <a:pt x="619125" y="111125"/>
                </a:lnTo>
                <a:cubicBezTo>
                  <a:pt x="619125" y="172457"/>
                  <a:pt x="569332" y="222250"/>
                  <a:pt x="50800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A0AEC0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087739" y="4657627"/>
            <a:ext cx="67468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1350" y="4943377"/>
            <a:ext cx="512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Voltage fluctuations influence power consumption patterns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1350" y="5197377"/>
            <a:ext cx="5064125" cy="79375"/>
          </a:xfrm>
          <a:custGeom>
            <a:avLst/>
            <a:gdLst/>
            <a:ahLst/>
            <a:cxnLst/>
            <a:rect l="l" t="t" r="r" b="b"/>
            <a:pathLst>
              <a:path w="5064125" h="79375">
                <a:moveTo>
                  <a:pt x="39688" y="0"/>
                </a:moveTo>
                <a:lnTo>
                  <a:pt x="5024438" y="0"/>
                </a:lnTo>
                <a:cubicBezTo>
                  <a:pt x="5046342" y="0"/>
                  <a:pt x="5064125" y="17783"/>
                  <a:pt x="5064125" y="39688"/>
                </a:cubicBezTo>
                <a:lnTo>
                  <a:pt x="5064125" y="39688"/>
                </a:lnTo>
                <a:cubicBezTo>
                  <a:pt x="5064125" y="61592"/>
                  <a:pt x="5046342" y="79375"/>
                  <a:pt x="502443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41350" y="5197377"/>
            <a:ext cx="3040063" cy="79375"/>
          </a:xfrm>
          <a:custGeom>
            <a:avLst/>
            <a:gdLst/>
            <a:ahLst/>
            <a:cxnLst/>
            <a:rect l="l" t="t" r="r" b="b"/>
            <a:pathLst>
              <a:path w="3040063" h="79375">
                <a:moveTo>
                  <a:pt x="39688" y="0"/>
                </a:moveTo>
                <a:lnTo>
                  <a:pt x="3000375" y="0"/>
                </a:lnTo>
                <a:cubicBezTo>
                  <a:pt x="3022279" y="0"/>
                  <a:pt x="3040063" y="17783"/>
                  <a:pt x="3040063" y="39688"/>
                </a:cubicBezTo>
                <a:lnTo>
                  <a:pt x="3040063" y="39688"/>
                </a:lnTo>
                <a:cubicBezTo>
                  <a:pt x="3040063" y="61592"/>
                  <a:pt x="3022279" y="79375"/>
                  <a:pt x="3000375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98475" y="5499002"/>
            <a:ext cx="5334000" cy="873125"/>
          </a:xfrm>
          <a:custGeom>
            <a:avLst/>
            <a:gdLst/>
            <a:ahLst/>
            <a:cxnLst/>
            <a:rect l="l" t="t" r="r" b="b"/>
            <a:pathLst>
              <a:path w="5334000" h="873125">
                <a:moveTo>
                  <a:pt x="31747" y="0"/>
                </a:moveTo>
                <a:lnTo>
                  <a:pt x="5302253" y="0"/>
                </a:lnTo>
                <a:cubicBezTo>
                  <a:pt x="5319786" y="0"/>
                  <a:pt x="5334000" y="14214"/>
                  <a:pt x="5334000" y="31747"/>
                </a:cubicBezTo>
                <a:lnTo>
                  <a:pt x="5334000" y="841378"/>
                </a:lnTo>
                <a:cubicBezTo>
                  <a:pt x="5334000" y="858911"/>
                  <a:pt x="5319786" y="873125"/>
                  <a:pt x="5302253" y="873125"/>
                </a:cubicBezTo>
                <a:lnTo>
                  <a:pt x="31747" y="873125"/>
                </a:lnTo>
                <a:cubicBezTo>
                  <a:pt x="14214" y="873125"/>
                  <a:pt x="0" y="858911"/>
                  <a:pt x="0" y="841378"/>
                </a:cubicBezTo>
                <a:lnTo>
                  <a:pt x="0" y="31747"/>
                </a:lnTo>
                <a:cubicBezTo>
                  <a:pt x="0" y="14225"/>
                  <a:pt x="14225" y="0"/>
                  <a:pt x="31747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98475" y="5499002"/>
            <a:ext cx="31750" cy="873125"/>
          </a:xfrm>
          <a:custGeom>
            <a:avLst/>
            <a:gdLst/>
            <a:ahLst/>
            <a:cxnLst/>
            <a:rect l="l" t="t" r="r" b="b"/>
            <a:pathLst>
              <a:path w="31750" h="873125">
                <a:moveTo>
                  <a:pt x="31750" y="0"/>
                </a:moveTo>
                <a:lnTo>
                  <a:pt x="31750" y="0"/>
                </a:lnTo>
                <a:lnTo>
                  <a:pt x="31750" y="873125"/>
                </a:lnTo>
                <a:lnTo>
                  <a:pt x="31750" y="873125"/>
                </a:lnTo>
                <a:cubicBezTo>
                  <a:pt x="14227" y="873125"/>
                  <a:pt x="0" y="858898"/>
                  <a:pt x="0" y="841375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41350" y="5626002"/>
            <a:ext cx="1111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Sub_metering_3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087739" y="5626002"/>
            <a:ext cx="619125" cy="222250"/>
          </a:xfrm>
          <a:custGeom>
            <a:avLst/>
            <a:gdLst/>
            <a:ahLst/>
            <a:cxnLst/>
            <a:rect l="l" t="t" r="r" b="b"/>
            <a:pathLst>
              <a:path w="619125" h="222250">
                <a:moveTo>
                  <a:pt x="111125" y="0"/>
                </a:moveTo>
                <a:lnTo>
                  <a:pt x="508000" y="0"/>
                </a:lnTo>
                <a:cubicBezTo>
                  <a:pt x="569332" y="0"/>
                  <a:pt x="619125" y="49793"/>
                  <a:pt x="619125" y="111125"/>
                </a:cubicBezTo>
                <a:lnTo>
                  <a:pt x="619125" y="111125"/>
                </a:lnTo>
                <a:cubicBezTo>
                  <a:pt x="619125" y="172457"/>
                  <a:pt x="569332" y="222250"/>
                  <a:pt x="50800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A0AEC0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087739" y="5626002"/>
            <a:ext cx="67468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MEDIUM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1350" y="5911752"/>
            <a:ext cx="512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Water heaters and AC units are high-draw appliances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1350" y="6165752"/>
            <a:ext cx="5064125" cy="79375"/>
          </a:xfrm>
          <a:custGeom>
            <a:avLst/>
            <a:gdLst/>
            <a:ahLst/>
            <a:cxnLst/>
            <a:rect l="l" t="t" r="r" b="b"/>
            <a:pathLst>
              <a:path w="5064125" h="79375">
                <a:moveTo>
                  <a:pt x="39688" y="0"/>
                </a:moveTo>
                <a:lnTo>
                  <a:pt x="5024438" y="0"/>
                </a:lnTo>
                <a:cubicBezTo>
                  <a:pt x="5046342" y="0"/>
                  <a:pt x="5064125" y="17783"/>
                  <a:pt x="5064125" y="39688"/>
                </a:cubicBezTo>
                <a:lnTo>
                  <a:pt x="5064125" y="39688"/>
                </a:lnTo>
                <a:cubicBezTo>
                  <a:pt x="5064125" y="61592"/>
                  <a:pt x="5046342" y="79375"/>
                  <a:pt x="5024438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4A556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41350" y="6165752"/>
            <a:ext cx="2786063" cy="79375"/>
          </a:xfrm>
          <a:custGeom>
            <a:avLst/>
            <a:gdLst/>
            <a:ahLst/>
            <a:cxnLst/>
            <a:rect l="l" t="t" r="r" b="b"/>
            <a:pathLst>
              <a:path w="2786063" h="79375">
                <a:moveTo>
                  <a:pt x="39688" y="0"/>
                </a:moveTo>
                <a:lnTo>
                  <a:pt x="2746375" y="0"/>
                </a:lnTo>
                <a:cubicBezTo>
                  <a:pt x="2768279" y="0"/>
                  <a:pt x="2786063" y="17783"/>
                  <a:pt x="2786063" y="39688"/>
                </a:cubicBezTo>
                <a:lnTo>
                  <a:pt x="2786063" y="39688"/>
                </a:lnTo>
                <a:cubicBezTo>
                  <a:pt x="2786063" y="61592"/>
                  <a:pt x="2768279" y="79375"/>
                  <a:pt x="2746375" y="79375"/>
                </a:cubicBezTo>
                <a:lnTo>
                  <a:pt x="39688" y="79375"/>
                </a:lnTo>
                <a:cubicBezTo>
                  <a:pt x="17783" y="79375"/>
                  <a:pt x="0" y="61592"/>
                  <a:pt x="0" y="39688"/>
                </a:cubicBezTo>
                <a:lnTo>
                  <a:pt x="0" y="39688"/>
                </a:lnTo>
                <a:cubicBezTo>
                  <a:pt x="0" y="17783"/>
                  <a:pt x="17783" y="0"/>
                  <a:pt x="39687" y="0"/>
                </a:cubicBezTo>
                <a:close/>
              </a:path>
            </a:pathLst>
          </a:custGeom>
          <a:solidFill>
            <a:srgbClr val="A0AE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194425" y="1082675"/>
            <a:ext cx="5673725" cy="4689475"/>
          </a:xfrm>
          <a:custGeom>
            <a:avLst/>
            <a:gdLst/>
            <a:ahLst/>
            <a:cxnLst/>
            <a:rect l="l" t="t" r="r" b="b"/>
            <a:pathLst>
              <a:path w="5673725" h="4689475">
                <a:moveTo>
                  <a:pt x="63495" y="0"/>
                </a:moveTo>
                <a:lnTo>
                  <a:pt x="5610230" y="0"/>
                </a:lnTo>
                <a:cubicBezTo>
                  <a:pt x="5645297" y="0"/>
                  <a:pt x="5673725" y="28428"/>
                  <a:pt x="5673725" y="63495"/>
                </a:cubicBezTo>
                <a:lnTo>
                  <a:pt x="5673725" y="4625980"/>
                </a:lnTo>
                <a:cubicBezTo>
                  <a:pt x="5673725" y="4661047"/>
                  <a:pt x="5645297" y="4689475"/>
                  <a:pt x="5610230" y="4689475"/>
                </a:cubicBezTo>
                <a:lnTo>
                  <a:pt x="63495" y="4689475"/>
                </a:lnTo>
                <a:cubicBezTo>
                  <a:pt x="28428" y="4689475"/>
                  <a:pt x="0" y="4661047"/>
                  <a:pt x="0" y="4625980"/>
                </a:cubicBezTo>
                <a:lnTo>
                  <a:pt x="0" y="63495"/>
                </a:lnTo>
                <a:cubicBezTo>
                  <a:pt x="0" y="28428"/>
                  <a:pt x="28428" y="0"/>
                  <a:pt x="63495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403975" y="1276252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594475" y="1244602"/>
            <a:ext cx="520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59525" y="1628677"/>
            <a:ext cx="5348288" cy="895350"/>
          </a:xfrm>
          <a:custGeom>
            <a:avLst/>
            <a:gdLst/>
            <a:ahLst/>
            <a:cxnLst/>
            <a:rect l="l" t="t" r="r" b="b"/>
            <a:pathLst>
              <a:path w="5348288" h="895350">
                <a:moveTo>
                  <a:pt x="63498" y="0"/>
                </a:moveTo>
                <a:lnTo>
                  <a:pt x="5284789" y="0"/>
                </a:lnTo>
                <a:cubicBezTo>
                  <a:pt x="5319858" y="0"/>
                  <a:pt x="5348288" y="28429"/>
                  <a:pt x="5348288" y="63498"/>
                </a:cubicBezTo>
                <a:lnTo>
                  <a:pt x="5348288" y="831852"/>
                </a:lnTo>
                <a:cubicBezTo>
                  <a:pt x="5348287" y="866921"/>
                  <a:pt x="5319858" y="895350"/>
                  <a:pt x="5284789" y="895350"/>
                </a:cubicBezTo>
                <a:lnTo>
                  <a:pt x="63498" y="895350"/>
                </a:lnTo>
                <a:cubicBezTo>
                  <a:pt x="28429" y="895350"/>
                  <a:pt x="0" y="866921"/>
                  <a:pt x="0" y="831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6489700" y="17588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569075" y="18382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ubicBezTo>
                  <a:pt x="0" y="35567"/>
                  <a:pt x="35567" y="0"/>
                  <a:pt x="79375" y="0"/>
                </a:cubicBezTo>
                <a:close/>
                <a:moveTo>
                  <a:pt x="71934" y="37207"/>
                </a:moveTo>
                <a:lnTo>
                  <a:pt x="71934" y="79375"/>
                </a:lnTo>
                <a:cubicBezTo>
                  <a:pt x="71934" y="81855"/>
                  <a:pt x="73174" y="84181"/>
                  <a:pt x="75251" y="85576"/>
                </a:cubicBezTo>
                <a:lnTo>
                  <a:pt x="105017" y="105420"/>
                </a:lnTo>
                <a:cubicBezTo>
                  <a:pt x="108427" y="107714"/>
                  <a:pt x="113047" y="106784"/>
                  <a:pt x="115342" y="103343"/>
                </a:cubicBezTo>
                <a:cubicBezTo>
                  <a:pt x="117636" y="99901"/>
                  <a:pt x="116706" y="95312"/>
                  <a:pt x="113264" y="93018"/>
                </a:cubicBezTo>
                <a:lnTo>
                  <a:pt x="86816" y="75406"/>
                </a:lnTo>
                <a:lnTo>
                  <a:pt x="86816" y="37207"/>
                </a:lnTo>
                <a:cubicBezTo>
                  <a:pt x="86816" y="33083"/>
                  <a:pt x="83499" y="29766"/>
                  <a:pt x="79375" y="29766"/>
                </a:cubicBezTo>
                <a:cubicBezTo>
                  <a:pt x="75251" y="29766"/>
                  <a:pt x="71934" y="33083"/>
                  <a:pt x="71934" y="37207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902450" y="1758850"/>
            <a:ext cx="4746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Recent History Dominates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902450" y="2012850"/>
            <a:ext cx="4738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Lag features (lag_1, lag_2) rank highest, confirming that </a:t>
            </a: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recent consumption is the strongest signal</a:t>
            </a: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short-term forecasting.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59525" y="2657377"/>
            <a:ext cx="5348288" cy="895350"/>
          </a:xfrm>
          <a:custGeom>
            <a:avLst/>
            <a:gdLst/>
            <a:ahLst/>
            <a:cxnLst/>
            <a:rect l="l" t="t" r="r" b="b"/>
            <a:pathLst>
              <a:path w="5348288" h="895350">
                <a:moveTo>
                  <a:pt x="63498" y="0"/>
                </a:moveTo>
                <a:lnTo>
                  <a:pt x="5284789" y="0"/>
                </a:lnTo>
                <a:cubicBezTo>
                  <a:pt x="5319858" y="0"/>
                  <a:pt x="5348288" y="28429"/>
                  <a:pt x="5348288" y="63498"/>
                </a:cubicBezTo>
                <a:lnTo>
                  <a:pt x="5348288" y="831852"/>
                </a:lnTo>
                <a:cubicBezTo>
                  <a:pt x="5348287" y="866921"/>
                  <a:pt x="5319858" y="895350"/>
                  <a:pt x="5284789" y="895350"/>
                </a:cubicBezTo>
                <a:lnTo>
                  <a:pt x="63498" y="895350"/>
                </a:lnTo>
                <a:cubicBezTo>
                  <a:pt x="28429" y="895350"/>
                  <a:pt x="0" y="866921"/>
                  <a:pt x="0" y="831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6489700" y="2787551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569075" y="2866926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29766"/>
                </a:moveTo>
                <a:cubicBezTo>
                  <a:pt x="19844" y="24278"/>
                  <a:pt x="24278" y="19844"/>
                  <a:pt x="29766" y="19844"/>
                </a:cubicBezTo>
                <a:lnTo>
                  <a:pt x="79375" y="19844"/>
                </a:lnTo>
                <a:cubicBezTo>
                  <a:pt x="84863" y="19844"/>
                  <a:pt x="89297" y="24278"/>
                  <a:pt x="89297" y="29766"/>
                </a:cubicBezTo>
                <a:lnTo>
                  <a:pt x="89297" y="119062"/>
                </a:lnTo>
                <a:lnTo>
                  <a:pt x="119062" y="119062"/>
                </a:lnTo>
                <a:lnTo>
                  <a:pt x="119062" y="79375"/>
                </a:lnTo>
                <a:cubicBezTo>
                  <a:pt x="119062" y="73887"/>
                  <a:pt x="123496" y="69453"/>
                  <a:pt x="128984" y="69453"/>
                </a:cubicBezTo>
                <a:lnTo>
                  <a:pt x="148828" y="69453"/>
                </a:lnTo>
                <a:cubicBezTo>
                  <a:pt x="154316" y="69453"/>
                  <a:pt x="158750" y="73887"/>
                  <a:pt x="158750" y="79375"/>
                </a:cubicBezTo>
                <a:cubicBezTo>
                  <a:pt x="158750" y="84863"/>
                  <a:pt x="154316" y="89297"/>
                  <a:pt x="148828" y="89297"/>
                </a:cubicBezTo>
                <a:lnTo>
                  <a:pt x="138906" y="89297"/>
                </a:lnTo>
                <a:lnTo>
                  <a:pt x="138906" y="128984"/>
                </a:lnTo>
                <a:cubicBezTo>
                  <a:pt x="138906" y="134472"/>
                  <a:pt x="134472" y="138906"/>
                  <a:pt x="128984" y="138906"/>
                </a:cubicBezTo>
                <a:lnTo>
                  <a:pt x="79375" y="138906"/>
                </a:lnTo>
                <a:cubicBezTo>
                  <a:pt x="73887" y="138906"/>
                  <a:pt x="69453" y="134472"/>
                  <a:pt x="69453" y="128984"/>
                </a:cubicBezTo>
                <a:lnTo>
                  <a:pt x="69453" y="39688"/>
                </a:lnTo>
                <a:lnTo>
                  <a:pt x="39688" y="39688"/>
                </a:lnTo>
                <a:lnTo>
                  <a:pt x="39688" y="79375"/>
                </a:lnTo>
                <a:cubicBezTo>
                  <a:pt x="39688" y="84863"/>
                  <a:pt x="35254" y="89297"/>
                  <a:pt x="29766" y="89297"/>
                </a:cubicBezTo>
                <a:lnTo>
                  <a:pt x="9922" y="89297"/>
                </a:lnTo>
                <a:cubicBezTo>
                  <a:pt x="4434" y="89297"/>
                  <a:pt x="0" y="84863"/>
                  <a:pt x="0" y="79375"/>
                </a:cubicBezTo>
                <a:cubicBezTo>
                  <a:pt x="0" y="73887"/>
                  <a:pt x="4434" y="69453"/>
                  <a:pt x="9922" y="69453"/>
                </a:cubicBezTo>
                <a:lnTo>
                  <a:pt x="19844" y="69453"/>
                </a:lnTo>
                <a:lnTo>
                  <a:pt x="19844" y="29766"/>
                </a:ln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902450" y="2787551"/>
            <a:ext cx="4746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Trend Matters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902450" y="3041551"/>
            <a:ext cx="4738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Rolling_mean_10 is highly predictive, showing that </a:t>
            </a: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short-term momentum</a:t>
            </a: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(increasing/decreasing trends) provides valuable information.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59525" y="3686078"/>
            <a:ext cx="5348288" cy="895350"/>
          </a:xfrm>
          <a:custGeom>
            <a:avLst/>
            <a:gdLst/>
            <a:ahLst/>
            <a:cxnLst/>
            <a:rect l="l" t="t" r="r" b="b"/>
            <a:pathLst>
              <a:path w="5348288" h="895350">
                <a:moveTo>
                  <a:pt x="63498" y="0"/>
                </a:moveTo>
                <a:lnTo>
                  <a:pt x="5284789" y="0"/>
                </a:lnTo>
                <a:cubicBezTo>
                  <a:pt x="5319858" y="0"/>
                  <a:pt x="5348288" y="28429"/>
                  <a:pt x="5348288" y="63498"/>
                </a:cubicBezTo>
                <a:lnTo>
                  <a:pt x="5348288" y="831852"/>
                </a:lnTo>
                <a:cubicBezTo>
                  <a:pt x="5348287" y="866921"/>
                  <a:pt x="5319858" y="895350"/>
                  <a:pt x="5284789" y="895350"/>
                </a:cubicBezTo>
                <a:lnTo>
                  <a:pt x="63498" y="895350"/>
                </a:lnTo>
                <a:cubicBezTo>
                  <a:pt x="28429" y="895350"/>
                  <a:pt x="0" y="866921"/>
                  <a:pt x="0" y="831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6489700" y="381625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6578997" y="3895627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39688" y="-9922"/>
                </a:moveTo>
                <a:cubicBezTo>
                  <a:pt x="45176" y="-9922"/>
                  <a:pt x="49609" y="-5488"/>
                  <a:pt x="49609" y="0"/>
                </a:cubicBezTo>
                <a:lnTo>
                  <a:pt x="49609" y="29766"/>
                </a:lnTo>
                <a:lnTo>
                  <a:pt x="89297" y="29766"/>
                </a:lnTo>
                <a:lnTo>
                  <a:pt x="89297" y="0"/>
                </a:lnTo>
                <a:cubicBezTo>
                  <a:pt x="89297" y="-5488"/>
                  <a:pt x="93731" y="-9922"/>
                  <a:pt x="99219" y="-9922"/>
                </a:cubicBezTo>
                <a:cubicBezTo>
                  <a:pt x="104707" y="-9922"/>
                  <a:pt x="109141" y="-5488"/>
                  <a:pt x="109141" y="0"/>
                </a:cubicBezTo>
                <a:lnTo>
                  <a:pt x="109141" y="29766"/>
                </a:lnTo>
                <a:lnTo>
                  <a:pt x="128984" y="29766"/>
                </a:lnTo>
                <a:cubicBezTo>
                  <a:pt x="134472" y="29766"/>
                  <a:pt x="138906" y="34199"/>
                  <a:pt x="138906" y="39688"/>
                </a:cubicBezTo>
                <a:cubicBezTo>
                  <a:pt x="138906" y="45176"/>
                  <a:pt x="134472" y="49609"/>
                  <a:pt x="128984" y="49609"/>
                </a:cubicBezTo>
                <a:lnTo>
                  <a:pt x="128984" y="69453"/>
                </a:lnTo>
                <a:cubicBezTo>
                  <a:pt x="128984" y="98940"/>
                  <a:pt x="107528" y="123434"/>
                  <a:pt x="79375" y="128147"/>
                </a:cubicBezTo>
                <a:lnTo>
                  <a:pt x="79375" y="148828"/>
                </a:lnTo>
                <a:cubicBezTo>
                  <a:pt x="79375" y="154316"/>
                  <a:pt x="74941" y="158750"/>
                  <a:pt x="69453" y="158750"/>
                </a:cubicBezTo>
                <a:cubicBezTo>
                  <a:pt x="63965" y="158750"/>
                  <a:pt x="59531" y="154316"/>
                  <a:pt x="59531" y="148828"/>
                </a:cubicBezTo>
                <a:lnTo>
                  <a:pt x="59531" y="128147"/>
                </a:lnTo>
                <a:cubicBezTo>
                  <a:pt x="31378" y="123434"/>
                  <a:pt x="9922" y="98940"/>
                  <a:pt x="9922" y="69453"/>
                </a:cubicBezTo>
                <a:lnTo>
                  <a:pt x="9922" y="49609"/>
                </a:lnTo>
                <a:cubicBezTo>
                  <a:pt x="4434" y="49609"/>
                  <a:pt x="0" y="45176"/>
                  <a:pt x="0" y="39688"/>
                </a:cubicBezTo>
                <a:cubicBezTo>
                  <a:pt x="0" y="34199"/>
                  <a:pt x="4434" y="29766"/>
                  <a:pt x="9922" y="29766"/>
                </a:cubicBezTo>
                <a:lnTo>
                  <a:pt x="29766" y="29766"/>
                </a:lnTo>
                <a:lnTo>
                  <a:pt x="29766" y="0"/>
                </a:lnTo>
                <a:cubicBezTo>
                  <a:pt x="29766" y="-5488"/>
                  <a:pt x="34199" y="-9922"/>
                  <a:pt x="39688" y="-9922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902450" y="3816252"/>
            <a:ext cx="4746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Electrical Features Contribute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902450" y="4070252"/>
            <a:ext cx="4738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Global_intensity and Voltage are significant predictors, though intensity is </a:t>
            </a: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redundant</a:t>
            </a: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(perfectly collinear with target).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359525" y="4714775"/>
            <a:ext cx="5348288" cy="895350"/>
          </a:xfrm>
          <a:custGeom>
            <a:avLst/>
            <a:gdLst/>
            <a:ahLst/>
            <a:cxnLst/>
            <a:rect l="l" t="t" r="r" b="b"/>
            <a:pathLst>
              <a:path w="5348288" h="895350">
                <a:moveTo>
                  <a:pt x="63498" y="0"/>
                </a:moveTo>
                <a:lnTo>
                  <a:pt x="5284789" y="0"/>
                </a:lnTo>
                <a:cubicBezTo>
                  <a:pt x="5319858" y="0"/>
                  <a:pt x="5348288" y="28429"/>
                  <a:pt x="5348288" y="63498"/>
                </a:cubicBezTo>
                <a:lnTo>
                  <a:pt x="5348288" y="831852"/>
                </a:lnTo>
                <a:cubicBezTo>
                  <a:pt x="5348287" y="866921"/>
                  <a:pt x="5319858" y="895350"/>
                  <a:pt x="5284789" y="895350"/>
                </a:cubicBezTo>
                <a:lnTo>
                  <a:pt x="63498" y="895350"/>
                </a:lnTo>
                <a:cubicBezTo>
                  <a:pt x="28429" y="895350"/>
                  <a:pt x="0" y="866921"/>
                  <a:pt x="0" y="831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6489700" y="484495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6578997" y="4924327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39688" y="0"/>
                </a:moveTo>
                <a:cubicBezTo>
                  <a:pt x="45176" y="0"/>
                  <a:pt x="49609" y="4434"/>
                  <a:pt x="49609" y="9922"/>
                </a:cubicBezTo>
                <a:lnTo>
                  <a:pt x="49609" y="19844"/>
                </a:lnTo>
                <a:lnTo>
                  <a:pt x="89297" y="19844"/>
                </a:lnTo>
                <a:lnTo>
                  <a:pt x="89297" y="9922"/>
                </a:lnTo>
                <a:cubicBezTo>
                  <a:pt x="89297" y="4434"/>
                  <a:pt x="93731" y="0"/>
                  <a:pt x="99219" y="0"/>
                </a:cubicBezTo>
                <a:cubicBezTo>
                  <a:pt x="104707" y="0"/>
                  <a:pt x="109141" y="4434"/>
                  <a:pt x="109141" y="9922"/>
                </a:cubicBezTo>
                <a:lnTo>
                  <a:pt x="109141" y="19844"/>
                </a:lnTo>
                <a:lnTo>
                  <a:pt x="119062" y="19844"/>
                </a:lnTo>
                <a:cubicBezTo>
                  <a:pt x="130008" y="19844"/>
                  <a:pt x="138906" y="28742"/>
                  <a:pt x="138906" y="39688"/>
                </a:cubicBezTo>
                <a:lnTo>
                  <a:pt x="138906" y="128984"/>
                </a:lnTo>
                <a:cubicBezTo>
                  <a:pt x="138906" y="139929"/>
                  <a:pt x="130008" y="148828"/>
                  <a:pt x="119062" y="148828"/>
                </a:cubicBezTo>
                <a:lnTo>
                  <a:pt x="19844" y="148828"/>
                </a:lnTo>
                <a:cubicBezTo>
                  <a:pt x="8899" y="148828"/>
                  <a:pt x="0" y="139929"/>
                  <a:pt x="0" y="128984"/>
                </a:cubicBezTo>
                <a:lnTo>
                  <a:pt x="0" y="39688"/>
                </a:lnTo>
                <a:cubicBezTo>
                  <a:pt x="0" y="28742"/>
                  <a:pt x="8899" y="19844"/>
                  <a:pt x="19844" y="19844"/>
                </a:cubicBezTo>
                <a:lnTo>
                  <a:pt x="29766" y="19844"/>
                </a:lnTo>
                <a:lnTo>
                  <a:pt x="29766" y="9922"/>
                </a:lnTo>
                <a:cubicBezTo>
                  <a:pt x="29766" y="4434"/>
                  <a:pt x="34199" y="0"/>
                  <a:pt x="39688" y="0"/>
                </a:cubicBezTo>
                <a:close/>
                <a:moveTo>
                  <a:pt x="19844" y="74414"/>
                </a:moveTo>
                <a:lnTo>
                  <a:pt x="19844" y="84336"/>
                </a:lnTo>
                <a:cubicBezTo>
                  <a:pt x="19844" y="87064"/>
                  <a:pt x="22076" y="89297"/>
                  <a:pt x="24805" y="89297"/>
                </a:cubicBezTo>
                <a:lnTo>
                  <a:pt x="34727" y="89297"/>
                </a:lnTo>
                <a:cubicBezTo>
                  <a:pt x="37455" y="89297"/>
                  <a:pt x="39688" y="87064"/>
                  <a:pt x="39688" y="84336"/>
                </a:cubicBezTo>
                <a:lnTo>
                  <a:pt x="39688" y="74414"/>
                </a:lnTo>
                <a:cubicBezTo>
                  <a:pt x="39688" y="71686"/>
                  <a:pt x="37455" y="69453"/>
                  <a:pt x="34727" y="69453"/>
                </a:cubicBezTo>
                <a:lnTo>
                  <a:pt x="24805" y="69453"/>
                </a:lnTo>
                <a:cubicBezTo>
                  <a:pt x="22076" y="69453"/>
                  <a:pt x="19844" y="71686"/>
                  <a:pt x="19844" y="74414"/>
                </a:cubicBezTo>
                <a:close/>
                <a:moveTo>
                  <a:pt x="59531" y="74414"/>
                </a:moveTo>
                <a:lnTo>
                  <a:pt x="59531" y="84336"/>
                </a:lnTo>
                <a:cubicBezTo>
                  <a:pt x="59531" y="87064"/>
                  <a:pt x="61764" y="89297"/>
                  <a:pt x="64492" y="89297"/>
                </a:cubicBezTo>
                <a:lnTo>
                  <a:pt x="74414" y="89297"/>
                </a:lnTo>
                <a:cubicBezTo>
                  <a:pt x="77143" y="89297"/>
                  <a:pt x="79375" y="87064"/>
                  <a:pt x="79375" y="84336"/>
                </a:cubicBezTo>
                <a:lnTo>
                  <a:pt x="79375" y="74414"/>
                </a:lnTo>
                <a:cubicBezTo>
                  <a:pt x="79375" y="71686"/>
                  <a:pt x="77143" y="69453"/>
                  <a:pt x="74414" y="69453"/>
                </a:cubicBezTo>
                <a:lnTo>
                  <a:pt x="64492" y="69453"/>
                </a:lnTo>
                <a:cubicBezTo>
                  <a:pt x="61764" y="69453"/>
                  <a:pt x="59531" y="71686"/>
                  <a:pt x="59531" y="74414"/>
                </a:cubicBezTo>
                <a:close/>
                <a:moveTo>
                  <a:pt x="104180" y="69453"/>
                </a:moveTo>
                <a:cubicBezTo>
                  <a:pt x="101451" y="69453"/>
                  <a:pt x="99219" y="71686"/>
                  <a:pt x="99219" y="74414"/>
                </a:cubicBezTo>
                <a:lnTo>
                  <a:pt x="99219" y="84336"/>
                </a:lnTo>
                <a:cubicBezTo>
                  <a:pt x="99219" y="87064"/>
                  <a:pt x="101451" y="89297"/>
                  <a:pt x="104180" y="89297"/>
                </a:cubicBezTo>
                <a:lnTo>
                  <a:pt x="114102" y="89297"/>
                </a:lnTo>
                <a:cubicBezTo>
                  <a:pt x="116830" y="89297"/>
                  <a:pt x="119062" y="87064"/>
                  <a:pt x="119062" y="84336"/>
                </a:cubicBezTo>
                <a:lnTo>
                  <a:pt x="119062" y="74414"/>
                </a:lnTo>
                <a:cubicBezTo>
                  <a:pt x="119062" y="71686"/>
                  <a:pt x="116830" y="69453"/>
                  <a:pt x="114102" y="69453"/>
                </a:cubicBezTo>
                <a:lnTo>
                  <a:pt x="104180" y="69453"/>
                </a:lnTo>
                <a:close/>
                <a:moveTo>
                  <a:pt x="19844" y="114102"/>
                </a:moveTo>
                <a:lnTo>
                  <a:pt x="19844" y="124023"/>
                </a:lnTo>
                <a:cubicBezTo>
                  <a:pt x="19844" y="126752"/>
                  <a:pt x="22076" y="128984"/>
                  <a:pt x="24805" y="128984"/>
                </a:cubicBezTo>
                <a:lnTo>
                  <a:pt x="34727" y="128984"/>
                </a:lnTo>
                <a:cubicBezTo>
                  <a:pt x="37455" y="128984"/>
                  <a:pt x="39688" y="126752"/>
                  <a:pt x="39688" y="124023"/>
                </a:cubicBezTo>
                <a:lnTo>
                  <a:pt x="39688" y="114102"/>
                </a:lnTo>
                <a:cubicBezTo>
                  <a:pt x="39688" y="111373"/>
                  <a:pt x="37455" y="109141"/>
                  <a:pt x="34727" y="109141"/>
                </a:cubicBezTo>
                <a:lnTo>
                  <a:pt x="24805" y="109141"/>
                </a:lnTo>
                <a:cubicBezTo>
                  <a:pt x="22076" y="109141"/>
                  <a:pt x="19844" y="111373"/>
                  <a:pt x="19844" y="114102"/>
                </a:cubicBezTo>
                <a:close/>
                <a:moveTo>
                  <a:pt x="64492" y="109141"/>
                </a:moveTo>
                <a:cubicBezTo>
                  <a:pt x="61764" y="109141"/>
                  <a:pt x="59531" y="111373"/>
                  <a:pt x="59531" y="114102"/>
                </a:cubicBezTo>
                <a:lnTo>
                  <a:pt x="59531" y="124023"/>
                </a:lnTo>
                <a:cubicBezTo>
                  <a:pt x="59531" y="126752"/>
                  <a:pt x="61764" y="128984"/>
                  <a:pt x="64492" y="128984"/>
                </a:cubicBezTo>
                <a:lnTo>
                  <a:pt x="74414" y="128984"/>
                </a:lnTo>
                <a:cubicBezTo>
                  <a:pt x="77143" y="128984"/>
                  <a:pt x="79375" y="126752"/>
                  <a:pt x="79375" y="124023"/>
                </a:cubicBezTo>
                <a:lnTo>
                  <a:pt x="79375" y="114102"/>
                </a:lnTo>
                <a:cubicBezTo>
                  <a:pt x="79375" y="111373"/>
                  <a:pt x="77143" y="109141"/>
                  <a:pt x="74414" y="109141"/>
                </a:cubicBezTo>
                <a:lnTo>
                  <a:pt x="64492" y="109141"/>
                </a:lnTo>
                <a:close/>
                <a:moveTo>
                  <a:pt x="99219" y="114102"/>
                </a:moveTo>
                <a:lnTo>
                  <a:pt x="99219" y="124023"/>
                </a:lnTo>
                <a:cubicBezTo>
                  <a:pt x="99219" y="126752"/>
                  <a:pt x="101451" y="128984"/>
                  <a:pt x="104180" y="128984"/>
                </a:cubicBezTo>
                <a:lnTo>
                  <a:pt x="114102" y="128984"/>
                </a:lnTo>
                <a:cubicBezTo>
                  <a:pt x="116830" y="128984"/>
                  <a:pt x="119062" y="126752"/>
                  <a:pt x="119062" y="124023"/>
                </a:cubicBezTo>
                <a:lnTo>
                  <a:pt x="119062" y="114102"/>
                </a:lnTo>
                <a:cubicBezTo>
                  <a:pt x="119062" y="111373"/>
                  <a:pt x="116830" y="109141"/>
                  <a:pt x="114102" y="109141"/>
                </a:cubicBezTo>
                <a:lnTo>
                  <a:pt x="104180" y="109141"/>
                </a:lnTo>
                <a:cubicBezTo>
                  <a:pt x="101451" y="109141"/>
                  <a:pt x="99219" y="111373"/>
                  <a:pt x="99219" y="114102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6902450" y="4844952"/>
            <a:ext cx="4746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Temporal Features Help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6902450" y="5098952"/>
            <a:ext cx="4738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features (hour, dayofweek) rank lower but still contribute, capturing </a:t>
            </a: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daily and weekly consumption patterns</a:t>
            </a: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194425" y="5908578"/>
            <a:ext cx="5673725" cy="641350"/>
          </a:xfrm>
          <a:custGeom>
            <a:avLst/>
            <a:gdLst/>
            <a:ahLst/>
            <a:cxnLst/>
            <a:rect l="l" t="t" r="r" b="b"/>
            <a:pathLst>
              <a:path w="5673725" h="641350">
                <a:moveTo>
                  <a:pt x="63500" y="0"/>
                </a:moveTo>
                <a:lnTo>
                  <a:pt x="5610225" y="0"/>
                </a:lnTo>
                <a:cubicBezTo>
                  <a:pt x="5645295" y="0"/>
                  <a:pt x="5673725" y="28430"/>
                  <a:pt x="5673725" y="63500"/>
                </a:cubicBezTo>
                <a:lnTo>
                  <a:pt x="5673725" y="577850"/>
                </a:lnTo>
                <a:cubicBezTo>
                  <a:pt x="5673725" y="612920"/>
                  <a:pt x="5645295" y="641350"/>
                  <a:pt x="5610225" y="641350"/>
                </a:cubicBezTo>
                <a:lnTo>
                  <a:pt x="63500" y="641350"/>
                </a:lnTo>
                <a:cubicBezTo>
                  <a:pt x="28430" y="641350"/>
                  <a:pt x="0" y="612920"/>
                  <a:pt x="0" y="5778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6348412" y="606415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71438" y="0"/>
                </a:moveTo>
                <a:lnTo>
                  <a:pt x="31750" y="0"/>
                </a:lnTo>
                <a:cubicBezTo>
                  <a:pt x="27360" y="0"/>
                  <a:pt x="23812" y="3547"/>
                  <a:pt x="23812" y="7938"/>
                </a:cubicBezTo>
                <a:cubicBezTo>
                  <a:pt x="23812" y="12328"/>
                  <a:pt x="27360" y="15875"/>
                  <a:pt x="31750" y="15875"/>
                </a:cubicBezTo>
                <a:lnTo>
                  <a:pt x="31750" y="53454"/>
                </a:lnTo>
                <a:lnTo>
                  <a:pt x="1860" y="105742"/>
                </a:lnTo>
                <a:cubicBezTo>
                  <a:pt x="645" y="107900"/>
                  <a:pt x="0" y="110306"/>
                  <a:pt x="0" y="112787"/>
                </a:cubicBezTo>
                <a:cubicBezTo>
                  <a:pt x="0" y="120650"/>
                  <a:pt x="6350" y="127000"/>
                  <a:pt x="14213" y="127000"/>
                </a:cubicBezTo>
                <a:lnTo>
                  <a:pt x="96912" y="127000"/>
                </a:lnTo>
                <a:cubicBezTo>
                  <a:pt x="104750" y="127000"/>
                  <a:pt x="111125" y="120650"/>
                  <a:pt x="111125" y="112787"/>
                </a:cubicBezTo>
                <a:cubicBezTo>
                  <a:pt x="111125" y="110306"/>
                  <a:pt x="110480" y="107876"/>
                  <a:pt x="109265" y="105742"/>
                </a:cubicBezTo>
                <a:lnTo>
                  <a:pt x="79375" y="53454"/>
                </a:lnTo>
                <a:lnTo>
                  <a:pt x="79375" y="15875"/>
                </a:lnTo>
                <a:cubicBezTo>
                  <a:pt x="83765" y="15875"/>
                  <a:pt x="87313" y="12328"/>
                  <a:pt x="87313" y="7938"/>
                </a:cubicBezTo>
                <a:cubicBezTo>
                  <a:pt x="87313" y="3547"/>
                  <a:pt x="83765" y="0"/>
                  <a:pt x="79375" y="0"/>
                </a:cubicBezTo>
                <a:lnTo>
                  <a:pt x="71438" y="0"/>
                </a:lnTo>
                <a:close/>
                <a:moveTo>
                  <a:pt x="47625" y="53454"/>
                </a:moveTo>
                <a:lnTo>
                  <a:pt x="47625" y="15875"/>
                </a:lnTo>
                <a:lnTo>
                  <a:pt x="63500" y="15875"/>
                </a:lnTo>
                <a:lnTo>
                  <a:pt x="63500" y="53454"/>
                </a:lnTo>
                <a:cubicBezTo>
                  <a:pt x="63500" y="56207"/>
                  <a:pt x="64219" y="58936"/>
                  <a:pt x="65584" y="61342"/>
                </a:cubicBezTo>
                <a:lnTo>
                  <a:pt x="75902" y="79375"/>
                </a:lnTo>
                <a:lnTo>
                  <a:pt x="35223" y="79375"/>
                </a:lnTo>
                <a:lnTo>
                  <a:pt x="45541" y="61342"/>
                </a:lnTo>
                <a:cubicBezTo>
                  <a:pt x="46906" y="58936"/>
                  <a:pt x="47625" y="56232"/>
                  <a:pt x="47625" y="53454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6523037" y="6038752"/>
            <a:ext cx="5278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EDA Confirmation:</a:t>
            </a:r>
            <a:r>
              <a:rPr lang="en-US" sz="10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Separate Random Forest (50 estimators, 50K samples) produces consistent rankings, excluding Global_intensity due to perfect collinearity.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kern="0" spc="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CHALLENGES &amp; FUTURE WORK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Limitations &amp; Improvements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675" y="1082675"/>
            <a:ext cx="5673725" cy="5530850"/>
          </a:xfrm>
          <a:custGeom>
            <a:avLst/>
            <a:gdLst/>
            <a:ahLst/>
            <a:cxnLst/>
            <a:rect l="l" t="t" r="r" b="b"/>
            <a:pathLst>
              <a:path w="5673725" h="5530850">
                <a:moveTo>
                  <a:pt x="63494" y="0"/>
                </a:moveTo>
                <a:lnTo>
                  <a:pt x="5610231" y="0"/>
                </a:lnTo>
                <a:cubicBezTo>
                  <a:pt x="5645298" y="0"/>
                  <a:pt x="5673725" y="28427"/>
                  <a:pt x="5673725" y="63494"/>
                </a:cubicBezTo>
                <a:lnTo>
                  <a:pt x="5673725" y="5467356"/>
                </a:lnTo>
                <a:cubicBezTo>
                  <a:pt x="5673725" y="5502423"/>
                  <a:pt x="5645298" y="5530850"/>
                  <a:pt x="5610231" y="5530850"/>
                </a:cubicBezTo>
                <a:lnTo>
                  <a:pt x="63494" y="5530850"/>
                </a:lnTo>
                <a:cubicBezTo>
                  <a:pt x="28427" y="5530850"/>
                  <a:pt x="0" y="5502423"/>
                  <a:pt x="0" y="5467356"/>
                </a:cubicBezTo>
                <a:lnTo>
                  <a:pt x="0" y="63494"/>
                </a:lnTo>
                <a:cubicBezTo>
                  <a:pt x="0" y="28451"/>
                  <a:pt x="28451" y="0"/>
                  <a:pt x="63494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06412" y="12762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20725" y="1244602"/>
            <a:ext cx="520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Challenges Faced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8475" y="1625502"/>
            <a:ext cx="5334000" cy="889000"/>
          </a:xfrm>
          <a:custGeom>
            <a:avLst/>
            <a:gdLst/>
            <a:ahLst/>
            <a:cxnLst/>
            <a:rect l="l" t="t" r="r" b="b"/>
            <a:pathLst>
              <a:path w="5334000" h="889000">
                <a:moveTo>
                  <a:pt x="31746" y="0"/>
                </a:moveTo>
                <a:lnTo>
                  <a:pt x="5302254" y="0"/>
                </a:lnTo>
                <a:cubicBezTo>
                  <a:pt x="5319787" y="0"/>
                  <a:pt x="5334000" y="14213"/>
                  <a:pt x="5334000" y="31746"/>
                </a:cubicBezTo>
                <a:lnTo>
                  <a:pt x="5334000" y="857254"/>
                </a:lnTo>
                <a:cubicBezTo>
                  <a:pt x="5334000" y="874787"/>
                  <a:pt x="5319787" y="889000"/>
                  <a:pt x="5302254" y="889000"/>
                </a:cubicBezTo>
                <a:lnTo>
                  <a:pt x="31746" y="889000"/>
                </a:lnTo>
                <a:cubicBezTo>
                  <a:pt x="14213" y="889000"/>
                  <a:pt x="0" y="874787"/>
                  <a:pt x="0" y="857254"/>
                </a:cubicBezTo>
                <a:lnTo>
                  <a:pt x="0" y="31746"/>
                </a:lnTo>
                <a:cubicBezTo>
                  <a:pt x="0" y="14225"/>
                  <a:pt x="14225" y="0"/>
                  <a:pt x="3174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98475" y="1625502"/>
            <a:ext cx="31750" cy="889000"/>
          </a:xfrm>
          <a:custGeom>
            <a:avLst/>
            <a:gdLst/>
            <a:ahLst/>
            <a:cxnLst/>
            <a:rect l="l" t="t" r="r" b="b"/>
            <a:pathLst>
              <a:path w="31750" h="889000">
                <a:moveTo>
                  <a:pt x="31750" y="0"/>
                </a:moveTo>
                <a:lnTo>
                  <a:pt x="31750" y="0"/>
                </a:lnTo>
                <a:lnTo>
                  <a:pt x="31750" y="889000"/>
                </a:lnTo>
                <a:lnTo>
                  <a:pt x="31750" y="889000"/>
                </a:lnTo>
                <a:cubicBezTo>
                  <a:pt x="14227" y="889000"/>
                  <a:pt x="0" y="874773"/>
                  <a:pt x="0" y="85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41350" y="175250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23404" y="1800127"/>
            <a:ext cx="230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4100" y="1752502"/>
            <a:ext cx="4722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Size Constraints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4100" y="2006502"/>
            <a:ext cx="4714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to </a:t>
            </a: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50,000 rows</a:t>
            </a: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(of ~2 million total) for Colab execution speed. Computational constraints prevented using the full dataset.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8475" y="2609752"/>
            <a:ext cx="5334000" cy="889000"/>
          </a:xfrm>
          <a:custGeom>
            <a:avLst/>
            <a:gdLst/>
            <a:ahLst/>
            <a:cxnLst/>
            <a:rect l="l" t="t" r="r" b="b"/>
            <a:pathLst>
              <a:path w="5334000" h="889000">
                <a:moveTo>
                  <a:pt x="31746" y="0"/>
                </a:moveTo>
                <a:lnTo>
                  <a:pt x="5302254" y="0"/>
                </a:lnTo>
                <a:cubicBezTo>
                  <a:pt x="5319787" y="0"/>
                  <a:pt x="5334000" y="14213"/>
                  <a:pt x="5334000" y="31746"/>
                </a:cubicBezTo>
                <a:lnTo>
                  <a:pt x="5334000" y="857254"/>
                </a:lnTo>
                <a:cubicBezTo>
                  <a:pt x="5334000" y="874787"/>
                  <a:pt x="5319787" y="889000"/>
                  <a:pt x="5302254" y="889000"/>
                </a:cubicBezTo>
                <a:lnTo>
                  <a:pt x="31746" y="889000"/>
                </a:lnTo>
                <a:cubicBezTo>
                  <a:pt x="14213" y="889000"/>
                  <a:pt x="0" y="874787"/>
                  <a:pt x="0" y="857254"/>
                </a:cubicBezTo>
                <a:lnTo>
                  <a:pt x="0" y="31746"/>
                </a:lnTo>
                <a:cubicBezTo>
                  <a:pt x="0" y="14225"/>
                  <a:pt x="14225" y="0"/>
                  <a:pt x="3174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98475" y="2609752"/>
            <a:ext cx="31750" cy="889000"/>
          </a:xfrm>
          <a:custGeom>
            <a:avLst/>
            <a:gdLst/>
            <a:ahLst/>
            <a:cxnLst/>
            <a:rect l="l" t="t" r="r" b="b"/>
            <a:pathLst>
              <a:path w="31750" h="889000">
                <a:moveTo>
                  <a:pt x="31750" y="0"/>
                </a:moveTo>
                <a:lnTo>
                  <a:pt x="31750" y="0"/>
                </a:lnTo>
                <a:lnTo>
                  <a:pt x="31750" y="889000"/>
                </a:lnTo>
                <a:lnTo>
                  <a:pt x="31750" y="889000"/>
                </a:lnTo>
                <a:cubicBezTo>
                  <a:pt x="14227" y="889000"/>
                  <a:pt x="0" y="874773"/>
                  <a:pt x="0" y="85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41350" y="273675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08124" y="2784377"/>
            <a:ext cx="26193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4100" y="2736752"/>
            <a:ext cx="4722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Perfect Collinearity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4100" y="2990752"/>
            <a:ext cx="4714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Global_intensity is perfectly collinear</a:t>
            </a: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Global_active_power (I = P/V). Must be carefully handled to avoid multicollinearity in linear models.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8475" y="3594002"/>
            <a:ext cx="5334000" cy="889000"/>
          </a:xfrm>
          <a:custGeom>
            <a:avLst/>
            <a:gdLst/>
            <a:ahLst/>
            <a:cxnLst/>
            <a:rect l="l" t="t" r="r" b="b"/>
            <a:pathLst>
              <a:path w="5334000" h="889000">
                <a:moveTo>
                  <a:pt x="31746" y="0"/>
                </a:moveTo>
                <a:lnTo>
                  <a:pt x="5302254" y="0"/>
                </a:lnTo>
                <a:cubicBezTo>
                  <a:pt x="5319787" y="0"/>
                  <a:pt x="5334000" y="14213"/>
                  <a:pt x="5334000" y="31746"/>
                </a:cubicBezTo>
                <a:lnTo>
                  <a:pt x="5334000" y="857254"/>
                </a:lnTo>
                <a:cubicBezTo>
                  <a:pt x="5334000" y="874787"/>
                  <a:pt x="5319787" y="889000"/>
                  <a:pt x="5302254" y="889000"/>
                </a:cubicBezTo>
                <a:lnTo>
                  <a:pt x="31746" y="889000"/>
                </a:lnTo>
                <a:cubicBezTo>
                  <a:pt x="14213" y="889000"/>
                  <a:pt x="0" y="874787"/>
                  <a:pt x="0" y="857254"/>
                </a:cubicBezTo>
                <a:lnTo>
                  <a:pt x="0" y="31746"/>
                </a:lnTo>
                <a:cubicBezTo>
                  <a:pt x="0" y="14225"/>
                  <a:pt x="14225" y="0"/>
                  <a:pt x="3174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98475" y="3594002"/>
            <a:ext cx="31750" cy="889000"/>
          </a:xfrm>
          <a:custGeom>
            <a:avLst/>
            <a:gdLst/>
            <a:ahLst/>
            <a:cxnLst/>
            <a:rect l="l" t="t" r="r" b="b"/>
            <a:pathLst>
              <a:path w="31750" h="889000">
                <a:moveTo>
                  <a:pt x="31750" y="0"/>
                </a:moveTo>
                <a:lnTo>
                  <a:pt x="31750" y="0"/>
                </a:lnTo>
                <a:lnTo>
                  <a:pt x="31750" y="889000"/>
                </a:lnTo>
                <a:lnTo>
                  <a:pt x="31750" y="889000"/>
                </a:lnTo>
                <a:cubicBezTo>
                  <a:pt x="14227" y="889000"/>
                  <a:pt x="0" y="874773"/>
                  <a:pt x="0" y="85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41350" y="372100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06041" y="3768627"/>
            <a:ext cx="26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4100" y="3721002"/>
            <a:ext cx="4722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Simultaneous Missing Values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54100" y="3975002"/>
            <a:ext cx="4714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Missing values occur </a:t>
            </a: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simultaneously across all sensors</a:t>
            </a: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indicating sensor downtime (not random dropout), requiring hierarchical imputation strategies.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8475" y="4578252"/>
            <a:ext cx="5334000" cy="889000"/>
          </a:xfrm>
          <a:custGeom>
            <a:avLst/>
            <a:gdLst/>
            <a:ahLst/>
            <a:cxnLst/>
            <a:rect l="l" t="t" r="r" b="b"/>
            <a:pathLst>
              <a:path w="5334000" h="889000">
                <a:moveTo>
                  <a:pt x="31746" y="0"/>
                </a:moveTo>
                <a:lnTo>
                  <a:pt x="5302254" y="0"/>
                </a:lnTo>
                <a:cubicBezTo>
                  <a:pt x="5319787" y="0"/>
                  <a:pt x="5334000" y="14213"/>
                  <a:pt x="5334000" y="31746"/>
                </a:cubicBezTo>
                <a:lnTo>
                  <a:pt x="5334000" y="857254"/>
                </a:lnTo>
                <a:cubicBezTo>
                  <a:pt x="5334000" y="874787"/>
                  <a:pt x="5319787" y="889000"/>
                  <a:pt x="5302254" y="889000"/>
                </a:cubicBezTo>
                <a:lnTo>
                  <a:pt x="31746" y="889000"/>
                </a:lnTo>
                <a:cubicBezTo>
                  <a:pt x="14213" y="889000"/>
                  <a:pt x="0" y="874787"/>
                  <a:pt x="0" y="857254"/>
                </a:cubicBezTo>
                <a:lnTo>
                  <a:pt x="0" y="31746"/>
                </a:lnTo>
                <a:cubicBezTo>
                  <a:pt x="0" y="14225"/>
                  <a:pt x="14225" y="0"/>
                  <a:pt x="3174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98475" y="4578252"/>
            <a:ext cx="31750" cy="889000"/>
          </a:xfrm>
          <a:custGeom>
            <a:avLst/>
            <a:gdLst/>
            <a:ahLst/>
            <a:cxnLst/>
            <a:rect l="l" t="t" r="r" b="b"/>
            <a:pathLst>
              <a:path w="31750" h="889000">
                <a:moveTo>
                  <a:pt x="31750" y="0"/>
                </a:moveTo>
                <a:lnTo>
                  <a:pt x="31750" y="0"/>
                </a:lnTo>
                <a:lnTo>
                  <a:pt x="31750" y="889000"/>
                </a:lnTo>
                <a:lnTo>
                  <a:pt x="31750" y="889000"/>
                </a:lnTo>
                <a:cubicBezTo>
                  <a:pt x="14227" y="889000"/>
                  <a:pt x="0" y="874773"/>
                  <a:pt x="0" y="85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41350" y="470525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08223" y="4752877"/>
            <a:ext cx="26193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54100" y="4705252"/>
            <a:ext cx="4722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 High-Load Events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54100" y="4959252"/>
            <a:ext cx="4714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Energy "outliers" (IQR/Z-score) may be </a:t>
            </a: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 high-load events</a:t>
            </a: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(AC/heaters). Domain knowledge required before capping or removing.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98475" y="5562502"/>
            <a:ext cx="5334000" cy="889000"/>
          </a:xfrm>
          <a:custGeom>
            <a:avLst/>
            <a:gdLst/>
            <a:ahLst/>
            <a:cxnLst/>
            <a:rect l="l" t="t" r="r" b="b"/>
            <a:pathLst>
              <a:path w="5334000" h="889000">
                <a:moveTo>
                  <a:pt x="31746" y="0"/>
                </a:moveTo>
                <a:lnTo>
                  <a:pt x="5302254" y="0"/>
                </a:lnTo>
                <a:cubicBezTo>
                  <a:pt x="5319787" y="0"/>
                  <a:pt x="5334000" y="14213"/>
                  <a:pt x="5334000" y="31746"/>
                </a:cubicBezTo>
                <a:lnTo>
                  <a:pt x="5334000" y="857254"/>
                </a:lnTo>
                <a:cubicBezTo>
                  <a:pt x="5334000" y="874787"/>
                  <a:pt x="5319787" y="889000"/>
                  <a:pt x="5302254" y="889000"/>
                </a:cubicBezTo>
                <a:lnTo>
                  <a:pt x="31746" y="889000"/>
                </a:lnTo>
                <a:cubicBezTo>
                  <a:pt x="14213" y="889000"/>
                  <a:pt x="0" y="874787"/>
                  <a:pt x="0" y="857254"/>
                </a:cubicBezTo>
                <a:lnTo>
                  <a:pt x="0" y="31746"/>
                </a:lnTo>
                <a:cubicBezTo>
                  <a:pt x="0" y="14225"/>
                  <a:pt x="14225" y="0"/>
                  <a:pt x="31746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98475" y="5562502"/>
            <a:ext cx="31750" cy="889000"/>
          </a:xfrm>
          <a:custGeom>
            <a:avLst/>
            <a:gdLst/>
            <a:ahLst/>
            <a:cxnLst/>
            <a:rect l="l" t="t" r="r" b="b"/>
            <a:pathLst>
              <a:path w="31750" h="889000">
                <a:moveTo>
                  <a:pt x="31750" y="0"/>
                </a:moveTo>
                <a:lnTo>
                  <a:pt x="31750" y="0"/>
                </a:lnTo>
                <a:lnTo>
                  <a:pt x="31750" y="889000"/>
                </a:lnTo>
                <a:lnTo>
                  <a:pt x="31750" y="889000"/>
                </a:lnTo>
                <a:cubicBezTo>
                  <a:pt x="14227" y="889000"/>
                  <a:pt x="0" y="874773"/>
                  <a:pt x="0" y="8572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41350" y="568950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05842" y="5737127"/>
            <a:ext cx="269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54100" y="5689502"/>
            <a:ext cx="47228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Seasonalities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54100" y="5943502"/>
            <a:ext cx="4714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Strong multiple seasonalities</a:t>
            </a: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(daily and yearly) complicate stationarity assessment and require careful handling for modeling.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94425" y="1082675"/>
            <a:ext cx="5673725" cy="5594350"/>
          </a:xfrm>
          <a:custGeom>
            <a:avLst/>
            <a:gdLst/>
            <a:ahLst/>
            <a:cxnLst/>
            <a:rect l="l" t="t" r="r" b="b"/>
            <a:pathLst>
              <a:path w="5673725" h="5594350">
                <a:moveTo>
                  <a:pt x="63496" y="0"/>
                </a:moveTo>
                <a:lnTo>
                  <a:pt x="5610229" y="0"/>
                </a:lnTo>
                <a:cubicBezTo>
                  <a:pt x="5645297" y="0"/>
                  <a:pt x="5673725" y="28428"/>
                  <a:pt x="5673725" y="63496"/>
                </a:cubicBezTo>
                <a:lnTo>
                  <a:pt x="5673725" y="5530854"/>
                </a:lnTo>
                <a:cubicBezTo>
                  <a:pt x="5673725" y="5565922"/>
                  <a:pt x="5645297" y="5594350"/>
                  <a:pt x="5610229" y="5594350"/>
                </a:cubicBezTo>
                <a:lnTo>
                  <a:pt x="63496" y="5594350"/>
                </a:lnTo>
                <a:cubicBezTo>
                  <a:pt x="28428" y="5594350"/>
                  <a:pt x="0" y="5565922"/>
                  <a:pt x="0" y="5530854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6380162" y="12762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594475" y="1244602"/>
            <a:ext cx="520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59525" y="1628677"/>
            <a:ext cx="5348288" cy="895350"/>
          </a:xfrm>
          <a:custGeom>
            <a:avLst/>
            <a:gdLst/>
            <a:ahLst/>
            <a:cxnLst/>
            <a:rect l="l" t="t" r="r" b="b"/>
            <a:pathLst>
              <a:path w="5348288" h="895350">
                <a:moveTo>
                  <a:pt x="63498" y="0"/>
                </a:moveTo>
                <a:lnTo>
                  <a:pt x="5284789" y="0"/>
                </a:lnTo>
                <a:cubicBezTo>
                  <a:pt x="5319858" y="0"/>
                  <a:pt x="5348288" y="28429"/>
                  <a:pt x="5348288" y="63498"/>
                </a:cubicBezTo>
                <a:lnTo>
                  <a:pt x="5348288" y="831852"/>
                </a:lnTo>
                <a:cubicBezTo>
                  <a:pt x="5348287" y="866921"/>
                  <a:pt x="5319858" y="895350"/>
                  <a:pt x="5284789" y="895350"/>
                </a:cubicBezTo>
                <a:lnTo>
                  <a:pt x="63498" y="895350"/>
                </a:lnTo>
                <a:cubicBezTo>
                  <a:pt x="28429" y="895350"/>
                  <a:pt x="0" y="866921"/>
                  <a:pt x="0" y="831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6489700" y="175885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578997" y="1838225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138906" y="63810"/>
                </a:moveTo>
                <a:cubicBezTo>
                  <a:pt x="134317" y="66849"/>
                  <a:pt x="129046" y="69298"/>
                  <a:pt x="123558" y="71251"/>
                </a:cubicBezTo>
                <a:cubicBezTo>
                  <a:pt x="108986" y="76460"/>
                  <a:pt x="89855" y="79375"/>
                  <a:pt x="69453" y="79375"/>
                </a:cubicBezTo>
                <a:cubicBezTo>
                  <a:pt x="49051" y="79375"/>
                  <a:pt x="29890" y="76429"/>
                  <a:pt x="15348" y="71251"/>
                </a:cubicBezTo>
                <a:cubicBezTo>
                  <a:pt x="9891" y="69298"/>
                  <a:pt x="4589" y="66849"/>
                  <a:pt x="0" y="63810"/>
                </a:cubicBezTo>
                <a:lnTo>
                  <a:pt x="0" y="89297"/>
                </a:lnTo>
                <a:cubicBezTo>
                  <a:pt x="0" y="103001"/>
                  <a:pt x="31099" y="114102"/>
                  <a:pt x="69453" y="114102"/>
                </a:cubicBezTo>
                <a:cubicBezTo>
                  <a:pt x="107807" y="114102"/>
                  <a:pt x="138906" y="103001"/>
                  <a:pt x="138906" y="89297"/>
                </a:cubicBezTo>
                <a:lnTo>
                  <a:pt x="138906" y="63810"/>
                </a:lnTo>
                <a:close/>
                <a:moveTo>
                  <a:pt x="138906" y="39688"/>
                </a:moveTo>
                <a:lnTo>
                  <a:pt x="138906" y="24805"/>
                </a:lnTo>
                <a:cubicBezTo>
                  <a:pt x="138906" y="11100"/>
                  <a:pt x="107807" y="0"/>
                  <a:pt x="69453" y="0"/>
                </a:cubicBezTo>
                <a:cubicBezTo>
                  <a:pt x="31099" y="0"/>
                  <a:pt x="0" y="11100"/>
                  <a:pt x="0" y="24805"/>
                </a:cubicBezTo>
                <a:lnTo>
                  <a:pt x="0" y="39688"/>
                </a:lnTo>
                <a:cubicBezTo>
                  <a:pt x="0" y="53392"/>
                  <a:pt x="31099" y="64492"/>
                  <a:pt x="69453" y="64492"/>
                </a:cubicBezTo>
                <a:cubicBezTo>
                  <a:pt x="107807" y="64492"/>
                  <a:pt x="138906" y="53392"/>
                  <a:pt x="138906" y="39688"/>
                </a:cubicBezTo>
                <a:close/>
                <a:moveTo>
                  <a:pt x="123558" y="120861"/>
                </a:moveTo>
                <a:cubicBezTo>
                  <a:pt x="109017" y="126039"/>
                  <a:pt x="89886" y="128984"/>
                  <a:pt x="69453" y="128984"/>
                </a:cubicBezTo>
                <a:cubicBezTo>
                  <a:pt x="49020" y="128984"/>
                  <a:pt x="29890" y="126039"/>
                  <a:pt x="15348" y="120861"/>
                </a:cubicBezTo>
                <a:cubicBezTo>
                  <a:pt x="9891" y="118907"/>
                  <a:pt x="4589" y="116458"/>
                  <a:pt x="0" y="113419"/>
                </a:cubicBezTo>
                <a:lnTo>
                  <a:pt x="0" y="133945"/>
                </a:lnTo>
                <a:cubicBezTo>
                  <a:pt x="0" y="147650"/>
                  <a:pt x="31099" y="158750"/>
                  <a:pt x="69453" y="158750"/>
                </a:cubicBezTo>
                <a:cubicBezTo>
                  <a:pt x="107807" y="158750"/>
                  <a:pt x="138906" y="147650"/>
                  <a:pt x="138906" y="133945"/>
                </a:cubicBezTo>
                <a:lnTo>
                  <a:pt x="138906" y="113419"/>
                </a:lnTo>
                <a:cubicBezTo>
                  <a:pt x="134317" y="116458"/>
                  <a:pt x="129046" y="118907"/>
                  <a:pt x="123558" y="120861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902450" y="1758850"/>
            <a:ext cx="4746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Dataset Utilization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902450" y="2012850"/>
            <a:ext cx="4738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to </a:t>
            </a: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2 million rows</a:t>
            </a: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distributed computing (Spark/Dask) or cloud infrastructure for more robust training.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59525" y="2625627"/>
            <a:ext cx="5348288" cy="895350"/>
          </a:xfrm>
          <a:custGeom>
            <a:avLst/>
            <a:gdLst/>
            <a:ahLst/>
            <a:cxnLst/>
            <a:rect l="l" t="t" r="r" b="b"/>
            <a:pathLst>
              <a:path w="5348288" h="895350">
                <a:moveTo>
                  <a:pt x="63498" y="0"/>
                </a:moveTo>
                <a:lnTo>
                  <a:pt x="5284789" y="0"/>
                </a:lnTo>
                <a:cubicBezTo>
                  <a:pt x="5319858" y="0"/>
                  <a:pt x="5348288" y="28429"/>
                  <a:pt x="5348288" y="63498"/>
                </a:cubicBezTo>
                <a:lnTo>
                  <a:pt x="5348288" y="831852"/>
                </a:lnTo>
                <a:cubicBezTo>
                  <a:pt x="5348287" y="866921"/>
                  <a:pt x="5319858" y="895350"/>
                  <a:pt x="5284789" y="895350"/>
                </a:cubicBezTo>
                <a:lnTo>
                  <a:pt x="63498" y="895350"/>
                </a:lnTo>
                <a:cubicBezTo>
                  <a:pt x="28429" y="895350"/>
                  <a:pt x="0" y="866921"/>
                  <a:pt x="0" y="831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489700" y="2755801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569075" y="2835176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37207" y="17363"/>
                </a:moveTo>
                <a:cubicBezTo>
                  <a:pt x="37207" y="7782"/>
                  <a:pt x="44990" y="0"/>
                  <a:pt x="54570" y="0"/>
                </a:cubicBezTo>
                <a:lnTo>
                  <a:pt x="62012" y="0"/>
                </a:lnTo>
                <a:cubicBezTo>
                  <a:pt x="67500" y="0"/>
                  <a:pt x="71934" y="4434"/>
                  <a:pt x="71934" y="9922"/>
                </a:cubicBezTo>
                <a:lnTo>
                  <a:pt x="71934" y="148828"/>
                </a:lnTo>
                <a:cubicBezTo>
                  <a:pt x="71934" y="154316"/>
                  <a:pt x="67500" y="158750"/>
                  <a:pt x="62012" y="158750"/>
                </a:cubicBezTo>
                <a:lnTo>
                  <a:pt x="52090" y="158750"/>
                </a:lnTo>
                <a:cubicBezTo>
                  <a:pt x="42850" y="158750"/>
                  <a:pt x="35068" y="152425"/>
                  <a:pt x="32866" y="143867"/>
                </a:cubicBezTo>
                <a:cubicBezTo>
                  <a:pt x="32649" y="143867"/>
                  <a:pt x="32463" y="143867"/>
                  <a:pt x="32246" y="143867"/>
                </a:cubicBezTo>
                <a:cubicBezTo>
                  <a:pt x="18542" y="143867"/>
                  <a:pt x="7441" y="132767"/>
                  <a:pt x="7441" y="119062"/>
                </a:cubicBezTo>
                <a:cubicBezTo>
                  <a:pt x="7441" y="113481"/>
                  <a:pt x="9302" y="108334"/>
                  <a:pt x="12402" y="104180"/>
                </a:cubicBezTo>
                <a:cubicBezTo>
                  <a:pt x="6387" y="99653"/>
                  <a:pt x="2480" y="92459"/>
                  <a:pt x="2480" y="84336"/>
                </a:cubicBezTo>
                <a:cubicBezTo>
                  <a:pt x="2480" y="74755"/>
                  <a:pt x="7938" y="66415"/>
                  <a:pt x="15875" y="62291"/>
                </a:cubicBezTo>
                <a:cubicBezTo>
                  <a:pt x="13674" y="58570"/>
                  <a:pt x="12402" y="54229"/>
                  <a:pt x="12402" y="49609"/>
                </a:cubicBezTo>
                <a:cubicBezTo>
                  <a:pt x="12402" y="35905"/>
                  <a:pt x="23502" y="24805"/>
                  <a:pt x="37207" y="24805"/>
                </a:cubicBezTo>
                <a:lnTo>
                  <a:pt x="37207" y="17363"/>
                </a:lnTo>
                <a:close/>
                <a:moveTo>
                  <a:pt x="121543" y="17363"/>
                </a:moveTo>
                <a:lnTo>
                  <a:pt x="121543" y="24805"/>
                </a:lnTo>
                <a:cubicBezTo>
                  <a:pt x="135248" y="24805"/>
                  <a:pt x="146348" y="35905"/>
                  <a:pt x="146348" y="49609"/>
                </a:cubicBezTo>
                <a:cubicBezTo>
                  <a:pt x="146348" y="54260"/>
                  <a:pt x="145076" y="58601"/>
                  <a:pt x="142875" y="62291"/>
                </a:cubicBezTo>
                <a:cubicBezTo>
                  <a:pt x="150844" y="66415"/>
                  <a:pt x="156270" y="74724"/>
                  <a:pt x="156270" y="84336"/>
                </a:cubicBezTo>
                <a:cubicBezTo>
                  <a:pt x="156270" y="92459"/>
                  <a:pt x="152363" y="99653"/>
                  <a:pt x="146348" y="104180"/>
                </a:cubicBezTo>
                <a:cubicBezTo>
                  <a:pt x="149448" y="108334"/>
                  <a:pt x="151309" y="113481"/>
                  <a:pt x="151309" y="119062"/>
                </a:cubicBezTo>
                <a:cubicBezTo>
                  <a:pt x="151309" y="132767"/>
                  <a:pt x="140208" y="143867"/>
                  <a:pt x="126504" y="143867"/>
                </a:cubicBezTo>
                <a:cubicBezTo>
                  <a:pt x="126287" y="143867"/>
                  <a:pt x="126101" y="143867"/>
                  <a:pt x="125884" y="143867"/>
                </a:cubicBezTo>
                <a:cubicBezTo>
                  <a:pt x="123682" y="152425"/>
                  <a:pt x="115900" y="158750"/>
                  <a:pt x="106660" y="158750"/>
                </a:cubicBezTo>
                <a:lnTo>
                  <a:pt x="96738" y="158750"/>
                </a:lnTo>
                <a:cubicBezTo>
                  <a:pt x="91250" y="158750"/>
                  <a:pt x="86816" y="154316"/>
                  <a:pt x="86816" y="148828"/>
                </a:cubicBezTo>
                <a:lnTo>
                  <a:pt x="86816" y="9922"/>
                </a:lnTo>
                <a:cubicBezTo>
                  <a:pt x="86816" y="4434"/>
                  <a:pt x="91250" y="0"/>
                  <a:pt x="96738" y="0"/>
                </a:cubicBezTo>
                <a:lnTo>
                  <a:pt x="104180" y="0"/>
                </a:lnTo>
                <a:cubicBezTo>
                  <a:pt x="113760" y="0"/>
                  <a:pt x="121543" y="7782"/>
                  <a:pt x="121543" y="17363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902450" y="2755801"/>
            <a:ext cx="4746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 Models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902450" y="3009801"/>
            <a:ext cx="4738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</a:t>
            </a: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LSTM, GRU, or Transformer</a:t>
            </a: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architectures to capture long-term dependencies and complex temporal patterns.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59525" y="3622578"/>
            <a:ext cx="5348288" cy="895350"/>
          </a:xfrm>
          <a:custGeom>
            <a:avLst/>
            <a:gdLst/>
            <a:ahLst/>
            <a:cxnLst/>
            <a:rect l="l" t="t" r="r" b="b"/>
            <a:pathLst>
              <a:path w="5348288" h="895350">
                <a:moveTo>
                  <a:pt x="63498" y="0"/>
                </a:moveTo>
                <a:lnTo>
                  <a:pt x="5284789" y="0"/>
                </a:lnTo>
                <a:cubicBezTo>
                  <a:pt x="5319858" y="0"/>
                  <a:pt x="5348288" y="28429"/>
                  <a:pt x="5348288" y="63498"/>
                </a:cubicBezTo>
                <a:lnTo>
                  <a:pt x="5348288" y="831852"/>
                </a:lnTo>
                <a:cubicBezTo>
                  <a:pt x="5348287" y="866921"/>
                  <a:pt x="5319858" y="895350"/>
                  <a:pt x="5284789" y="895350"/>
                </a:cubicBezTo>
                <a:lnTo>
                  <a:pt x="63498" y="895350"/>
                </a:lnTo>
                <a:cubicBezTo>
                  <a:pt x="28429" y="895350"/>
                  <a:pt x="0" y="866921"/>
                  <a:pt x="0" y="831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6489700" y="375275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559153" y="3832127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140643" y="-4589"/>
                </a:moveTo>
                <a:cubicBezTo>
                  <a:pt x="142162" y="-3969"/>
                  <a:pt x="143278" y="-2604"/>
                  <a:pt x="143588" y="-992"/>
                </a:cubicBezTo>
                <a:lnTo>
                  <a:pt x="148828" y="24805"/>
                </a:lnTo>
                <a:lnTo>
                  <a:pt x="174625" y="30014"/>
                </a:lnTo>
                <a:cubicBezTo>
                  <a:pt x="176237" y="30355"/>
                  <a:pt x="177571" y="31440"/>
                  <a:pt x="178222" y="32959"/>
                </a:cubicBezTo>
                <a:cubicBezTo>
                  <a:pt x="178873" y="34479"/>
                  <a:pt x="178687" y="36215"/>
                  <a:pt x="177788" y="37579"/>
                </a:cubicBezTo>
                <a:lnTo>
                  <a:pt x="163246" y="59500"/>
                </a:lnTo>
                <a:lnTo>
                  <a:pt x="177788" y="81421"/>
                </a:lnTo>
                <a:cubicBezTo>
                  <a:pt x="178687" y="82786"/>
                  <a:pt x="178873" y="84522"/>
                  <a:pt x="178222" y="86041"/>
                </a:cubicBezTo>
                <a:cubicBezTo>
                  <a:pt x="177571" y="87561"/>
                  <a:pt x="176237" y="88677"/>
                  <a:pt x="174625" y="88987"/>
                </a:cubicBezTo>
                <a:lnTo>
                  <a:pt x="155339" y="92925"/>
                </a:lnTo>
                <a:cubicBezTo>
                  <a:pt x="151650" y="90227"/>
                  <a:pt x="147557" y="88088"/>
                  <a:pt x="143123" y="86599"/>
                </a:cubicBezTo>
                <a:cubicBezTo>
                  <a:pt x="142348" y="82662"/>
                  <a:pt x="141015" y="78941"/>
                  <a:pt x="139185" y="75530"/>
                </a:cubicBezTo>
                <a:cubicBezTo>
                  <a:pt x="142131" y="70910"/>
                  <a:pt x="143867" y="65422"/>
                  <a:pt x="143867" y="59500"/>
                </a:cubicBezTo>
                <a:cubicBezTo>
                  <a:pt x="143867" y="43067"/>
                  <a:pt x="130535" y="29735"/>
                  <a:pt x="114102" y="29735"/>
                </a:cubicBezTo>
                <a:cubicBezTo>
                  <a:pt x="99250" y="29735"/>
                  <a:pt x="86940" y="40618"/>
                  <a:pt x="84708" y="54818"/>
                </a:cubicBezTo>
                <a:cubicBezTo>
                  <a:pt x="76491" y="48524"/>
                  <a:pt x="66260" y="44741"/>
                  <a:pt x="55128" y="44617"/>
                </a:cubicBezTo>
                <a:lnTo>
                  <a:pt x="50447" y="37579"/>
                </a:lnTo>
                <a:cubicBezTo>
                  <a:pt x="49547" y="36215"/>
                  <a:pt x="49361" y="34479"/>
                  <a:pt x="50012" y="32959"/>
                </a:cubicBezTo>
                <a:cubicBezTo>
                  <a:pt x="50664" y="31440"/>
                  <a:pt x="51997" y="30324"/>
                  <a:pt x="53609" y="30014"/>
                </a:cubicBezTo>
                <a:lnTo>
                  <a:pt x="79375" y="24805"/>
                </a:lnTo>
                <a:lnTo>
                  <a:pt x="84584" y="-992"/>
                </a:lnTo>
                <a:cubicBezTo>
                  <a:pt x="84925" y="-2604"/>
                  <a:pt x="86010" y="-3938"/>
                  <a:pt x="87530" y="-4589"/>
                </a:cubicBezTo>
                <a:cubicBezTo>
                  <a:pt x="89049" y="-5240"/>
                  <a:pt x="90785" y="-5054"/>
                  <a:pt x="92149" y="-4155"/>
                </a:cubicBezTo>
                <a:lnTo>
                  <a:pt x="114102" y="10418"/>
                </a:lnTo>
                <a:lnTo>
                  <a:pt x="136023" y="-4124"/>
                </a:lnTo>
                <a:cubicBezTo>
                  <a:pt x="137387" y="-5023"/>
                  <a:pt x="139123" y="-5209"/>
                  <a:pt x="140643" y="-4558"/>
                </a:cubicBezTo>
                <a:close/>
                <a:moveTo>
                  <a:pt x="128984" y="59531"/>
                </a:moveTo>
                <a:cubicBezTo>
                  <a:pt x="128984" y="60709"/>
                  <a:pt x="128860" y="61857"/>
                  <a:pt x="128581" y="62973"/>
                </a:cubicBezTo>
                <a:cubicBezTo>
                  <a:pt x="121853" y="57702"/>
                  <a:pt x="113388" y="54570"/>
                  <a:pt x="104180" y="54570"/>
                </a:cubicBezTo>
                <a:cubicBezTo>
                  <a:pt x="102753" y="54570"/>
                  <a:pt x="101358" y="54632"/>
                  <a:pt x="99994" y="54787"/>
                </a:cubicBezTo>
                <a:cubicBezTo>
                  <a:pt x="101978" y="48896"/>
                  <a:pt x="107559" y="44648"/>
                  <a:pt x="114102" y="44648"/>
                </a:cubicBezTo>
                <a:cubicBezTo>
                  <a:pt x="122318" y="44648"/>
                  <a:pt x="128984" y="51315"/>
                  <a:pt x="128984" y="59531"/>
                </a:cubicBezTo>
                <a:close/>
                <a:moveTo>
                  <a:pt x="29766" y="158750"/>
                </a:moveTo>
                <a:cubicBezTo>
                  <a:pt x="13333" y="158750"/>
                  <a:pt x="0" y="145417"/>
                  <a:pt x="0" y="128984"/>
                </a:cubicBezTo>
                <a:cubicBezTo>
                  <a:pt x="0" y="115807"/>
                  <a:pt x="8558" y="104614"/>
                  <a:pt x="20433" y="100707"/>
                </a:cubicBezTo>
                <a:cubicBezTo>
                  <a:pt x="20030" y="98630"/>
                  <a:pt x="19844" y="96459"/>
                  <a:pt x="19844" y="94258"/>
                </a:cubicBezTo>
                <a:cubicBezTo>
                  <a:pt x="19844" y="75065"/>
                  <a:pt x="35378" y="59531"/>
                  <a:pt x="54570" y="59531"/>
                </a:cubicBezTo>
                <a:cubicBezTo>
                  <a:pt x="67934" y="59531"/>
                  <a:pt x="79530" y="67066"/>
                  <a:pt x="85328" y="78135"/>
                </a:cubicBezTo>
                <a:cubicBezTo>
                  <a:pt x="89886" y="72833"/>
                  <a:pt x="96645" y="69453"/>
                  <a:pt x="104180" y="69453"/>
                </a:cubicBezTo>
                <a:cubicBezTo>
                  <a:pt x="117884" y="69453"/>
                  <a:pt x="128984" y="80553"/>
                  <a:pt x="128984" y="94258"/>
                </a:cubicBezTo>
                <a:cubicBezTo>
                  <a:pt x="128984" y="95963"/>
                  <a:pt x="128798" y="97606"/>
                  <a:pt x="128488" y="99219"/>
                </a:cubicBezTo>
                <a:cubicBezTo>
                  <a:pt x="128643" y="99219"/>
                  <a:pt x="128829" y="99219"/>
                  <a:pt x="128984" y="99219"/>
                </a:cubicBezTo>
                <a:cubicBezTo>
                  <a:pt x="145417" y="99219"/>
                  <a:pt x="158750" y="112551"/>
                  <a:pt x="158750" y="128984"/>
                </a:cubicBezTo>
                <a:cubicBezTo>
                  <a:pt x="158750" y="145417"/>
                  <a:pt x="145417" y="158750"/>
                  <a:pt x="128984" y="158750"/>
                </a:cubicBezTo>
                <a:lnTo>
                  <a:pt x="29766" y="158750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902450" y="3752752"/>
            <a:ext cx="4746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External Data Integration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902450" y="4006752"/>
            <a:ext cx="4738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Incorporate </a:t>
            </a: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 data</a:t>
            </a: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(temperature, humidity) and </a:t>
            </a: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holiday calendars</a:t>
            </a: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improve prediction accuracy.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359525" y="4619525"/>
            <a:ext cx="5348288" cy="895350"/>
          </a:xfrm>
          <a:custGeom>
            <a:avLst/>
            <a:gdLst/>
            <a:ahLst/>
            <a:cxnLst/>
            <a:rect l="l" t="t" r="r" b="b"/>
            <a:pathLst>
              <a:path w="5348288" h="895350">
                <a:moveTo>
                  <a:pt x="63498" y="0"/>
                </a:moveTo>
                <a:lnTo>
                  <a:pt x="5284789" y="0"/>
                </a:lnTo>
                <a:cubicBezTo>
                  <a:pt x="5319858" y="0"/>
                  <a:pt x="5348288" y="28429"/>
                  <a:pt x="5348288" y="63498"/>
                </a:cubicBezTo>
                <a:lnTo>
                  <a:pt x="5348288" y="831852"/>
                </a:lnTo>
                <a:cubicBezTo>
                  <a:pt x="5348287" y="866921"/>
                  <a:pt x="5319858" y="895350"/>
                  <a:pt x="5284789" y="895350"/>
                </a:cubicBezTo>
                <a:lnTo>
                  <a:pt x="63498" y="895350"/>
                </a:lnTo>
                <a:cubicBezTo>
                  <a:pt x="28429" y="895350"/>
                  <a:pt x="0" y="866921"/>
                  <a:pt x="0" y="831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6489700" y="4749702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569075" y="4829077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59531" y="19844"/>
                </a:moveTo>
                <a:cubicBezTo>
                  <a:pt x="59531" y="14356"/>
                  <a:pt x="63965" y="9922"/>
                  <a:pt x="69453" y="9922"/>
                </a:cubicBezTo>
                <a:lnTo>
                  <a:pt x="89297" y="9922"/>
                </a:lnTo>
                <a:cubicBezTo>
                  <a:pt x="94785" y="9922"/>
                  <a:pt x="99219" y="14356"/>
                  <a:pt x="99219" y="19844"/>
                </a:cubicBezTo>
                <a:lnTo>
                  <a:pt x="99219" y="39688"/>
                </a:lnTo>
                <a:cubicBezTo>
                  <a:pt x="99219" y="45176"/>
                  <a:pt x="94785" y="49609"/>
                  <a:pt x="89297" y="49609"/>
                </a:cubicBezTo>
                <a:lnTo>
                  <a:pt x="86816" y="49609"/>
                </a:lnTo>
                <a:lnTo>
                  <a:pt x="86816" y="69453"/>
                </a:lnTo>
                <a:lnTo>
                  <a:pt x="124023" y="69453"/>
                </a:lnTo>
                <a:cubicBezTo>
                  <a:pt x="136364" y="69453"/>
                  <a:pt x="146348" y="79437"/>
                  <a:pt x="146348" y="91777"/>
                </a:cubicBezTo>
                <a:lnTo>
                  <a:pt x="146348" y="109141"/>
                </a:lnTo>
                <a:lnTo>
                  <a:pt x="148828" y="109141"/>
                </a:lnTo>
                <a:cubicBezTo>
                  <a:pt x="154316" y="109141"/>
                  <a:pt x="158750" y="113574"/>
                  <a:pt x="158750" y="119062"/>
                </a:cubicBezTo>
                <a:lnTo>
                  <a:pt x="158750" y="138906"/>
                </a:lnTo>
                <a:cubicBezTo>
                  <a:pt x="158750" y="144394"/>
                  <a:pt x="154316" y="148828"/>
                  <a:pt x="148828" y="148828"/>
                </a:cubicBezTo>
                <a:lnTo>
                  <a:pt x="128984" y="148828"/>
                </a:lnTo>
                <a:cubicBezTo>
                  <a:pt x="123496" y="148828"/>
                  <a:pt x="119062" y="144394"/>
                  <a:pt x="119062" y="138906"/>
                </a:cubicBezTo>
                <a:lnTo>
                  <a:pt x="119062" y="119062"/>
                </a:lnTo>
                <a:cubicBezTo>
                  <a:pt x="119062" y="113574"/>
                  <a:pt x="123496" y="109141"/>
                  <a:pt x="128984" y="109141"/>
                </a:cubicBezTo>
                <a:lnTo>
                  <a:pt x="131465" y="109141"/>
                </a:lnTo>
                <a:lnTo>
                  <a:pt x="131465" y="91777"/>
                </a:lnTo>
                <a:cubicBezTo>
                  <a:pt x="131465" y="87654"/>
                  <a:pt x="128147" y="84336"/>
                  <a:pt x="124023" y="84336"/>
                </a:cubicBezTo>
                <a:lnTo>
                  <a:pt x="86816" y="84336"/>
                </a:lnTo>
                <a:lnTo>
                  <a:pt x="86816" y="109141"/>
                </a:lnTo>
                <a:lnTo>
                  <a:pt x="89297" y="109141"/>
                </a:lnTo>
                <a:cubicBezTo>
                  <a:pt x="94785" y="109141"/>
                  <a:pt x="99219" y="113574"/>
                  <a:pt x="99219" y="119062"/>
                </a:cubicBezTo>
                <a:lnTo>
                  <a:pt x="99219" y="138906"/>
                </a:lnTo>
                <a:cubicBezTo>
                  <a:pt x="99219" y="144394"/>
                  <a:pt x="94785" y="148828"/>
                  <a:pt x="89297" y="148828"/>
                </a:cubicBezTo>
                <a:lnTo>
                  <a:pt x="69453" y="148828"/>
                </a:lnTo>
                <a:cubicBezTo>
                  <a:pt x="63965" y="148828"/>
                  <a:pt x="59531" y="144394"/>
                  <a:pt x="59531" y="138906"/>
                </a:cubicBezTo>
                <a:lnTo>
                  <a:pt x="59531" y="119062"/>
                </a:lnTo>
                <a:cubicBezTo>
                  <a:pt x="59531" y="113574"/>
                  <a:pt x="63965" y="109141"/>
                  <a:pt x="69453" y="109141"/>
                </a:cubicBezTo>
                <a:lnTo>
                  <a:pt x="71934" y="109141"/>
                </a:lnTo>
                <a:lnTo>
                  <a:pt x="71934" y="84336"/>
                </a:lnTo>
                <a:lnTo>
                  <a:pt x="34727" y="84336"/>
                </a:lnTo>
                <a:cubicBezTo>
                  <a:pt x="30603" y="84336"/>
                  <a:pt x="27285" y="87654"/>
                  <a:pt x="27285" y="91777"/>
                </a:cubicBezTo>
                <a:lnTo>
                  <a:pt x="27285" y="109141"/>
                </a:lnTo>
                <a:lnTo>
                  <a:pt x="29766" y="109141"/>
                </a:lnTo>
                <a:cubicBezTo>
                  <a:pt x="35254" y="109141"/>
                  <a:pt x="39688" y="113574"/>
                  <a:pt x="39688" y="119062"/>
                </a:cubicBezTo>
                <a:lnTo>
                  <a:pt x="39688" y="138906"/>
                </a:lnTo>
                <a:cubicBezTo>
                  <a:pt x="39688" y="144394"/>
                  <a:pt x="35254" y="148828"/>
                  <a:pt x="29766" y="148828"/>
                </a:cubicBezTo>
                <a:lnTo>
                  <a:pt x="9922" y="148828"/>
                </a:lnTo>
                <a:cubicBezTo>
                  <a:pt x="4434" y="148828"/>
                  <a:pt x="0" y="144394"/>
                  <a:pt x="0" y="138906"/>
                </a:cubicBezTo>
                <a:lnTo>
                  <a:pt x="0" y="119062"/>
                </a:lnTo>
                <a:cubicBezTo>
                  <a:pt x="0" y="113574"/>
                  <a:pt x="4434" y="109141"/>
                  <a:pt x="9922" y="109141"/>
                </a:cubicBezTo>
                <a:lnTo>
                  <a:pt x="12402" y="109141"/>
                </a:lnTo>
                <a:lnTo>
                  <a:pt x="12402" y="91777"/>
                </a:lnTo>
                <a:cubicBezTo>
                  <a:pt x="12402" y="79437"/>
                  <a:pt x="22386" y="69453"/>
                  <a:pt x="34727" y="69453"/>
                </a:cubicBezTo>
                <a:lnTo>
                  <a:pt x="71934" y="69453"/>
                </a:lnTo>
                <a:lnTo>
                  <a:pt x="71934" y="49609"/>
                </a:lnTo>
                <a:lnTo>
                  <a:pt x="69453" y="49609"/>
                </a:lnTo>
                <a:cubicBezTo>
                  <a:pt x="63965" y="49609"/>
                  <a:pt x="59531" y="45176"/>
                  <a:pt x="59531" y="39688"/>
                </a:cubicBezTo>
                <a:lnTo>
                  <a:pt x="59531" y="19844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902450" y="4749702"/>
            <a:ext cx="4746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Hierarchical Forecasting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902450" y="5003702"/>
            <a:ext cx="4738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Explore </a:t>
            </a: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hierarchical forecasting</a:t>
            </a: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sub-metering levels (kitchen, laundry, water heater) for granular insights.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59525" y="5616476"/>
            <a:ext cx="5348288" cy="895350"/>
          </a:xfrm>
          <a:custGeom>
            <a:avLst/>
            <a:gdLst/>
            <a:ahLst/>
            <a:cxnLst/>
            <a:rect l="l" t="t" r="r" b="b"/>
            <a:pathLst>
              <a:path w="5348288" h="895350">
                <a:moveTo>
                  <a:pt x="63498" y="0"/>
                </a:moveTo>
                <a:lnTo>
                  <a:pt x="5284789" y="0"/>
                </a:lnTo>
                <a:cubicBezTo>
                  <a:pt x="5319858" y="0"/>
                  <a:pt x="5348288" y="28429"/>
                  <a:pt x="5348288" y="63498"/>
                </a:cubicBezTo>
                <a:lnTo>
                  <a:pt x="5348288" y="831852"/>
                </a:lnTo>
                <a:cubicBezTo>
                  <a:pt x="5348287" y="866921"/>
                  <a:pt x="5319858" y="895350"/>
                  <a:pt x="5284789" y="895350"/>
                </a:cubicBezTo>
                <a:lnTo>
                  <a:pt x="63498" y="895350"/>
                </a:lnTo>
                <a:cubicBezTo>
                  <a:pt x="28429" y="895350"/>
                  <a:pt x="0" y="866921"/>
                  <a:pt x="0" y="8318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6489700" y="5746653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317500" h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6569075" y="5826028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ubicBezTo>
                  <a:pt x="0" y="35567"/>
                  <a:pt x="35567" y="0"/>
                  <a:pt x="79375" y="0"/>
                </a:cubicBezTo>
                <a:close/>
                <a:moveTo>
                  <a:pt x="71934" y="37207"/>
                </a:moveTo>
                <a:lnTo>
                  <a:pt x="71934" y="79375"/>
                </a:lnTo>
                <a:cubicBezTo>
                  <a:pt x="71934" y="81855"/>
                  <a:pt x="73174" y="84181"/>
                  <a:pt x="75251" y="85576"/>
                </a:cubicBezTo>
                <a:lnTo>
                  <a:pt x="105017" y="105420"/>
                </a:lnTo>
                <a:cubicBezTo>
                  <a:pt x="108427" y="107714"/>
                  <a:pt x="113047" y="106784"/>
                  <a:pt x="115342" y="103343"/>
                </a:cubicBezTo>
                <a:cubicBezTo>
                  <a:pt x="117636" y="99901"/>
                  <a:pt x="116706" y="95312"/>
                  <a:pt x="113264" y="93018"/>
                </a:cubicBezTo>
                <a:lnTo>
                  <a:pt x="86816" y="75406"/>
                </a:lnTo>
                <a:lnTo>
                  <a:pt x="86816" y="37207"/>
                </a:lnTo>
                <a:cubicBezTo>
                  <a:pt x="86816" y="33083"/>
                  <a:pt x="83499" y="29766"/>
                  <a:pt x="79375" y="29766"/>
                </a:cubicBezTo>
                <a:cubicBezTo>
                  <a:pt x="75251" y="29766"/>
                  <a:pt x="71934" y="33083"/>
                  <a:pt x="71934" y="37207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902450" y="5746653"/>
            <a:ext cx="4746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Multi-Horizon Prediction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902450" y="6000653"/>
            <a:ext cx="47386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Extend to </a:t>
            </a: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multi-step ahead forecasting</a:t>
            </a:r>
            <a:r>
              <a:rPr lang="en-US" sz="1000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(15-min, 1-hour, 1-day) for practical energy management applications.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194425" y="6810275"/>
            <a:ext cx="5673725" cy="641350"/>
          </a:xfrm>
          <a:custGeom>
            <a:avLst/>
            <a:gdLst/>
            <a:ahLst/>
            <a:cxnLst/>
            <a:rect l="l" t="t" r="r" b="b"/>
            <a:pathLst>
              <a:path w="5673725" h="641350">
                <a:moveTo>
                  <a:pt x="63500" y="0"/>
                </a:moveTo>
                <a:lnTo>
                  <a:pt x="5610225" y="0"/>
                </a:lnTo>
                <a:cubicBezTo>
                  <a:pt x="5645295" y="0"/>
                  <a:pt x="5673725" y="28430"/>
                  <a:pt x="5673725" y="63500"/>
                </a:cubicBezTo>
                <a:lnTo>
                  <a:pt x="5673725" y="577850"/>
                </a:lnTo>
                <a:cubicBezTo>
                  <a:pt x="5673725" y="612920"/>
                  <a:pt x="5645295" y="641350"/>
                  <a:pt x="5610225" y="641350"/>
                </a:cubicBezTo>
                <a:lnTo>
                  <a:pt x="63500" y="641350"/>
                </a:lnTo>
                <a:cubicBezTo>
                  <a:pt x="28430" y="641350"/>
                  <a:pt x="0" y="612920"/>
                  <a:pt x="0" y="577850"/>
                </a:cubicBezTo>
                <a:lnTo>
                  <a:pt x="0" y="63500"/>
                </a:lnTo>
                <a:cubicBezTo>
                  <a:pt x="0" y="28430"/>
                  <a:pt x="28430" y="0"/>
                  <a:pt x="63500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0160">
            <a:solidFill>
              <a:srgbClr val="38B2AC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6356350" y="6965850"/>
            <a:ext cx="95250" cy="127000"/>
          </a:xfrm>
          <a:custGeom>
            <a:avLst/>
            <a:gdLst/>
            <a:ahLst/>
            <a:cxnLst/>
            <a:rect l="l" t="t" r="r" b="b"/>
            <a:pathLst>
              <a:path w="95250" h="127000">
                <a:moveTo>
                  <a:pt x="72653" y="95250"/>
                </a:moveTo>
                <a:cubicBezTo>
                  <a:pt x="74464" y="89719"/>
                  <a:pt x="78085" y="84708"/>
                  <a:pt x="82178" y="80392"/>
                </a:cubicBezTo>
                <a:cubicBezTo>
                  <a:pt x="90289" y="71859"/>
                  <a:pt x="95250" y="60325"/>
                  <a:pt x="95250" y="47625"/>
                </a:cubicBezTo>
                <a:cubicBezTo>
                  <a:pt x="95250" y="21332"/>
                  <a:pt x="73918" y="0"/>
                  <a:pt x="47625" y="0"/>
                </a:cubicBezTo>
                <a:cubicBezTo>
                  <a:pt x="21332" y="0"/>
                  <a:pt x="0" y="21332"/>
                  <a:pt x="0" y="47625"/>
                </a:cubicBezTo>
                <a:cubicBezTo>
                  <a:pt x="0" y="60325"/>
                  <a:pt x="4961" y="71859"/>
                  <a:pt x="13072" y="80392"/>
                </a:cubicBezTo>
                <a:cubicBezTo>
                  <a:pt x="17165" y="84708"/>
                  <a:pt x="20811" y="89719"/>
                  <a:pt x="22597" y="95250"/>
                </a:cubicBezTo>
                <a:lnTo>
                  <a:pt x="72628" y="95250"/>
                </a:lnTo>
                <a:close/>
                <a:moveTo>
                  <a:pt x="71438" y="107156"/>
                </a:moveTo>
                <a:lnTo>
                  <a:pt x="23812" y="107156"/>
                </a:lnTo>
                <a:lnTo>
                  <a:pt x="23812" y="111125"/>
                </a:lnTo>
                <a:cubicBezTo>
                  <a:pt x="23812" y="122089"/>
                  <a:pt x="32693" y="130969"/>
                  <a:pt x="43656" y="130969"/>
                </a:cubicBezTo>
                <a:lnTo>
                  <a:pt x="51594" y="130969"/>
                </a:lnTo>
                <a:cubicBezTo>
                  <a:pt x="62557" y="130969"/>
                  <a:pt x="71438" y="122089"/>
                  <a:pt x="71438" y="111125"/>
                </a:cubicBezTo>
                <a:lnTo>
                  <a:pt x="71438" y="107156"/>
                </a:lnTo>
                <a:close/>
                <a:moveTo>
                  <a:pt x="45641" y="27781"/>
                </a:moveTo>
                <a:cubicBezTo>
                  <a:pt x="35768" y="27781"/>
                  <a:pt x="27781" y="35768"/>
                  <a:pt x="27781" y="45641"/>
                </a:cubicBezTo>
                <a:cubicBezTo>
                  <a:pt x="27781" y="48940"/>
                  <a:pt x="25127" y="51594"/>
                  <a:pt x="21828" y="51594"/>
                </a:cubicBezTo>
                <a:cubicBezTo>
                  <a:pt x="18529" y="51594"/>
                  <a:pt x="15875" y="48940"/>
                  <a:pt x="15875" y="45641"/>
                </a:cubicBezTo>
                <a:cubicBezTo>
                  <a:pt x="15875" y="29195"/>
                  <a:pt x="29195" y="15875"/>
                  <a:pt x="45641" y="15875"/>
                </a:cubicBezTo>
                <a:cubicBezTo>
                  <a:pt x="48940" y="15875"/>
                  <a:pt x="51594" y="18529"/>
                  <a:pt x="51594" y="21828"/>
                </a:cubicBezTo>
                <a:cubicBezTo>
                  <a:pt x="51594" y="25127"/>
                  <a:pt x="48940" y="27781"/>
                  <a:pt x="45641" y="27781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6523037" y="6940452"/>
            <a:ext cx="527843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Takeaway:</a:t>
            </a:r>
            <a:r>
              <a:rPr lang="en-US" sz="1000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Despite limitations, the current pipeline demonstrates strong performance and provides a solid foundation for production deployment.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4.ftcdn.net/35807cd9929da487a8226828a13a2c63358b7837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1913" r="11913"/>
          <a:stretch/>
        </p:blipFill>
        <p:spPr>
          <a:xfrm>
            <a:off x="0" y="0"/>
            <a:ext cx="12192000" cy="6859499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9499"/>
          </a:xfrm>
          <a:custGeom>
            <a:avLst/>
            <a:gdLst/>
            <a:ahLst/>
            <a:cxnLst/>
            <a:rect l="l" t="t" r="r" b="b"/>
            <a:pathLst>
              <a:path w="12192000" h="6859499">
                <a:moveTo>
                  <a:pt x="0" y="0"/>
                </a:moveTo>
                <a:lnTo>
                  <a:pt x="12192000" y="0"/>
                </a:lnTo>
                <a:lnTo>
                  <a:pt x="12192000" y="6859499"/>
                </a:lnTo>
                <a:lnTo>
                  <a:pt x="0" y="685949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202C">
                  <a:alpha val="95000"/>
                </a:srgbClr>
              </a:gs>
              <a:gs pos="50000">
                <a:srgbClr val="1A202C">
                  <a:alpha val="90000"/>
                </a:srgbClr>
              </a:gs>
              <a:gs pos="100000">
                <a:srgbClr val="1A202C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319790" y="319790"/>
            <a:ext cx="11616378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kern="0" spc="50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19790" y="575622"/>
            <a:ext cx="11744294" cy="383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22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 &amp; Deliverables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2988" y="1090484"/>
            <a:ext cx="3763930" cy="4523432"/>
          </a:xfrm>
          <a:custGeom>
            <a:avLst/>
            <a:gdLst/>
            <a:ahLst/>
            <a:cxnLst/>
            <a:rect l="l" t="t" r="r" b="b"/>
            <a:pathLst>
              <a:path w="3763930" h="4523432">
                <a:moveTo>
                  <a:pt x="63949" y="0"/>
                </a:moveTo>
                <a:lnTo>
                  <a:pt x="3699981" y="0"/>
                </a:lnTo>
                <a:cubicBezTo>
                  <a:pt x="3735299" y="0"/>
                  <a:pt x="3763930" y="28631"/>
                  <a:pt x="3763930" y="63949"/>
                </a:cubicBezTo>
                <a:lnTo>
                  <a:pt x="3763930" y="4459483"/>
                </a:lnTo>
                <a:cubicBezTo>
                  <a:pt x="3763930" y="4494801"/>
                  <a:pt x="3735299" y="4523432"/>
                  <a:pt x="3699981" y="4523432"/>
                </a:cubicBezTo>
                <a:lnTo>
                  <a:pt x="63949" y="4523432"/>
                </a:lnTo>
                <a:cubicBezTo>
                  <a:pt x="28631" y="4523432"/>
                  <a:pt x="0" y="4494801"/>
                  <a:pt x="0" y="4459483"/>
                </a:cubicBezTo>
                <a:lnTo>
                  <a:pt x="0" y="63949"/>
                </a:lnTo>
                <a:cubicBezTo>
                  <a:pt x="0" y="28655"/>
                  <a:pt x="28655" y="0"/>
                  <a:pt x="63949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454102" y="1221601"/>
            <a:ext cx="383748" cy="383748"/>
          </a:xfrm>
          <a:custGeom>
            <a:avLst/>
            <a:gdLst/>
            <a:ahLst/>
            <a:cxnLst/>
            <a:rect l="l" t="t" r="r" b="b"/>
            <a:pathLst>
              <a:path w="383748" h="383748">
                <a:moveTo>
                  <a:pt x="63959" y="0"/>
                </a:moveTo>
                <a:lnTo>
                  <a:pt x="319789" y="0"/>
                </a:lnTo>
                <a:cubicBezTo>
                  <a:pt x="355113" y="0"/>
                  <a:pt x="383748" y="28636"/>
                  <a:pt x="383748" y="63959"/>
                </a:cubicBezTo>
                <a:lnTo>
                  <a:pt x="383748" y="319789"/>
                </a:lnTo>
                <a:cubicBezTo>
                  <a:pt x="383748" y="355113"/>
                  <a:pt x="355113" y="383748"/>
                  <a:pt x="319789" y="383748"/>
                </a:cubicBezTo>
                <a:lnTo>
                  <a:pt x="63959" y="383748"/>
                </a:lnTo>
                <a:cubicBezTo>
                  <a:pt x="28636" y="383748"/>
                  <a:pt x="0" y="355113"/>
                  <a:pt x="0" y="319789"/>
                </a:cubicBezTo>
                <a:lnTo>
                  <a:pt x="0" y="63959"/>
                </a:lnTo>
                <a:cubicBezTo>
                  <a:pt x="0" y="28659"/>
                  <a:pt x="28659" y="0"/>
                  <a:pt x="63959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26055" y="1317538"/>
            <a:ext cx="239843" cy="191874"/>
          </a:xfrm>
          <a:custGeom>
            <a:avLst/>
            <a:gdLst/>
            <a:ahLst/>
            <a:cxnLst/>
            <a:rect l="l" t="t" r="r" b="b"/>
            <a:pathLst>
              <a:path w="239843" h="191874">
                <a:moveTo>
                  <a:pt x="155860" y="78886"/>
                </a:moveTo>
                <a:cubicBezTo>
                  <a:pt x="160432" y="77649"/>
                  <a:pt x="165229" y="79823"/>
                  <a:pt x="167290" y="84057"/>
                </a:cubicBezTo>
                <a:lnTo>
                  <a:pt x="174261" y="98148"/>
                </a:lnTo>
                <a:cubicBezTo>
                  <a:pt x="178121" y="98673"/>
                  <a:pt x="181906" y="99722"/>
                  <a:pt x="185466" y="101184"/>
                </a:cubicBezTo>
                <a:lnTo>
                  <a:pt x="198582" y="92452"/>
                </a:lnTo>
                <a:cubicBezTo>
                  <a:pt x="202517" y="89829"/>
                  <a:pt x="207726" y="90353"/>
                  <a:pt x="211062" y="93689"/>
                </a:cubicBezTo>
                <a:lnTo>
                  <a:pt x="218257" y="100884"/>
                </a:lnTo>
                <a:cubicBezTo>
                  <a:pt x="221592" y="104219"/>
                  <a:pt x="222117" y="109466"/>
                  <a:pt x="219493" y="113363"/>
                </a:cubicBezTo>
                <a:lnTo>
                  <a:pt x="210762" y="126442"/>
                </a:lnTo>
                <a:cubicBezTo>
                  <a:pt x="211474" y="128203"/>
                  <a:pt x="212111" y="130040"/>
                  <a:pt x="212635" y="131951"/>
                </a:cubicBezTo>
                <a:cubicBezTo>
                  <a:pt x="213160" y="133862"/>
                  <a:pt x="213497" y="135736"/>
                  <a:pt x="213760" y="137647"/>
                </a:cubicBezTo>
                <a:lnTo>
                  <a:pt x="227888" y="144618"/>
                </a:lnTo>
                <a:cubicBezTo>
                  <a:pt x="232123" y="146716"/>
                  <a:pt x="234296" y="151513"/>
                  <a:pt x="233060" y="156048"/>
                </a:cubicBezTo>
                <a:lnTo>
                  <a:pt x="230436" y="165866"/>
                </a:lnTo>
                <a:cubicBezTo>
                  <a:pt x="229200" y="170401"/>
                  <a:pt x="224965" y="173474"/>
                  <a:pt x="220243" y="173174"/>
                </a:cubicBezTo>
                <a:lnTo>
                  <a:pt x="204503" y="172162"/>
                </a:lnTo>
                <a:cubicBezTo>
                  <a:pt x="202142" y="175198"/>
                  <a:pt x="199407" y="178008"/>
                  <a:pt x="196296" y="180407"/>
                </a:cubicBezTo>
                <a:lnTo>
                  <a:pt x="197308" y="196109"/>
                </a:lnTo>
                <a:cubicBezTo>
                  <a:pt x="197608" y="200831"/>
                  <a:pt x="194535" y="205103"/>
                  <a:pt x="190000" y="206302"/>
                </a:cubicBezTo>
                <a:lnTo>
                  <a:pt x="180182" y="208925"/>
                </a:lnTo>
                <a:cubicBezTo>
                  <a:pt x="175610" y="210162"/>
                  <a:pt x="170850" y="207989"/>
                  <a:pt x="168752" y="203754"/>
                </a:cubicBezTo>
                <a:lnTo>
                  <a:pt x="161781" y="189663"/>
                </a:lnTo>
                <a:cubicBezTo>
                  <a:pt x="157921" y="189138"/>
                  <a:pt x="154136" y="188089"/>
                  <a:pt x="150576" y="186628"/>
                </a:cubicBezTo>
                <a:lnTo>
                  <a:pt x="137460" y="195359"/>
                </a:lnTo>
                <a:cubicBezTo>
                  <a:pt x="133525" y="197983"/>
                  <a:pt x="128316" y="197458"/>
                  <a:pt x="124980" y="194123"/>
                </a:cubicBezTo>
                <a:lnTo>
                  <a:pt x="117785" y="186927"/>
                </a:lnTo>
                <a:cubicBezTo>
                  <a:pt x="114450" y="183592"/>
                  <a:pt x="113925" y="178383"/>
                  <a:pt x="116549" y="174448"/>
                </a:cubicBezTo>
                <a:lnTo>
                  <a:pt x="125280" y="161332"/>
                </a:lnTo>
                <a:cubicBezTo>
                  <a:pt x="124568" y="159570"/>
                  <a:pt x="123931" y="157734"/>
                  <a:pt x="123407" y="155823"/>
                </a:cubicBezTo>
                <a:cubicBezTo>
                  <a:pt x="122882" y="153912"/>
                  <a:pt x="122545" y="152000"/>
                  <a:pt x="122282" y="150126"/>
                </a:cubicBezTo>
                <a:lnTo>
                  <a:pt x="108154" y="143156"/>
                </a:lnTo>
                <a:cubicBezTo>
                  <a:pt x="103919" y="141057"/>
                  <a:pt x="101783" y="136261"/>
                  <a:pt x="102982" y="131726"/>
                </a:cubicBezTo>
                <a:lnTo>
                  <a:pt x="105606" y="121908"/>
                </a:lnTo>
                <a:cubicBezTo>
                  <a:pt x="106842" y="117373"/>
                  <a:pt x="111077" y="114300"/>
                  <a:pt x="115799" y="114600"/>
                </a:cubicBezTo>
                <a:lnTo>
                  <a:pt x="131501" y="115612"/>
                </a:lnTo>
                <a:cubicBezTo>
                  <a:pt x="133862" y="112576"/>
                  <a:pt x="136598" y="109765"/>
                  <a:pt x="139708" y="107367"/>
                </a:cubicBezTo>
                <a:lnTo>
                  <a:pt x="138696" y="91702"/>
                </a:lnTo>
                <a:cubicBezTo>
                  <a:pt x="138397" y="86980"/>
                  <a:pt x="141470" y="82708"/>
                  <a:pt x="146004" y="81509"/>
                </a:cubicBezTo>
                <a:lnTo>
                  <a:pt x="155823" y="78886"/>
                </a:lnTo>
                <a:close/>
                <a:moveTo>
                  <a:pt x="168040" y="127416"/>
                </a:moveTo>
                <a:cubicBezTo>
                  <a:pt x="158939" y="127427"/>
                  <a:pt x="151559" y="134824"/>
                  <a:pt x="151569" y="143924"/>
                </a:cubicBezTo>
                <a:cubicBezTo>
                  <a:pt x="151580" y="153025"/>
                  <a:pt x="158977" y="160405"/>
                  <a:pt x="168077" y="160395"/>
                </a:cubicBezTo>
                <a:cubicBezTo>
                  <a:pt x="177178" y="160384"/>
                  <a:pt x="184558" y="152987"/>
                  <a:pt x="184548" y="143887"/>
                </a:cubicBezTo>
                <a:cubicBezTo>
                  <a:pt x="184537" y="134786"/>
                  <a:pt x="177140" y="127406"/>
                  <a:pt x="168040" y="127416"/>
                </a:cubicBezTo>
                <a:close/>
                <a:moveTo>
                  <a:pt x="84282" y="-17051"/>
                </a:moveTo>
                <a:lnTo>
                  <a:pt x="94101" y="-14428"/>
                </a:lnTo>
                <a:cubicBezTo>
                  <a:pt x="98635" y="-13191"/>
                  <a:pt x="101708" y="-8919"/>
                  <a:pt x="101408" y="-4235"/>
                </a:cubicBezTo>
                <a:lnTo>
                  <a:pt x="100397" y="11430"/>
                </a:lnTo>
                <a:cubicBezTo>
                  <a:pt x="103507" y="13828"/>
                  <a:pt x="106243" y="16602"/>
                  <a:pt x="108604" y="19675"/>
                </a:cubicBezTo>
                <a:lnTo>
                  <a:pt x="124343" y="18663"/>
                </a:lnTo>
                <a:cubicBezTo>
                  <a:pt x="129028" y="18363"/>
                  <a:pt x="133300" y="21436"/>
                  <a:pt x="134537" y="25970"/>
                </a:cubicBezTo>
                <a:lnTo>
                  <a:pt x="137160" y="35789"/>
                </a:lnTo>
                <a:cubicBezTo>
                  <a:pt x="138359" y="40324"/>
                  <a:pt x="136223" y="45120"/>
                  <a:pt x="131988" y="47219"/>
                </a:cubicBezTo>
                <a:lnTo>
                  <a:pt x="117860" y="54189"/>
                </a:lnTo>
                <a:cubicBezTo>
                  <a:pt x="117598" y="56101"/>
                  <a:pt x="117223" y="58012"/>
                  <a:pt x="116736" y="59886"/>
                </a:cubicBezTo>
                <a:cubicBezTo>
                  <a:pt x="116249" y="61759"/>
                  <a:pt x="115574" y="63633"/>
                  <a:pt x="114862" y="65395"/>
                </a:cubicBezTo>
                <a:lnTo>
                  <a:pt x="123594" y="78511"/>
                </a:lnTo>
                <a:cubicBezTo>
                  <a:pt x="126217" y="82446"/>
                  <a:pt x="125693" y="87655"/>
                  <a:pt x="122357" y="90990"/>
                </a:cubicBezTo>
                <a:lnTo>
                  <a:pt x="115162" y="98186"/>
                </a:lnTo>
                <a:cubicBezTo>
                  <a:pt x="111827" y="101521"/>
                  <a:pt x="106618" y="102046"/>
                  <a:pt x="102683" y="99422"/>
                </a:cubicBezTo>
                <a:lnTo>
                  <a:pt x="89566" y="90690"/>
                </a:lnTo>
                <a:cubicBezTo>
                  <a:pt x="86006" y="92152"/>
                  <a:pt x="82221" y="93201"/>
                  <a:pt x="78361" y="93726"/>
                </a:cubicBezTo>
                <a:lnTo>
                  <a:pt x="71391" y="107817"/>
                </a:lnTo>
                <a:cubicBezTo>
                  <a:pt x="69292" y="112051"/>
                  <a:pt x="64495" y="114188"/>
                  <a:pt x="59961" y="112988"/>
                </a:cubicBezTo>
                <a:lnTo>
                  <a:pt x="50142" y="110365"/>
                </a:lnTo>
                <a:cubicBezTo>
                  <a:pt x="45570" y="109128"/>
                  <a:pt x="42535" y="104856"/>
                  <a:pt x="42834" y="100172"/>
                </a:cubicBezTo>
                <a:lnTo>
                  <a:pt x="43846" y="84470"/>
                </a:lnTo>
                <a:cubicBezTo>
                  <a:pt x="40736" y="82071"/>
                  <a:pt x="38000" y="79298"/>
                  <a:pt x="35639" y="76225"/>
                </a:cubicBezTo>
                <a:lnTo>
                  <a:pt x="19899" y="77237"/>
                </a:lnTo>
                <a:cubicBezTo>
                  <a:pt x="15215" y="77537"/>
                  <a:pt x="10943" y="74464"/>
                  <a:pt x="9706" y="69929"/>
                </a:cubicBezTo>
                <a:lnTo>
                  <a:pt x="7083" y="60111"/>
                </a:lnTo>
                <a:cubicBezTo>
                  <a:pt x="5884" y="55576"/>
                  <a:pt x="8020" y="50779"/>
                  <a:pt x="12254" y="48681"/>
                </a:cubicBezTo>
                <a:lnTo>
                  <a:pt x="26383" y="41710"/>
                </a:lnTo>
                <a:cubicBezTo>
                  <a:pt x="26645" y="39799"/>
                  <a:pt x="27020" y="37925"/>
                  <a:pt x="27507" y="36014"/>
                </a:cubicBezTo>
                <a:cubicBezTo>
                  <a:pt x="28032" y="34103"/>
                  <a:pt x="28631" y="32266"/>
                  <a:pt x="29381" y="30505"/>
                </a:cubicBezTo>
                <a:lnTo>
                  <a:pt x="20649" y="17426"/>
                </a:lnTo>
                <a:cubicBezTo>
                  <a:pt x="18026" y="13491"/>
                  <a:pt x="18550" y="8282"/>
                  <a:pt x="21886" y="4947"/>
                </a:cubicBezTo>
                <a:lnTo>
                  <a:pt x="29081" y="-2249"/>
                </a:lnTo>
                <a:cubicBezTo>
                  <a:pt x="32416" y="-5584"/>
                  <a:pt x="37625" y="-6108"/>
                  <a:pt x="41560" y="-3485"/>
                </a:cubicBezTo>
                <a:lnTo>
                  <a:pt x="54677" y="5247"/>
                </a:lnTo>
                <a:cubicBezTo>
                  <a:pt x="58237" y="3785"/>
                  <a:pt x="62022" y="2736"/>
                  <a:pt x="65882" y="2211"/>
                </a:cubicBezTo>
                <a:lnTo>
                  <a:pt x="72852" y="-11880"/>
                </a:lnTo>
                <a:cubicBezTo>
                  <a:pt x="74951" y="-16114"/>
                  <a:pt x="79710" y="-18251"/>
                  <a:pt x="84282" y="-17051"/>
                </a:cubicBezTo>
                <a:close/>
                <a:moveTo>
                  <a:pt x="72103" y="31479"/>
                </a:moveTo>
                <a:cubicBezTo>
                  <a:pt x="63002" y="31479"/>
                  <a:pt x="55614" y="38868"/>
                  <a:pt x="55614" y="47969"/>
                </a:cubicBezTo>
                <a:cubicBezTo>
                  <a:pt x="55614" y="57069"/>
                  <a:pt x="63002" y="64458"/>
                  <a:pt x="72103" y="64458"/>
                </a:cubicBezTo>
                <a:cubicBezTo>
                  <a:pt x="81203" y="64458"/>
                  <a:pt x="88592" y="57069"/>
                  <a:pt x="88592" y="47969"/>
                </a:cubicBezTo>
                <a:cubicBezTo>
                  <a:pt x="88592" y="38868"/>
                  <a:pt x="81203" y="31479"/>
                  <a:pt x="72103" y="31479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933787" y="1285559"/>
            <a:ext cx="1734862" cy="255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Pipeline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4102" y="1701286"/>
            <a:ext cx="3501702" cy="575622"/>
          </a:xfrm>
          <a:custGeom>
            <a:avLst/>
            <a:gdLst/>
            <a:ahLst/>
            <a:cxnLst/>
            <a:rect l="l" t="t" r="r" b="b"/>
            <a:pathLst>
              <a:path w="3501702" h="575622">
                <a:moveTo>
                  <a:pt x="31982" y="0"/>
                </a:moveTo>
                <a:lnTo>
                  <a:pt x="3469721" y="0"/>
                </a:lnTo>
                <a:cubicBezTo>
                  <a:pt x="3487384" y="0"/>
                  <a:pt x="3501702" y="14319"/>
                  <a:pt x="3501702" y="31982"/>
                </a:cubicBezTo>
                <a:lnTo>
                  <a:pt x="3501702" y="543641"/>
                </a:lnTo>
                <a:cubicBezTo>
                  <a:pt x="3501702" y="561304"/>
                  <a:pt x="3487384" y="575622"/>
                  <a:pt x="3469721" y="575622"/>
                </a:cubicBezTo>
                <a:lnTo>
                  <a:pt x="31982" y="575622"/>
                </a:lnTo>
                <a:cubicBezTo>
                  <a:pt x="14319" y="575622"/>
                  <a:pt x="0" y="561304"/>
                  <a:pt x="0" y="543641"/>
                </a:cubicBezTo>
                <a:lnTo>
                  <a:pt x="0" y="31982"/>
                </a:lnTo>
                <a:cubicBezTo>
                  <a:pt x="0" y="14330"/>
                  <a:pt x="14330" y="0"/>
                  <a:pt x="3198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50039" y="1797223"/>
            <a:ext cx="3373786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Modular Architecture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50039" y="2021076"/>
            <a:ext cx="3365791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sklearn-compatible UCIPreprocessor with 5 sequential steps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4102" y="2340866"/>
            <a:ext cx="3501702" cy="575622"/>
          </a:xfrm>
          <a:custGeom>
            <a:avLst/>
            <a:gdLst/>
            <a:ahLst/>
            <a:cxnLst/>
            <a:rect l="l" t="t" r="r" b="b"/>
            <a:pathLst>
              <a:path w="3501702" h="575622">
                <a:moveTo>
                  <a:pt x="31982" y="0"/>
                </a:moveTo>
                <a:lnTo>
                  <a:pt x="3469721" y="0"/>
                </a:lnTo>
                <a:cubicBezTo>
                  <a:pt x="3487384" y="0"/>
                  <a:pt x="3501702" y="14319"/>
                  <a:pt x="3501702" y="31982"/>
                </a:cubicBezTo>
                <a:lnTo>
                  <a:pt x="3501702" y="543641"/>
                </a:lnTo>
                <a:cubicBezTo>
                  <a:pt x="3501702" y="561304"/>
                  <a:pt x="3487384" y="575622"/>
                  <a:pt x="3469721" y="575622"/>
                </a:cubicBezTo>
                <a:lnTo>
                  <a:pt x="31982" y="575622"/>
                </a:lnTo>
                <a:cubicBezTo>
                  <a:pt x="14319" y="575622"/>
                  <a:pt x="0" y="561304"/>
                  <a:pt x="0" y="543641"/>
                </a:cubicBezTo>
                <a:lnTo>
                  <a:pt x="0" y="31982"/>
                </a:lnTo>
                <a:cubicBezTo>
                  <a:pt x="0" y="14330"/>
                  <a:pt x="14330" y="0"/>
                  <a:pt x="3198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50039" y="2436803"/>
            <a:ext cx="3373786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Physical Validation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50039" y="2660657"/>
            <a:ext cx="3365791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Negative power and voltage outliers flagged as NaN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4102" y="2980447"/>
            <a:ext cx="3501702" cy="575622"/>
          </a:xfrm>
          <a:custGeom>
            <a:avLst/>
            <a:gdLst/>
            <a:ahLst/>
            <a:cxnLst/>
            <a:rect l="l" t="t" r="r" b="b"/>
            <a:pathLst>
              <a:path w="3501702" h="575622">
                <a:moveTo>
                  <a:pt x="31982" y="0"/>
                </a:moveTo>
                <a:lnTo>
                  <a:pt x="3469721" y="0"/>
                </a:lnTo>
                <a:cubicBezTo>
                  <a:pt x="3487384" y="0"/>
                  <a:pt x="3501702" y="14319"/>
                  <a:pt x="3501702" y="31982"/>
                </a:cubicBezTo>
                <a:lnTo>
                  <a:pt x="3501702" y="543641"/>
                </a:lnTo>
                <a:cubicBezTo>
                  <a:pt x="3501702" y="561304"/>
                  <a:pt x="3487384" y="575622"/>
                  <a:pt x="3469721" y="575622"/>
                </a:cubicBezTo>
                <a:lnTo>
                  <a:pt x="31982" y="575622"/>
                </a:lnTo>
                <a:cubicBezTo>
                  <a:pt x="14319" y="575622"/>
                  <a:pt x="0" y="561304"/>
                  <a:pt x="0" y="543641"/>
                </a:cubicBezTo>
                <a:lnTo>
                  <a:pt x="0" y="31982"/>
                </a:lnTo>
                <a:cubicBezTo>
                  <a:pt x="0" y="14330"/>
                  <a:pt x="14330" y="0"/>
                  <a:pt x="3198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50039" y="3076384"/>
            <a:ext cx="3373786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Hierarchical Imputation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50039" y="3300237"/>
            <a:ext cx="3365791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Cubic interpolation + seasonal means + ffill/bfill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54102" y="3620027"/>
            <a:ext cx="3501702" cy="575622"/>
          </a:xfrm>
          <a:custGeom>
            <a:avLst/>
            <a:gdLst/>
            <a:ahLst/>
            <a:cxnLst/>
            <a:rect l="l" t="t" r="r" b="b"/>
            <a:pathLst>
              <a:path w="3501702" h="575622">
                <a:moveTo>
                  <a:pt x="31982" y="0"/>
                </a:moveTo>
                <a:lnTo>
                  <a:pt x="3469721" y="0"/>
                </a:lnTo>
                <a:cubicBezTo>
                  <a:pt x="3487384" y="0"/>
                  <a:pt x="3501702" y="14319"/>
                  <a:pt x="3501702" y="31982"/>
                </a:cubicBezTo>
                <a:lnTo>
                  <a:pt x="3501702" y="543641"/>
                </a:lnTo>
                <a:cubicBezTo>
                  <a:pt x="3501702" y="561304"/>
                  <a:pt x="3487384" y="575622"/>
                  <a:pt x="3469721" y="575622"/>
                </a:cubicBezTo>
                <a:lnTo>
                  <a:pt x="31982" y="575622"/>
                </a:lnTo>
                <a:cubicBezTo>
                  <a:pt x="14319" y="575622"/>
                  <a:pt x="0" y="561304"/>
                  <a:pt x="0" y="543641"/>
                </a:cubicBezTo>
                <a:lnTo>
                  <a:pt x="0" y="31982"/>
                </a:lnTo>
                <a:cubicBezTo>
                  <a:pt x="0" y="14330"/>
                  <a:pt x="14330" y="0"/>
                  <a:pt x="3198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50039" y="3715964"/>
            <a:ext cx="3373786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50039" y="3939817"/>
            <a:ext cx="3365791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Cyclical encodings + lag features + rolling statistics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54102" y="4259607"/>
            <a:ext cx="3501702" cy="575622"/>
          </a:xfrm>
          <a:custGeom>
            <a:avLst/>
            <a:gdLst/>
            <a:ahLst/>
            <a:cxnLst/>
            <a:rect l="l" t="t" r="r" b="b"/>
            <a:pathLst>
              <a:path w="3501702" h="575622">
                <a:moveTo>
                  <a:pt x="31982" y="0"/>
                </a:moveTo>
                <a:lnTo>
                  <a:pt x="3469721" y="0"/>
                </a:lnTo>
                <a:cubicBezTo>
                  <a:pt x="3487384" y="0"/>
                  <a:pt x="3501702" y="14319"/>
                  <a:pt x="3501702" y="31982"/>
                </a:cubicBezTo>
                <a:lnTo>
                  <a:pt x="3501702" y="543641"/>
                </a:lnTo>
                <a:cubicBezTo>
                  <a:pt x="3501702" y="561304"/>
                  <a:pt x="3487384" y="575622"/>
                  <a:pt x="3469721" y="575622"/>
                </a:cubicBezTo>
                <a:lnTo>
                  <a:pt x="31982" y="575622"/>
                </a:lnTo>
                <a:cubicBezTo>
                  <a:pt x="14319" y="575622"/>
                  <a:pt x="0" y="561304"/>
                  <a:pt x="0" y="543641"/>
                </a:cubicBezTo>
                <a:lnTo>
                  <a:pt x="0" y="31982"/>
                </a:lnTo>
                <a:cubicBezTo>
                  <a:pt x="0" y="14330"/>
                  <a:pt x="14330" y="0"/>
                  <a:pt x="3198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50039" y="4355544"/>
            <a:ext cx="3373786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50039" y="4579397"/>
            <a:ext cx="3365791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 (X_train, X_test) with </a:t>
            </a:r>
            <a:r>
              <a:rPr lang="en-US" sz="88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NaNs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217233" y="1090484"/>
            <a:ext cx="3763930" cy="4523432"/>
          </a:xfrm>
          <a:custGeom>
            <a:avLst/>
            <a:gdLst/>
            <a:ahLst/>
            <a:cxnLst/>
            <a:rect l="l" t="t" r="r" b="b"/>
            <a:pathLst>
              <a:path w="3763930" h="4523432">
                <a:moveTo>
                  <a:pt x="63949" y="0"/>
                </a:moveTo>
                <a:lnTo>
                  <a:pt x="3699981" y="0"/>
                </a:lnTo>
                <a:cubicBezTo>
                  <a:pt x="3735299" y="0"/>
                  <a:pt x="3763930" y="28631"/>
                  <a:pt x="3763930" y="63949"/>
                </a:cubicBezTo>
                <a:lnTo>
                  <a:pt x="3763930" y="4459483"/>
                </a:lnTo>
                <a:cubicBezTo>
                  <a:pt x="3763930" y="4494801"/>
                  <a:pt x="3735299" y="4523432"/>
                  <a:pt x="3699981" y="4523432"/>
                </a:cubicBezTo>
                <a:lnTo>
                  <a:pt x="63949" y="4523432"/>
                </a:lnTo>
                <a:cubicBezTo>
                  <a:pt x="28631" y="4523432"/>
                  <a:pt x="0" y="4494801"/>
                  <a:pt x="0" y="4459483"/>
                </a:cubicBezTo>
                <a:lnTo>
                  <a:pt x="0" y="63949"/>
                </a:lnTo>
                <a:cubicBezTo>
                  <a:pt x="0" y="28655"/>
                  <a:pt x="28655" y="0"/>
                  <a:pt x="63949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3"/>
          <p:cNvSpPr/>
          <p:nvPr/>
        </p:nvSpPr>
        <p:spPr>
          <a:xfrm>
            <a:off x="4348347" y="1221601"/>
            <a:ext cx="383748" cy="383748"/>
          </a:xfrm>
          <a:custGeom>
            <a:avLst/>
            <a:gdLst/>
            <a:ahLst/>
            <a:cxnLst/>
            <a:rect l="l" t="t" r="r" b="b"/>
            <a:pathLst>
              <a:path w="383748" h="383748">
                <a:moveTo>
                  <a:pt x="63959" y="0"/>
                </a:moveTo>
                <a:lnTo>
                  <a:pt x="319789" y="0"/>
                </a:lnTo>
                <a:cubicBezTo>
                  <a:pt x="355113" y="0"/>
                  <a:pt x="383748" y="28636"/>
                  <a:pt x="383748" y="63959"/>
                </a:cubicBezTo>
                <a:lnTo>
                  <a:pt x="383748" y="319789"/>
                </a:lnTo>
                <a:cubicBezTo>
                  <a:pt x="383748" y="355113"/>
                  <a:pt x="355113" y="383748"/>
                  <a:pt x="319789" y="383748"/>
                </a:cubicBezTo>
                <a:lnTo>
                  <a:pt x="63959" y="383748"/>
                </a:lnTo>
                <a:cubicBezTo>
                  <a:pt x="28636" y="383748"/>
                  <a:pt x="0" y="355113"/>
                  <a:pt x="0" y="319789"/>
                </a:cubicBezTo>
                <a:lnTo>
                  <a:pt x="0" y="63959"/>
                </a:lnTo>
                <a:cubicBezTo>
                  <a:pt x="0" y="28659"/>
                  <a:pt x="28659" y="0"/>
                  <a:pt x="63959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4"/>
          <p:cNvSpPr/>
          <p:nvPr/>
        </p:nvSpPr>
        <p:spPr>
          <a:xfrm>
            <a:off x="4444284" y="1317538"/>
            <a:ext cx="191874" cy="191874"/>
          </a:xfrm>
          <a:custGeom>
            <a:avLst/>
            <a:gdLst/>
            <a:ahLst/>
            <a:cxnLst/>
            <a:rect l="l" t="t" r="r" b="b"/>
            <a:pathLst>
              <a:path w="191874" h="191874">
                <a:moveTo>
                  <a:pt x="23984" y="23984"/>
                </a:moveTo>
                <a:cubicBezTo>
                  <a:pt x="23984" y="17351"/>
                  <a:pt x="18625" y="11992"/>
                  <a:pt x="11992" y="11992"/>
                </a:cubicBezTo>
                <a:cubicBezTo>
                  <a:pt x="5359" y="11992"/>
                  <a:pt x="0" y="17351"/>
                  <a:pt x="0" y="23984"/>
                </a:cubicBezTo>
                <a:lnTo>
                  <a:pt x="0" y="149902"/>
                </a:lnTo>
                <a:cubicBezTo>
                  <a:pt x="0" y="166466"/>
                  <a:pt x="13416" y="179882"/>
                  <a:pt x="29980" y="179882"/>
                </a:cubicBezTo>
                <a:lnTo>
                  <a:pt x="179882" y="179882"/>
                </a:lnTo>
                <a:cubicBezTo>
                  <a:pt x="186515" y="179882"/>
                  <a:pt x="191874" y="174523"/>
                  <a:pt x="191874" y="167890"/>
                </a:cubicBezTo>
                <a:cubicBezTo>
                  <a:pt x="191874" y="161257"/>
                  <a:pt x="186515" y="155898"/>
                  <a:pt x="179882" y="155898"/>
                </a:cubicBezTo>
                <a:lnTo>
                  <a:pt x="29980" y="155898"/>
                </a:lnTo>
                <a:cubicBezTo>
                  <a:pt x="26682" y="155898"/>
                  <a:pt x="23984" y="153199"/>
                  <a:pt x="23984" y="149902"/>
                </a:cubicBezTo>
                <a:lnTo>
                  <a:pt x="23984" y="23984"/>
                </a:lnTo>
                <a:close/>
                <a:moveTo>
                  <a:pt x="176359" y="56438"/>
                </a:moveTo>
                <a:cubicBezTo>
                  <a:pt x="181044" y="51754"/>
                  <a:pt x="181044" y="44146"/>
                  <a:pt x="176359" y="39462"/>
                </a:cubicBezTo>
                <a:cubicBezTo>
                  <a:pt x="171675" y="34777"/>
                  <a:pt x="164067" y="34777"/>
                  <a:pt x="159383" y="39462"/>
                </a:cubicBezTo>
                <a:lnTo>
                  <a:pt x="119921" y="78961"/>
                </a:lnTo>
                <a:lnTo>
                  <a:pt x="98410" y="57487"/>
                </a:lnTo>
                <a:cubicBezTo>
                  <a:pt x="93726" y="52803"/>
                  <a:pt x="86118" y="52803"/>
                  <a:pt x="81434" y="57487"/>
                </a:cubicBezTo>
                <a:lnTo>
                  <a:pt x="45458" y="93464"/>
                </a:lnTo>
                <a:cubicBezTo>
                  <a:pt x="40773" y="98148"/>
                  <a:pt x="40773" y="105756"/>
                  <a:pt x="45458" y="110440"/>
                </a:cubicBezTo>
                <a:cubicBezTo>
                  <a:pt x="50142" y="115124"/>
                  <a:pt x="57750" y="115124"/>
                  <a:pt x="62434" y="110440"/>
                </a:cubicBezTo>
                <a:lnTo>
                  <a:pt x="89941" y="82933"/>
                </a:lnTo>
                <a:lnTo>
                  <a:pt x="111452" y="104444"/>
                </a:lnTo>
                <a:cubicBezTo>
                  <a:pt x="116136" y="109128"/>
                  <a:pt x="123744" y="109128"/>
                  <a:pt x="128428" y="104444"/>
                </a:cubicBezTo>
                <a:lnTo>
                  <a:pt x="176397" y="56475"/>
                </a:ln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/>
          <p:nvPr/>
        </p:nvSpPr>
        <p:spPr>
          <a:xfrm>
            <a:off x="4828032" y="1285559"/>
            <a:ext cx="1183224" cy="255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EDA Insights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348347" y="1701286"/>
            <a:ext cx="3501702" cy="575622"/>
          </a:xfrm>
          <a:custGeom>
            <a:avLst/>
            <a:gdLst/>
            <a:ahLst/>
            <a:cxnLst/>
            <a:rect l="l" t="t" r="r" b="b"/>
            <a:pathLst>
              <a:path w="3501702" h="575622">
                <a:moveTo>
                  <a:pt x="31982" y="0"/>
                </a:moveTo>
                <a:lnTo>
                  <a:pt x="3469721" y="0"/>
                </a:lnTo>
                <a:cubicBezTo>
                  <a:pt x="3487384" y="0"/>
                  <a:pt x="3501702" y="14319"/>
                  <a:pt x="3501702" y="31982"/>
                </a:cubicBezTo>
                <a:lnTo>
                  <a:pt x="3501702" y="543641"/>
                </a:lnTo>
                <a:cubicBezTo>
                  <a:pt x="3501702" y="561304"/>
                  <a:pt x="3487384" y="575622"/>
                  <a:pt x="3469721" y="575622"/>
                </a:cubicBezTo>
                <a:lnTo>
                  <a:pt x="31982" y="575622"/>
                </a:lnTo>
                <a:cubicBezTo>
                  <a:pt x="14319" y="575622"/>
                  <a:pt x="0" y="561304"/>
                  <a:pt x="0" y="543641"/>
                </a:cubicBezTo>
                <a:lnTo>
                  <a:pt x="0" y="31982"/>
                </a:lnTo>
                <a:cubicBezTo>
                  <a:pt x="0" y="14330"/>
                  <a:pt x="14330" y="0"/>
                  <a:pt x="3198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444284" y="1797223"/>
            <a:ext cx="3373786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Peak Hours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444284" y="2021076"/>
            <a:ext cx="3365791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consumption: </a:t>
            </a:r>
            <a:r>
              <a:rPr lang="en-US" sz="88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18:00-21:00</a:t>
            </a:r>
            <a:r>
              <a:rPr lang="en-US" sz="88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(evening)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348347" y="2340866"/>
            <a:ext cx="3501702" cy="575622"/>
          </a:xfrm>
          <a:custGeom>
            <a:avLst/>
            <a:gdLst/>
            <a:ahLst/>
            <a:cxnLst/>
            <a:rect l="l" t="t" r="r" b="b"/>
            <a:pathLst>
              <a:path w="3501702" h="575622">
                <a:moveTo>
                  <a:pt x="31982" y="0"/>
                </a:moveTo>
                <a:lnTo>
                  <a:pt x="3469721" y="0"/>
                </a:lnTo>
                <a:cubicBezTo>
                  <a:pt x="3487384" y="0"/>
                  <a:pt x="3501702" y="14319"/>
                  <a:pt x="3501702" y="31982"/>
                </a:cubicBezTo>
                <a:lnTo>
                  <a:pt x="3501702" y="543641"/>
                </a:lnTo>
                <a:cubicBezTo>
                  <a:pt x="3501702" y="561304"/>
                  <a:pt x="3487384" y="575622"/>
                  <a:pt x="3469721" y="575622"/>
                </a:cubicBezTo>
                <a:lnTo>
                  <a:pt x="31982" y="575622"/>
                </a:lnTo>
                <a:cubicBezTo>
                  <a:pt x="14319" y="575622"/>
                  <a:pt x="0" y="561304"/>
                  <a:pt x="0" y="543641"/>
                </a:cubicBezTo>
                <a:lnTo>
                  <a:pt x="0" y="31982"/>
                </a:lnTo>
                <a:cubicBezTo>
                  <a:pt x="0" y="14330"/>
                  <a:pt x="14330" y="0"/>
                  <a:pt x="3198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4444284" y="2436803"/>
            <a:ext cx="3373786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Seasonal Patterns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444284" y="2660657"/>
            <a:ext cx="3365791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Winter months show highest usage; weekends higher daytime load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348347" y="2980447"/>
            <a:ext cx="3501702" cy="575622"/>
          </a:xfrm>
          <a:custGeom>
            <a:avLst/>
            <a:gdLst/>
            <a:ahLst/>
            <a:cxnLst/>
            <a:rect l="l" t="t" r="r" b="b"/>
            <a:pathLst>
              <a:path w="3501702" h="575622">
                <a:moveTo>
                  <a:pt x="31982" y="0"/>
                </a:moveTo>
                <a:lnTo>
                  <a:pt x="3469721" y="0"/>
                </a:lnTo>
                <a:cubicBezTo>
                  <a:pt x="3487384" y="0"/>
                  <a:pt x="3501702" y="14319"/>
                  <a:pt x="3501702" y="31982"/>
                </a:cubicBezTo>
                <a:lnTo>
                  <a:pt x="3501702" y="543641"/>
                </a:lnTo>
                <a:cubicBezTo>
                  <a:pt x="3501702" y="561304"/>
                  <a:pt x="3487384" y="575622"/>
                  <a:pt x="3469721" y="575622"/>
                </a:cubicBezTo>
                <a:lnTo>
                  <a:pt x="31982" y="575622"/>
                </a:lnTo>
                <a:cubicBezTo>
                  <a:pt x="14319" y="575622"/>
                  <a:pt x="0" y="561304"/>
                  <a:pt x="0" y="543641"/>
                </a:cubicBezTo>
                <a:lnTo>
                  <a:pt x="0" y="31982"/>
                </a:lnTo>
                <a:cubicBezTo>
                  <a:pt x="0" y="14330"/>
                  <a:pt x="14330" y="0"/>
                  <a:pt x="3198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4444284" y="3076384"/>
            <a:ext cx="3373786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Redundancy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4444284" y="3300237"/>
            <a:ext cx="3365791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Global_intensity is redundant (perfectly collinear with target)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4348347" y="3620027"/>
            <a:ext cx="3501702" cy="575622"/>
          </a:xfrm>
          <a:custGeom>
            <a:avLst/>
            <a:gdLst/>
            <a:ahLst/>
            <a:cxnLst/>
            <a:rect l="l" t="t" r="r" b="b"/>
            <a:pathLst>
              <a:path w="3501702" h="575622">
                <a:moveTo>
                  <a:pt x="31982" y="0"/>
                </a:moveTo>
                <a:lnTo>
                  <a:pt x="3469721" y="0"/>
                </a:lnTo>
                <a:cubicBezTo>
                  <a:pt x="3487384" y="0"/>
                  <a:pt x="3501702" y="14319"/>
                  <a:pt x="3501702" y="31982"/>
                </a:cubicBezTo>
                <a:lnTo>
                  <a:pt x="3501702" y="543641"/>
                </a:lnTo>
                <a:cubicBezTo>
                  <a:pt x="3501702" y="561304"/>
                  <a:pt x="3487384" y="575622"/>
                  <a:pt x="3469721" y="575622"/>
                </a:cubicBezTo>
                <a:lnTo>
                  <a:pt x="31982" y="575622"/>
                </a:lnTo>
                <a:cubicBezTo>
                  <a:pt x="14319" y="575622"/>
                  <a:pt x="0" y="561304"/>
                  <a:pt x="0" y="543641"/>
                </a:cubicBezTo>
                <a:lnTo>
                  <a:pt x="0" y="31982"/>
                </a:lnTo>
                <a:cubicBezTo>
                  <a:pt x="0" y="14330"/>
                  <a:pt x="14330" y="0"/>
                  <a:pt x="3198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4444284" y="3715964"/>
            <a:ext cx="3373786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Stationarity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4444284" y="3939817"/>
            <a:ext cx="3365791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is stationary (ADF p&lt;0.05) with strong daily/weekly seasonality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4348347" y="4259607"/>
            <a:ext cx="3501702" cy="575622"/>
          </a:xfrm>
          <a:custGeom>
            <a:avLst/>
            <a:gdLst/>
            <a:ahLst/>
            <a:cxnLst/>
            <a:rect l="l" t="t" r="r" b="b"/>
            <a:pathLst>
              <a:path w="3501702" h="575622">
                <a:moveTo>
                  <a:pt x="31982" y="0"/>
                </a:moveTo>
                <a:lnTo>
                  <a:pt x="3469721" y="0"/>
                </a:lnTo>
                <a:cubicBezTo>
                  <a:pt x="3487384" y="0"/>
                  <a:pt x="3501702" y="14319"/>
                  <a:pt x="3501702" y="31982"/>
                </a:cubicBezTo>
                <a:lnTo>
                  <a:pt x="3501702" y="543641"/>
                </a:lnTo>
                <a:cubicBezTo>
                  <a:pt x="3501702" y="561304"/>
                  <a:pt x="3487384" y="575622"/>
                  <a:pt x="3469721" y="575622"/>
                </a:cubicBezTo>
                <a:lnTo>
                  <a:pt x="31982" y="575622"/>
                </a:lnTo>
                <a:cubicBezTo>
                  <a:pt x="14319" y="575622"/>
                  <a:pt x="0" y="561304"/>
                  <a:pt x="0" y="543641"/>
                </a:cubicBezTo>
                <a:lnTo>
                  <a:pt x="0" y="31982"/>
                </a:lnTo>
                <a:cubicBezTo>
                  <a:pt x="0" y="14330"/>
                  <a:pt x="14330" y="0"/>
                  <a:pt x="3198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4444284" y="4355544"/>
            <a:ext cx="3373786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Lags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4444284" y="4579397"/>
            <a:ext cx="3365791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Lag 24 (1 day) and Lag 168 (1 week) strongest autocorrelations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8111578" y="1090484"/>
            <a:ext cx="3763930" cy="4523432"/>
          </a:xfrm>
          <a:custGeom>
            <a:avLst/>
            <a:gdLst/>
            <a:ahLst/>
            <a:cxnLst/>
            <a:rect l="l" t="t" r="r" b="b"/>
            <a:pathLst>
              <a:path w="3763930" h="4523432">
                <a:moveTo>
                  <a:pt x="63949" y="0"/>
                </a:moveTo>
                <a:lnTo>
                  <a:pt x="3699981" y="0"/>
                </a:lnTo>
                <a:cubicBezTo>
                  <a:pt x="3735299" y="0"/>
                  <a:pt x="3763930" y="28631"/>
                  <a:pt x="3763930" y="63949"/>
                </a:cubicBezTo>
                <a:lnTo>
                  <a:pt x="3763930" y="4459483"/>
                </a:lnTo>
                <a:cubicBezTo>
                  <a:pt x="3763930" y="4494801"/>
                  <a:pt x="3735299" y="4523432"/>
                  <a:pt x="3699981" y="4523432"/>
                </a:cubicBezTo>
                <a:lnTo>
                  <a:pt x="63949" y="4523432"/>
                </a:lnTo>
                <a:cubicBezTo>
                  <a:pt x="28631" y="4523432"/>
                  <a:pt x="0" y="4494801"/>
                  <a:pt x="0" y="4459483"/>
                </a:cubicBezTo>
                <a:lnTo>
                  <a:pt x="0" y="63949"/>
                </a:lnTo>
                <a:cubicBezTo>
                  <a:pt x="0" y="28655"/>
                  <a:pt x="28655" y="0"/>
                  <a:pt x="63949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 w="1016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2"/>
          <p:cNvSpPr/>
          <p:nvPr/>
        </p:nvSpPr>
        <p:spPr>
          <a:xfrm>
            <a:off x="8242692" y="1221601"/>
            <a:ext cx="383748" cy="383748"/>
          </a:xfrm>
          <a:custGeom>
            <a:avLst/>
            <a:gdLst/>
            <a:ahLst/>
            <a:cxnLst/>
            <a:rect l="l" t="t" r="r" b="b"/>
            <a:pathLst>
              <a:path w="383748" h="383748">
                <a:moveTo>
                  <a:pt x="63959" y="0"/>
                </a:moveTo>
                <a:lnTo>
                  <a:pt x="319789" y="0"/>
                </a:lnTo>
                <a:cubicBezTo>
                  <a:pt x="355113" y="0"/>
                  <a:pt x="383748" y="28636"/>
                  <a:pt x="383748" y="63959"/>
                </a:cubicBezTo>
                <a:lnTo>
                  <a:pt x="383748" y="319789"/>
                </a:lnTo>
                <a:cubicBezTo>
                  <a:pt x="383748" y="355113"/>
                  <a:pt x="355113" y="383748"/>
                  <a:pt x="319789" y="383748"/>
                </a:cubicBezTo>
                <a:lnTo>
                  <a:pt x="63959" y="383748"/>
                </a:lnTo>
                <a:cubicBezTo>
                  <a:pt x="28636" y="383748"/>
                  <a:pt x="0" y="355113"/>
                  <a:pt x="0" y="319789"/>
                </a:cubicBezTo>
                <a:lnTo>
                  <a:pt x="0" y="63959"/>
                </a:lnTo>
                <a:cubicBezTo>
                  <a:pt x="0" y="28659"/>
                  <a:pt x="28659" y="0"/>
                  <a:pt x="63959" y="0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3"/>
          <p:cNvSpPr/>
          <p:nvPr/>
        </p:nvSpPr>
        <p:spPr>
          <a:xfrm>
            <a:off x="8338629" y="1317538"/>
            <a:ext cx="191874" cy="191874"/>
          </a:xfrm>
          <a:custGeom>
            <a:avLst/>
            <a:gdLst/>
            <a:ahLst/>
            <a:cxnLst/>
            <a:rect l="l" t="t" r="r" b="b"/>
            <a:pathLst>
              <a:path w="191874" h="191874">
                <a:moveTo>
                  <a:pt x="54077" y="0"/>
                </a:moveTo>
                <a:lnTo>
                  <a:pt x="138022" y="0"/>
                </a:lnTo>
                <a:cubicBezTo>
                  <a:pt x="147953" y="0"/>
                  <a:pt x="156048" y="8170"/>
                  <a:pt x="155673" y="18063"/>
                </a:cubicBezTo>
                <a:cubicBezTo>
                  <a:pt x="155598" y="20049"/>
                  <a:pt x="155523" y="22036"/>
                  <a:pt x="155411" y="23984"/>
                </a:cubicBezTo>
                <a:lnTo>
                  <a:pt x="173998" y="23984"/>
                </a:lnTo>
                <a:cubicBezTo>
                  <a:pt x="183779" y="23984"/>
                  <a:pt x="192399" y="32079"/>
                  <a:pt x="191649" y="42647"/>
                </a:cubicBezTo>
                <a:cubicBezTo>
                  <a:pt x="188839" y="81509"/>
                  <a:pt x="168977" y="102870"/>
                  <a:pt x="147428" y="114038"/>
                </a:cubicBezTo>
                <a:cubicBezTo>
                  <a:pt x="141507" y="117111"/>
                  <a:pt x="135474" y="119397"/>
                  <a:pt x="129740" y="121083"/>
                </a:cubicBezTo>
                <a:cubicBezTo>
                  <a:pt x="122170" y="131801"/>
                  <a:pt x="114300" y="137460"/>
                  <a:pt x="108042" y="140495"/>
                </a:cubicBezTo>
                <a:lnTo>
                  <a:pt x="108042" y="167890"/>
                </a:lnTo>
                <a:lnTo>
                  <a:pt x="132026" y="167890"/>
                </a:lnTo>
                <a:cubicBezTo>
                  <a:pt x="138659" y="167890"/>
                  <a:pt x="144018" y="173249"/>
                  <a:pt x="144018" y="179882"/>
                </a:cubicBezTo>
                <a:cubicBezTo>
                  <a:pt x="144018" y="186515"/>
                  <a:pt x="138659" y="191874"/>
                  <a:pt x="132026" y="191874"/>
                </a:cubicBezTo>
                <a:lnTo>
                  <a:pt x="60073" y="191874"/>
                </a:lnTo>
                <a:cubicBezTo>
                  <a:pt x="53440" y="191874"/>
                  <a:pt x="48081" y="186515"/>
                  <a:pt x="48081" y="179882"/>
                </a:cubicBezTo>
                <a:cubicBezTo>
                  <a:pt x="48081" y="173249"/>
                  <a:pt x="53440" y="167890"/>
                  <a:pt x="60073" y="167890"/>
                </a:cubicBezTo>
                <a:lnTo>
                  <a:pt x="84057" y="167890"/>
                </a:lnTo>
                <a:lnTo>
                  <a:pt x="84057" y="140495"/>
                </a:lnTo>
                <a:cubicBezTo>
                  <a:pt x="78061" y="137610"/>
                  <a:pt x="70604" y="132251"/>
                  <a:pt x="63333" y="122395"/>
                </a:cubicBezTo>
                <a:cubicBezTo>
                  <a:pt x="56438" y="120596"/>
                  <a:pt x="48943" y="117860"/>
                  <a:pt x="41635" y="113738"/>
                </a:cubicBezTo>
                <a:cubicBezTo>
                  <a:pt x="21361" y="102383"/>
                  <a:pt x="3073" y="80984"/>
                  <a:pt x="450" y="42572"/>
                </a:cubicBezTo>
                <a:cubicBezTo>
                  <a:pt x="-262" y="32041"/>
                  <a:pt x="8320" y="23947"/>
                  <a:pt x="18101" y="23947"/>
                </a:cubicBezTo>
                <a:lnTo>
                  <a:pt x="36688" y="23947"/>
                </a:lnTo>
                <a:cubicBezTo>
                  <a:pt x="36576" y="21998"/>
                  <a:pt x="36501" y="20049"/>
                  <a:pt x="36426" y="18026"/>
                </a:cubicBezTo>
                <a:cubicBezTo>
                  <a:pt x="36051" y="8095"/>
                  <a:pt x="44146" y="-37"/>
                  <a:pt x="54077" y="-37"/>
                </a:cubicBezTo>
                <a:close/>
                <a:moveTo>
                  <a:pt x="38038" y="41972"/>
                </a:moveTo>
                <a:lnTo>
                  <a:pt x="18400" y="41972"/>
                </a:lnTo>
                <a:cubicBezTo>
                  <a:pt x="20724" y="73714"/>
                  <a:pt x="35302" y="89604"/>
                  <a:pt x="50329" y="98036"/>
                </a:cubicBezTo>
                <a:cubicBezTo>
                  <a:pt x="44933" y="84057"/>
                  <a:pt x="40473" y="65807"/>
                  <a:pt x="38038" y="41972"/>
                </a:cubicBezTo>
                <a:close/>
                <a:moveTo>
                  <a:pt x="142407" y="96237"/>
                </a:moveTo>
                <a:cubicBezTo>
                  <a:pt x="157584" y="87318"/>
                  <a:pt x="171300" y="71466"/>
                  <a:pt x="173624" y="41972"/>
                </a:cubicBezTo>
                <a:lnTo>
                  <a:pt x="154024" y="41972"/>
                </a:lnTo>
                <a:cubicBezTo>
                  <a:pt x="151700" y="64795"/>
                  <a:pt x="147503" y="82521"/>
                  <a:pt x="142407" y="96237"/>
                </a:cubicBezTo>
                <a:close/>
              </a:path>
            </a:pathLst>
          </a:custGeom>
          <a:solidFill>
            <a:srgbClr val="1A202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4"/>
          <p:cNvSpPr/>
          <p:nvPr/>
        </p:nvSpPr>
        <p:spPr>
          <a:xfrm>
            <a:off x="8722377" y="1285559"/>
            <a:ext cx="1766841" cy="255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Forecasting Results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8242692" y="1701286"/>
            <a:ext cx="3501702" cy="575622"/>
          </a:xfrm>
          <a:custGeom>
            <a:avLst/>
            <a:gdLst/>
            <a:ahLst/>
            <a:cxnLst/>
            <a:rect l="l" t="t" r="r" b="b"/>
            <a:pathLst>
              <a:path w="3501702" h="575622">
                <a:moveTo>
                  <a:pt x="31982" y="0"/>
                </a:moveTo>
                <a:lnTo>
                  <a:pt x="3469721" y="0"/>
                </a:lnTo>
                <a:cubicBezTo>
                  <a:pt x="3487384" y="0"/>
                  <a:pt x="3501702" y="14319"/>
                  <a:pt x="3501702" y="31982"/>
                </a:cubicBezTo>
                <a:lnTo>
                  <a:pt x="3501702" y="543641"/>
                </a:lnTo>
                <a:cubicBezTo>
                  <a:pt x="3501702" y="561304"/>
                  <a:pt x="3487384" y="575622"/>
                  <a:pt x="3469721" y="575622"/>
                </a:cubicBezTo>
                <a:lnTo>
                  <a:pt x="31982" y="575622"/>
                </a:lnTo>
                <a:cubicBezTo>
                  <a:pt x="14319" y="575622"/>
                  <a:pt x="0" y="561304"/>
                  <a:pt x="0" y="543641"/>
                </a:cubicBezTo>
                <a:lnTo>
                  <a:pt x="0" y="31982"/>
                </a:lnTo>
                <a:cubicBezTo>
                  <a:pt x="0" y="14330"/>
                  <a:pt x="14330" y="0"/>
                  <a:pt x="3198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8338629" y="1797223"/>
            <a:ext cx="3373786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Model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8338629" y="2021076"/>
            <a:ext cx="3365791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r>
              <a:rPr lang="en-US" sz="88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outperforms Linear Regression and Decision Tree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8242692" y="2340866"/>
            <a:ext cx="3501702" cy="575622"/>
          </a:xfrm>
          <a:custGeom>
            <a:avLst/>
            <a:gdLst/>
            <a:ahLst/>
            <a:cxnLst/>
            <a:rect l="l" t="t" r="r" b="b"/>
            <a:pathLst>
              <a:path w="3501702" h="575622">
                <a:moveTo>
                  <a:pt x="31982" y="0"/>
                </a:moveTo>
                <a:lnTo>
                  <a:pt x="3469721" y="0"/>
                </a:lnTo>
                <a:cubicBezTo>
                  <a:pt x="3487384" y="0"/>
                  <a:pt x="3501702" y="14319"/>
                  <a:pt x="3501702" y="31982"/>
                </a:cubicBezTo>
                <a:lnTo>
                  <a:pt x="3501702" y="543641"/>
                </a:lnTo>
                <a:cubicBezTo>
                  <a:pt x="3501702" y="561304"/>
                  <a:pt x="3487384" y="575622"/>
                  <a:pt x="3469721" y="575622"/>
                </a:cubicBezTo>
                <a:lnTo>
                  <a:pt x="31982" y="575622"/>
                </a:lnTo>
                <a:cubicBezTo>
                  <a:pt x="14319" y="575622"/>
                  <a:pt x="0" y="561304"/>
                  <a:pt x="0" y="543641"/>
                </a:cubicBezTo>
                <a:lnTo>
                  <a:pt x="0" y="31982"/>
                </a:lnTo>
                <a:cubicBezTo>
                  <a:pt x="0" y="14330"/>
                  <a:pt x="14330" y="0"/>
                  <a:pt x="3198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49"/>
          <p:cNvSpPr/>
          <p:nvPr/>
        </p:nvSpPr>
        <p:spPr>
          <a:xfrm>
            <a:off x="8338629" y="2436803"/>
            <a:ext cx="3373786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8338629" y="2660657"/>
            <a:ext cx="3365791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30-40% lower RMSE</a:t>
            </a:r>
            <a:r>
              <a:rPr lang="en-US" sz="88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compared to baseline models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8242692" y="2980447"/>
            <a:ext cx="3501702" cy="575622"/>
          </a:xfrm>
          <a:custGeom>
            <a:avLst/>
            <a:gdLst/>
            <a:ahLst/>
            <a:cxnLst/>
            <a:rect l="l" t="t" r="r" b="b"/>
            <a:pathLst>
              <a:path w="3501702" h="575622">
                <a:moveTo>
                  <a:pt x="31982" y="0"/>
                </a:moveTo>
                <a:lnTo>
                  <a:pt x="3469721" y="0"/>
                </a:lnTo>
                <a:cubicBezTo>
                  <a:pt x="3487384" y="0"/>
                  <a:pt x="3501702" y="14319"/>
                  <a:pt x="3501702" y="31982"/>
                </a:cubicBezTo>
                <a:lnTo>
                  <a:pt x="3501702" y="543641"/>
                </a:lnTo>
                <a:cubicBezTo>
                  <a:pt x="3501702" y="561304"/>
                  <a:pt x="3487384" y="575622"/>
                  <a:pt x="3469721" y="575622"/>
                </a:cubicBezTo>
                <a:lnTo>
                  <a:pt x="31982" y="575622"/>
                </a:lnTo>
                <a:cubicBezTo>
                  <a:pt x="14319" y="575622"/>
                  <a:pt x="0" y="561304"/>
                  <a:pt x="0" y="543641"/>
                </a:cubicBezTo>
                <a:lnTo>
                  <a:pt x="0" y="31982"/>
                </a:lnTo>
                <a:cubicBezTo>
                  <a:pt x="0" y="14330"/>
                  <a:pt x="14330" y="0"/>
                  <a:pt x="31982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2"/>
          <p:cNvSpPr/>
          <p:nvPr/>
        </p:nvSpPr>
        <p:spPr>
          <a:xfrm>
            <a:off x="8338629" y="3076384"/>
            <a:ext cx="3373786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Predictors</a:t>
            </a:r>
            <a:endParaRPr lang="en-US" sz="1600" dirty="0"/>
          </a:p>
        </p:txBody>
      </p:sp>
      <p:sp>
        <p:nvSpPr>
          <p:cNvPr id="56" name="Text 53"/>
          <p:cNvSpPr/>
          <p:nvPr/>
        </p:nvSpPr>
        <p:spPr>
          <a:xfrm>
            <a:off x="8338629" y="3300237"/>
            <a:ext cx="3365791" cy="159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lag_1, lag_2, rolling_mean_10 (recent history dominates)</a:t>
            </a:r>
            <a:endParaRPr lang="en-US" sz="1600" dirty="0"/>
          </a:p>
        </p:txBody>
      </p:sp>
      <p:sp>
        <p:nvSpPr>
          <p:cNvPr id="57" name="Shape 54"/>
          <p:cNvSpPr/>
          <p:nvPr/>
        </p:nvSpPr>
        <p:spPr>
          <a:xfrm>
            <a:off x="8242692" y="3620027"/>
            <a:ext cx="3501702" cy="735517"/>
          </a:xfrm>
          <a:custGeom>
            <a:avLst/>
            <a:gdLst/>
            <a:ahLst/>
            <a:cxnLst/>
            <a:rect l="l" t="t" r="r" b="b"/>
            <a:pathLst>
              <a:path w="3501702" h="735517">
                <a:moveTo>
                  <a:pt x="31980" y="0"/>
                </a:moveTo>
                <a:lnTo>
                  <a:pt x="3469722" y="0"/>
                </a:lnTo>
                <a:cubicBezTo>
                  <a:pt x="3487384" y="0"/>
                  <a:pt x="3501702" y="14318"/>
                  <a:pt x="3501702" y="31980"/>
                </a:cubicBezTo>
                <a:lnTo>
                  <a:pt x="3501702" y="703537"/>
                </a:lnTo>
                <a:cubicBezTo>
                  <a:pt x="3501702" y="721199"/>
                  <a:pt x="3487384" y="735517"/>
                  <a:pt x="3469722" y="735517"/>
                </a:cubicBezTo>
                <a:lnTo>
                  <a:pt x="31980" y="735517"/>
                </a:lnTo>
                <a:cubicBezTo>
                  <a:pt x="14318" y="735517"/>
                  <a:pt x="0" y="721199"/>
                  <a:pt x="0" y="703537"/>
                </a:cubicBezTo>
                <a:lnTo>
                  <a:pt x="0" y="31980"/>
                </a:lnTo>
                <a:cubicBezTo>
                  <a:pt x="0" y="14330"/>
                  <a:pt x="14330" y="0"/>
                  <a:pt x="31980" y="0"/>
                </a:cubicBezTo>
                <a:close/>
              </a:path>
            </a:pathLst>
          </a:custGeom>
          <a:solidFill>
            <a:srgbClr val="1A202C">
              <a:alpha val="5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5"/>
          <p:cNvSpPr/>
          <p:nvPr/>
        </p:nvSpPr>
        <p:spPr>
          <a:xfrm>
            <a:off x="8338629" y="3715964"/>
            <a:ext cx="3373786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59" name="Text 56"/>
          <p:cNvSpPr/>
          <p:nvPr/>
        </p:nvSpPr>
        <p:spPr>
          <a:xfrm>
            <a:off x="8338629" y="3939817"/>
            <a:ext cx="3365791" cy="319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b="1" dirty="0">
                <a:solidFill>
                  <a:srgbClr val="F7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Recent consumption is the strongest signal</a:t>
            </a:r>
            <a:r>
              <a:rPr lang="en-US" sz="88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short-term energy forecasting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8245890" y="4422700"/>
            <a:ext cx="3492109" cy="741913"/>
          </a:xfrm>
          <a:custGeom>
            <a:avLst/>
            <a:gdLst/>
            <a:ahLst/>
            <a:cxnLst/>
            <a:rect l="l" t="t" r="r" b="b"/>
            <a:pathLst>
              <a:path w="3492109" h="741913">
                <a:moveTo>
                  <a:pt x="31976" y="0"/>
                </a:moveTo>
                <a:lnTo>
                  <a:pt x="3460132" y="0"/>
                </a:lnTo>
                <a:cubicBezTo>
                  <a:pt x="3477792" y="0"/>
                  <a:pt x="3492109" y="14316"/>
                  <a:pt x="3492109" y="31976"/>
                </a:cubicBezTo>
                <a:lnTo>
                  <a:pt x="3492109" y="709937"/>
                </a:lnTo>
                <a:cubicBezTo>
                  <a:pt x="3492109" y="727597"/>
                  <a:pt x="3477792" y="741913"/>
                  <a:pt x="3460132" y="741913"/>
                </a:cubicBezTo>
                <a:lnTo>
                  <a:pt x="31976" y="741913"/>
                </a:lnTo>
                <a:cubicBezTo>
                  <a:pt x="14316" y="741913"/>
                  <a:pt x="0" y="727597"/>
                  <a:pt x="0" y="709937"/>
                </a:cubicBezTo>
                <a:lnTo>
                  <a:pt x="0" y="31976"/>
                </a:lnTo>
                <a:cubicBezTo>
                  <a:pt x="0" y="14328"/>
                  <a:pt x="14328" y="0"/>
                  <a:pt x="31976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 w="1016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8"/>
          <p:cNvSpPr/>
          <p:nvPr/>
        </p:nvSpPr>
        <p:spPr>
          <a:xfrm>
            <a:off x="8345024" y="4521834"/>
            <a:ext cx="3357797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7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Impact</a:t>
            </a:r>
            <a:endParaRPr lang="en-US" sz="1600" dirty="0"/>
          </a:p>
        </p:txBody>
      </p:sp>
      <p:sp>
        <p:nvSpPr>
          <p:cNvPr id="62" name="Text 59"/>
          <p:cNvSpPr/>
          <p:nvPr/>
        </p:nvSpPr>
        <p:spPr>
          <a:xfrm>
            <a:off x="8345024" y="4745691"/>
            <a:ext cx="3349802" cy="319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1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Enables real-time energy management, grid optimization, and cost reduction</a:t>
            </a:r>
            <a:endParaRPr lang="en-US" sz="1600" dirty="0"/>
          </a:p>
        </p:txBody>
      </p:sp>
      <p:sp>
        <p:nvSpPr>
          <p:cNvPr id="63" name="Shape 60"/>
          <p:cNvSpPr/>
          <p:nvPr/>
        </p:nvSpPr>
        <p:spPr>
          <a:xfrm>
            <a:off x="326186" y="5753023"/>
            <a:ext cx="11541227" cy="780288"/>
          </a:xfrm>
          <a:custGeom>
            <a:avLst/>
            <a:gdLst/>
            <a:ahLst/>
            <a:cxnLst/>
            <a:rect l="l" t="t" r="r" b="b"/>
            <a:pathLst>
              <a:path w="11541227" h="780288">
                <a:moveTo>
                  <a:pt x="63960" y="0"/>
                </a:moveTo>
                <a:lnTo>
                  <a:pt x="11477267" y="0"/>
                </a:lnTo>
                <a:cubicBezTo>
                  <a:pt x="11512591" y="0"/>
                  <a:pt x="11541227" y="28636"/>
                  <a:pt x="11541227" y="63960"/>
                </a:cubicBezTo>
                <a:lnTo>
                  <a:pt x="11541227" y="716328"/>
                </a:lnTo>
                <a:cubicBezTo>
                  <a:pt x="11541227" y="751652"/>
                  <a:pt x="11512591" y="780288"/>
                  <a:pt x="11477267" y="780288"/>
                </a:cubicBezTo>
                <a:lnTo>
                  <a:pt x="63960" y="780288"/>
                </a:lnTo>
                <a:cubicBezTo>
                  <a:pt x="28636" y="780288"/>
                  <a:pt x="0" y="751652"/>
                  <a:pt x="0" y="716328"/>
                </a:cubicBezTo>
                <a:lnTo>
                  <a:pt x="0" y="63960"/>
                </a:lnTo>
                <a:cubicBezTo>
                  <a:pt x="0" y="28660"/>
                  <a:pt x="28660" y="0"/>
                  <a:pt x="6396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 w="20320">
            <a:solidFill>
              <a:srgbClr val="38B2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Shape 61"/>
          <p:cNvSpPr/>
          <p:nvPr/>
        </p:nvSpPr>
        <p:spPr>
          <a:xfrm>
            <a:off x="496474" y="5999165"/>
            <a:ext cx="287811" cy="287811"/>
          </a:xfrm>
          <a:custGeom>
            <a:avLst/>
            <a:gdLst/>
            <a:ahLst/>
            <a:cxnLst/>
            <a:rect l="l" t="t" r="r" b="b"/>
            <a:pathLst>
              <a:path w="287811" h="287811">
                <a:moveTo>
                  <a:pt x="143906" y="287811"/>
                </a:moveTo>
                <a:cubicBezTo>
                  <a:pt x="223329" y="287811"/>
                  <a:pt x="287811" y="223329"/>
                  <a:pt x="287811" y="143906"/>
                </a:cubicBezTo>
                <a:cubicBezTo>
                  <a:pt x="287811" y="64482"/>
                  <a:pt x="223329" y="0"/>
                  <a:pt x="143906" y="0"/>
                </a:cubicBezTo>
                <a:cubicBezTo>
                  <a:pt x="64482" y="0"/>
                  <a:pt x="0" y="64482"/>
                  <a:pt x="0" y="143906"/>
                </a:cubicBezTo>
                <a:cubicBezTo>
                  <a:pt x="0" y="223329"/>
                  <a:pt x="64482" y="287811"/>
                  <a:pt x="143906" y="287811"/>
                </a:cubicBezTo>
                <a:close/>
                <a:moveTo>
                  <a:pt x="191349" y="119565"/>
                </a:moveTo>
                <a:lnTo>
                  <a:pt x="146379" y="191518"/>
                </a:lnTo>
                <a:cubicBezTo>
                  <a:pt x="144018" y="195284"/>
                  <a:pt x="139971" y="197645"/>
                  <a:pt x="135530" y="197870"/>
                </a:cubicBezTo>
                <a:cubicBezTo>
                  <a:pt x="131089" y="198095"/>
                  <a:pt x="126817" y="196071"/>
                  <a:pt x="124175" y="192474"/>
                </a:cubicBezTo>
                <a:lnTo>
                  <a:pt x="97192" y="156497"/>
                </a:lnTo>
                <a:cubicBezTo>
                  <a:pt x="92695" y="150539"/>
                  <a:pt x="93932" y="142107"/>
                  <a:pt x="99891" y="137610"/>
                </a:cubicBezTo>
                <a:cubicBezTo>
                  <a:pt x="105849" y="133113"/>
                  <a:pt x="114281" y="134349"/>
                  <a:pt x="118778" y="140308"/>
                </a:cubicBezTo>
                <a:lnTo>
                  <a:pt x="133956" y="160545"/>
                </a:lnTo>
                <a:lnTo>
                  <a:pt x="168471" y="105287"/>
                </a:lnTo>
                <a:cubicBezTo>
                  <a:pt x="172406" y="98991"/>
                  <a:pt x="180725" y="97024"/>
                  <a:pt x="187077" y="101015"/>
                </a:cubicBezTo>
                <a:cubicBezTo>
                  <a:pt x="193429" y="105006"/>
                  <a:pt x="195341" y="113269"/>
                  <a:pt x="191349" y="119622"/>
                </a:cubicBezTo>
                <a:close/>
              </a:path>
            </a:pathLst>
          </a:custGeom>
          <a:solidFill>
            <a:srgbClr val="38B2A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2"/>
          <p:cNvSpPr/>
          <p:nvPr/>
        </p:nvSpPr>
        <p:spPr>
          <a:xfrm>
            <a:off x="948178" y="5887340"/>
            <a:ext cx="7794885" cy="255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1" b="1" dirty="0">
                <a:solidFill>
                  <a:srgbClr val="F7FAF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Success</a:t>
            </a:r>
            <a:endParaRPr lang="en-US" sz="1600" dirty="0"/>
          </a:p>
        </p:txBody>
      </p:sp>
      <p:sp>
        <p:nvSpPr>
          <p:cNvPr id="66" name="Text 63"/>
          <p:cNvSpPr/>
          <p:nvPr/>
        </p:nvSpPr>
        <p:spPr>
          <a:xfrm>
            <a:off x="948178" y="6175050"/>
            <a:ext cx="7770901" cy="223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3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complete, layered deliverables demonstrating end-to-end ML pipeline from raw data to production-ready forecasting</a:t>
            </a:r>
            <a:endParaRPr lang="en-US" sz="1600" dirty="0"/>
          </a:p>
        </p:txBody>
      </p:sp>
      <p:sp>
        <p:nvSpPr>
          <p:cNvPr id="67" name="Text 64"/>
          <p:cNvSpPr/>
          <p:nvPr/>
        </p:nvSpPr>
        <p:spPr>
          <a:xfrm>
            <a:off x="10261267" y="5887340"/>
            <a:ext cx="1471035" cy="1918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07" dirty="0">
                <a:solidFill>
                  <a:srgbClr val="A0AE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Model RMSE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10181319" y="6079214"/>
            <a:ext cx="1550982" cy="319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90000"/>
              </a:lnSpc>
            </a:pPr>
            <a:r>
              <a:rPr lang="en-US" sz="2266" b="1" dirty="0">
                <a:solidFill>
                  <a:srgbClr val="38B2A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~0.048 kW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1717</Words>
  <Application>Microsoft Office PowerPoint</Application>
  <PresentationFormat>Widescreen</PresentationFormat>
  <Paragraphs>326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Liter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Consumption Forecasting — UCI Household Electric Power Consumption</dc:title>
  <dc:subject>Energy Consumption Forecasting — UCI Household Electric Power Consumption</dc:subject>
  <dc:creator>Kimi</dc:creator>
  <cp:lastModifiedBy>dharav bodat</cp:lastModifiedBy>
  <cp:revision>3</cp:revision>
  <dcterms:created xsi:type="dcterms:W3CDTF">2026-04-19T19:03:38Z</dcterms:created>
  <dcterms:modified xsi:type="dcterms:W3CDTF">2026-04-20T03:21:46Z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{"Label":"Energy Consumption Forecasting — UCI Household Electric Power Consumption","ContentProducer":"001191110108MACG2KBH8F10000","ProduceID":"19da71df-1dc2-823d-8000-0000ea5c5e0a","ReservedCode1":"","ContentPropagator":"001191110108MACG2KBH8F20000","PropagateID":"19da71df-1dc2-823d-8000-0000ea5c5e0a","ReservedCode2":""}</vt:lpwstr>
  </property>
</Properties>
</file>