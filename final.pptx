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0" r:id="rId4"/>
    <p:sldId id="266" r:id="rId5"/>
    <p:sldId id="258" r:id="rId6"/>
    <p:sldId id="259" r:id="rId7"/>
    <p:sldId id="261" r:id="rId8"/>
    <p:sldId id="262" r:id="rId9"/>
    <p:sldId id="267" r:id="rId10"/>
    <p:sldId id="263" r:id="rId11"/>
    <p:sldId id="264" r:id="rId12"/>
    <p:sldId id="265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GAP (kW)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C2F-4B6A-ADBB-906492E0EB53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BC2F-4B6A-ADBB-906492E0EB53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BC2F-4B6A-ADBB-906492E0EB53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BC2F-4B6A-ADBB-906492E0EB53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BC2F-4B6A-ADBB-906492E0EB53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BC2F-4B6A-ADBB-906492E0EB53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BC2F-4B6A-ADBB-906492E0EB53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BC2F-4B6A-ADBB-906492E0EB53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1-BC2F-4B6A-ADBB-906492E0EB53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3-BC2F-4B6A-ADBB-906492E0EB53}"/>
              </c:ext>
            </c:extLst>
          </c:dPt>
          <c:dPt>
            <c:idx val="1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5-BC2F-4B6A-ADBB-906492E0EB53}"/>
              </c:ext>
            </c:extLst>
          </c:dPt>
          <c:dPt>
            <c:idx val="1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7-BC2F-4B6A-ADBB-906492E0EB53}"/>
              </c:ext>
            </c:extLst>
          </c:dPt>
          <c:dPt>
            <c:idx val="1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9-BC2F-4B6A-ADBB-906492E0EB53}"/>
              </c:ext>
            </c:extLst>
          </c:dPt>
          <c:dPt>
            <c:idx val="1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B-BC2F-4B6A-ADBB-906492E0EB53}"/>
              </c:ext>
            </c:extLst>
          </c:dPt>
          <c:dPt>
            <c:idx val="1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D-BC2F-4B6A-ADBB-906492E0EB53}"/>
              </c:ext>
            </c:extLst>
          </c:dPt>
          <c:dPt>
            <c:idx val="1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F-BC2F-4B6A-ADBB-906492E0EB53}"/>
              </c:ext>
            </c:extLst>
          </c:dPt>
          <c:dPt>
            <c:idx val="1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21-BC2F-4B6A-ADBB-906492E0EB53}"/>
              </c:ext>
            </c:extLst>
          </c:dPt>
          <c:dPt>
            <c:idx val="1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23-BC2F-4B6A-ADBB-906492E0EB53}"/>
              </c:ext>
            </c:extLst>
          </c:dPt>
          <c:dPt>
            <c:idx val="18"/>
            <c:invertIfNegative val="0"/>
            <c:bubble3D val="0"/>
            <c:spPr>
              <a:solidFill>
                <a:srgbClr val="02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5-BC2F-4B6A-ADBB-906492E0EB53}"/>
              </c:ext>
            </c:extLst>
          </c:dPt>
          <c:dPt>
            <c:idx val="19"/>
            <c:invertIfNegative val="0"/>
            <c:bubble3D val="0"/>
            <c:spPr>
              <a:solidFill>
                <a:srgbClr val="02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7-BC2F-4B6A-ADBB-906492E0EB53}"/>
              </c:ext>
            </c:extLst>
          </c:dPt>
          <c:dPt>
            <c:idx val="20"/>
            <c:invertIfNegative val="0"/>
            <c:bubble3D val="0"/>
            <c:spPr>
              <a:solidFill>
                <a:srgbClr val="02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9-BC2F-4B6A-ADBB-906492E0EB53}"/>
              </c:ext>
            </c:extLst>
          </c:dPt>
          <c:dPt>
            <c:idx val="21"/>
            <c:invertIfNegative val="0"/>
            <c:bubble3D val="0"/>
            <c:spPr>
              <a:solidFill>
                <a:srgbClr val="02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B-BC2F-4B6A-ADBB-906492E0EB53}"/>
              </c:ext>
            </c:extLst>
          </c:dPt>
          <c:dPt>
            <c:idx val="2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2D-BC2F-4B6A-ADBB-906492E0EB53}"/>
              </c:ext>
            </c:extLst>
          </c:dPt>
          <c:dPt>
            <c:idx val="2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2F-BC2F-4B6A-ADBB-906492E0EB53}"/>
              </c:ext>
            </c:extLst>
          </c:dPt>
          <c:cat>
            <c:strRef>
              <c:f>Sheet1!$A$2:$A$25</c:f>
              <c:strCache>
                <c:ptCount val="24"/>
                <c:pt idx="0">
                  <c:v>0h</c:v>
                </c:pt>
                <c:pt idx="1">
                  <c:v>1h</c:v>
                </c:pt>
                <c:pt idx="2">
                  <c:v>2h</c:v>
                </c:pt>
                <c:pt idx="3">
                  <c:v>3h</c:v>
                </c:pt>
                <c:pt idx="4">
                  <c:v>4h</c:v>
                </c:pt>
                <c:pt idx="5">
                  <c:v>5h</c:v>
                </c:pt>
                <c:pt idx="6">
                  <c:v>6h</c:v>
                </c:pt>
                <c:pt idx="7">
                  <c:v>7h</c:v>
                </c:pt>
                <c:pt idx="8">
                  <c:v>8h</c:v>
                </c:pt>
                <c:pt idx="9">
                  <c:v>9h</c:v>
                </c:pt>
                <c:pt idx="10">
                  <c:v>10h</c:v>
                </c:pt>
                <c:pt idx="11">
                  <c:v>11h</c:v>
                </c:pt>
                <c:pt idx="12">
                  <c:v>12h</c:v>
                </c:pt>
                <c:pt idx="13">
                  <c:v>13h</c:v>
                </c:pt>
                <c:pt idx="14">
                  <c:v>14h</c:v>
                </c:pt>
                <c:pt idx="15">
                  <c:v>15h</c:v>
                </c:pt>
                <c:pt idx="16">
                  <c:v>16h</c:v>
                </c:pt>
                <c:pt idx="17">
                  <c:v>17h</c:v>
                </c:pt>
                <c:pt idx="18">
                  <c:v>18h</c:v>
                </c:pt>
                <c:pt idx="19">
                  <c:v>19h</c:v>
                </c:pt>
                <c:pt idx="20">
                  <c:v>20h</c:v>
                </c:pt>
                <c:pt idx="21">
                  <c:v>21h</c:v>
                </c:pt>
                <c:pt idx="22">
                  <c:v>22h</c:v>
                </c:pt>
                <c:pt idx="23">
                  <c:v>23h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0.9</c:v>
                </c:pt>
                <c:pt idx="1">
                  <c:v>0.7</c:v>
                </c:pt>
                <c:pt idx="2">
                  <c:v>0.65</c:v>
                </c:pt>
                <c:pt idx="3">
                  <c:v>0.62</c:v>
                </c:pt>
                <c:pt idx="4">
                  <c:v>0.63</c:v>
                </c:pt>
                <c:pt idx="5">
                  <c:v>0.75</c:v>
                </c:pt>
                <c:pt idx="6">
                  <c:v>1.1000000000000001</c:v>
                </c:pt>
                <c:pt idx="7">
                  <c:v>1.5</c:v>
                </c:pt>
                <c:pt idx="8">
                  <c:v>1.6</c:v>
                </c:pt>
                <c:pt idx="9">
                  <c:v>1.45</c:v>
                </c:pt>
                <c:pt idx="10">
                  <c:v>1.4</c:v>
                </c:pt>
                <c:pt idx="11">
                  <c:v>1.35</c:v>
                </c:pt>
                <c:pt idx="12">
                  <c:v>1.3</c:v>
                </c:pt>
                <c:pt idx="13">
                  <c:v>1.25</c:v>
                </c:pt>
                <c:pt idx="14">
                  <c:v>1.2</c:v>
                </c:pt>
                <c:pt idx="15">
                  <c:v>1.3</c:v>
                </c:pt>
                <c:pt idx="16">
                  <c:v>1.6</c:v>
                </c:pt>
                <c:pt idx="17">
                  <c:v>1.9</c:v>
                </c:pt>
                <c:pt idx="18">
                  <c:v>2.15</c:v>
                </c:pt>
                <c:pt idx="19">
                  <c:v>2.2000000000000002</c:v>
                </c:pt>
                <c:pt idx="20">
                  <c:v>2.1</c:v>
                </c:pt>
                <c:pt idx="21">
                  <c:v>1.9</c:v>
                </c:pt>
                <c:pt idx="22">
                  <c:v>1.6</c:v>
                </c:pt>
                <c:pt idx="2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0-BC2F-4B6A-ADBB-906492E0EB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E2761"/>
                </a:solidFill>
                <a:latin typeface="Arial"/>
              </a:defRPr>
            </a:pPr>
            <a:r>
              <a:rPr lang="en-IN" sz="1000" b="0" i="0" u="none" strike="noStrike">
                <a:solidFill>
                  <a:srgbClr val="1E2761"/>
                </a:solidFill>
                <a:latin typeface="Arial"/>
              </a:rPr>
              <a:t>RMSE &amp; MAE by Model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 (kW)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Seasonal Naïve</c:v>
                </c:pt>
                <c:pt idx="1">
                  <c:v>SVR (RBF)</c:v>
                </c:pt>
                <c:pt idx="2">
                  <c:v>TTM + PINN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0.55000000000000004</c:v>
                </c:pt>
                <c:pt idx="1">
                  <c:v>0.39100000000000001</c:v>
                </c:pt>
                <c:pt idx="2">
                  <c:v>0.29799999999999999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AEB-40ED-A85B-F71DEDCD353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MAE (kW)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Seasonal Naïve</c:v>
                </c:pt>
                <c:pt idx="1">
                  <c:v>SVR (RBF)</c:v>
                </c:pt>
                <c:pt idx="2">
                  <c:v>TTM + PINN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0.33700000000000002</c:v>
                </c:pt>
                <c:pt idx="1">
                  <c:v>0.27800000000000002</c:v>
                </c:pt>
                <c:pt idx="2">
                  <c:v>0.21099999999999999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AEB-40ED-A85B-F71DEDCD353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E2761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1E2761"/>
                </a:solidFill>
                <a:latin typeface="Arial"/>
              </a:rPr>
              <a:t>MASE (lower = better; &lt;1.0 beats naïve)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MASE Score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A68-4A14-A4E2-4043F672D88A}"/>
              </c:ext>
            </c:extLst>
          </c:dPt>
          <c:dPt>
            <c:idx val="1"/>
            <c:invertIfNegative val="0"/>
            <c:bubble3D val="0"/>
            <c:spPr>
              <a:solidFill>
                <a:srgbClr val="02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A68-4A14-A4E2-4043F672D88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SVR (RBF)</c:v>
                </c:pt>
                <c:pt idx="1">
                  <c:v>TTM + PINN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0.82399999999999995</c:v>
                </c:pt>
                <c:pt idx="1">
                  <c:v>0.625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A68-4A14-A4E2-4043F672D88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16790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0" cy="51435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583680" y="-457200"/>
            <a:ext cx="3474720" cy="3474720"/>
          </a:xfrm>
          <a:prstGeom prst="ellipse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498080" y="2560320"/>
            <a:ext cx="2011680" cy="2011680"/>
          </a:xfrm>
          <a:prstGeom prst="ellipse">
            <a:avLst/>
          </a:prstGeom>
          <a:solidFill>
            <a:srgbClr val="02C39A">
              <a:alpha val="25000"/>
            </a:srgbClr>
          </a:solidFill>
          <a:ln w="12700">
            <a:solidFill>
              <a:srgbClr val="02C39A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20040" y="50292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</a:rPr>
              <a:t>Digital Twin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320040" y="123444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7EFFF"/>
                </a:solidFill>
              </a:rPr>
              <a:t>Household Energy Forecasting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20040" y="18745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2C39A"/>
                </a:solidFill>
              </a:rPr>
              <a:t>TTM + PINN + Conformal Prediction + ADWIN Drift Detection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331720"/>
            <a:ext cx="4937760" cy="36576"/>
          </a:xfrm>
          <a:prstGeom prst="rect">
            <a:avLst/>
          </a:prstGeom>
          <a:solidFill>
            <a:srgbClr val="02C39A">
              <a:alpha val="7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20040" y="24871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</a:rPr>
              <a:t>Team Members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28346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Manan Velani (U23CS027)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305409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7EFFF"/>
                </a:solidFill>
              </a:rPr>
              <a:t>ML Architecture &amp; PINN Design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0040" y="32186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Dharav Bodat (	U23CS049)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" y="3438144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7EFFF"/>
                </a:solidFill>
              </a:rPr>
              <a:t>Data Preprocessing &amp; Pipeline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0040" y="360273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Om Amin (U23CS076)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" y="382219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7EFFF"/>
                </a:solidFill>
              </a:rPr>
              <a:t>EDA &amp; Visualization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0040" y="398678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Nikhil Chhasiya (U23CS022)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" y="420624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7EFFF"/>
                </a:solidFill>
              </a:rPr>
              <a:t>Evaluation &amp; Dashboard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852160" y="16459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UCI Household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Power Consumption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760720" y="25146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7EFFF"/>
                </a:solidFill>
              </a:rPr>
              <a:t>2006 – 2010  •  2.07M Records  •  1-Minute Resolution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06440" y="2971800"/>
            <a:ext cx="987552" cy="868680"/>
          </a:xfrm>
          <a:prstGeom prst="rect">
            <a:avLst/>
          </a:prstGeom>
          <a:solidFill>
            <a:srgbClr val="028090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806440" y="2999232"/>
            <a:ext cx="987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2C39A"/>
                </a:solidFill>
              </a:rPr>
              <a:t>7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5806440" y="3410712"/>
            <a:ext cx="987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7EFFF"/>
                </a:solidFill>
              </a:rPr>
              <a:t>Sensor Channels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922008" y="2971800"/>
            <a:ext cx="987552" cy="868680"/>
          </a:xfrm>
          <a:prstGeom prst="rect">
            <a:avLst/>
          </a:prstGeom>
          <a:solidFill>
            <a:srgbClr val="028090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922008" y="2999232"/>
            <a:ext cx="987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2C39A"/>
                </a:solidFill>
              </a:rPr>
              <a:t>~1.25%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6922008" y="3410712"/>
            <a:ext cx="987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7EFFF"/>
                </a:solidFill>
              </a:rPr>
              <a:t>Missing Values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8037576" y="2971800"/>
            <a:ext cx="987552" cy="868680"/>
          </a:xfrm>
          <a:prstGeom prst="rect">
            <a:avLst/>
          </a:prstGeom>
          <a:solidFill>
            <a:srgbClr val="028090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8037576" y="2999232"/>
            <a:ext cx="987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2C39A"/>
                </a:solidFill>
              </a:rPr>
              <a:t>3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8037576" y="3410712"/>
            <a:ext cx="987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7EFFF"/>
                </a:solidFill>
              </a:rPr>
              <a:t>Models Benchmarked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20040" y="475488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Department of Computer Science &amp; Engineering  •  SVNIT Surat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Problem Statement &amp; Motivation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02336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</a:rPr>
              <a:t>The Problem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8912" y="1627632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04088" y="1591056"/>
            <a:ext cx="3456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761"/>
                </a:solidFill>
              </a:rPr>
              <a:t>Household energy consumption is inherently non-stationary with strong daily &amp; seasonal cycles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8912" y="2286000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04088" y="2249424"/>
            <a:ext cx="3456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761"/>
                </a:solidFill>
              </a:rPr>
              <a:t>Precise short-term forecasting (60-minute horizon) is critical for smart grid load balancing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8912" y="2944368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04088" y="2907792"/>
            <a:ext cx="3456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761"/>
                </a:solidFill>
              </a:rPr>
              <a:t>Traditional models fail to capture physics laws (energy conservation) alongside data patterns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8912" y="3602736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04088" y="3566160"/>
            <a:ext cx="3456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761"/>
                </a:solidFill>
              </a:rPr>
              <a:t>Sensor drift and concept shift over time degrade model accuracy in production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0" y="1051560"/>
            <a:ext cx="429768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754880" y="1188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</a:rPr>
              <a:t>Why It Matters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09160" y="16093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120640" y="1591056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761"/>
                </a:solidFill>
              </a:rPr>
              <a:t>Energy efficiency: accurate forecasting reduces wastage and lowers CO₂ emissions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09160" y="22677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📡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120640" y="2249424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761"/>
                </a:solidFill>
              </a:rPr>
              <a:t>Smart meters generate terabytes of data — scalable ML pipelines are essential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09160" y="2926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🏭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120640" y="290779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761"/>
                </a:solidFill>
              </a:rPr>
              <a:t>Industrial digital twins require uncertainty-aware, physics-consistent predictions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09160" y="3584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🔄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120640" y="356616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761"/>
                </a:solidFill>
              </a:rPr>
              <a:t>Adaptive models that detect drift ensure reliability over multi-year deployments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4736592"/>
            <a:ext cx="8595360" cy="292608"/>
          </a:xfrm>
          <a:prstGeom prst="rect">
            <a:avLst/>
          </a:prstGeom>
          <a:solidFill>
            <a:srgbClr val="02C39A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65760" y="47548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2342"/>
                </a:solidFill>
              </a:rPr>
              <a:t>🎯  Goal: Build a physics-informed, uncertainty-aware, drift-adaptive forecasting system for residential energy consumption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Exploratory Data Analysis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24128"/>
            <a:ext cx="402336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47472" y="10424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🕗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04672" y="1051560"/>
            <a:ext cx="34015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</a:rPr>
              <a:t>Peak Hours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04672" y="1316736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Energy peaks 18:00–21:00 daily (evening appliance use). Lowest consumption 03:00–06:00.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810512"/>
            <a:ext cx="402336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47472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04672" y="1837944"/>
            <a:ext cx="34015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</a:rPr>
              <a:t>Seasonal Pattern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04672" y="2103120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Winter months (Dec–Feb) show significantly higher GAP, driven by heating. Strong annual cycle detected.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2596896"/>
            <a:ext cx="402336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7472" y="26151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📅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04672" y="2624328"/>
            <a:ext cx="34015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</a:rPr>
              <a:t>Weekend Shift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" y="2889504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Weekends (Sat–Sun) show higher daytime base load — occupants home; weekday mornings are low.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3383280"/>
            <a:ext cx="402336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47472" y="34015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📈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04672" y="3410712"/>
            <a:ext cx="34015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</a:rPr>
              <a:t>Stationarity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04672" y="3675888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ADF test: p &lt; 0.05 → Stationary at macro level. KPSS confirms dual seasonality (daily + annual).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4169664"/>
            <a:ext cx="402336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47472" y="41879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🔗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4672" y="4197096"/>
            <a:ext cx="34015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</a:rPr>
              <a:t>Lag Correlation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04672" y="4462272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Strongest ACF peaks at Lag 24 (same hour −1 day) and Lag 168 (same hour −1 week).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17720" y="1024128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</a:rPr>
              <a:t>Avg. Power by Hour of Day (kW)</a:t>
            </a:r>
            <a:endParaRPr lang="en-US" sz="1000" dirty="0"/>
          </a:p>
        </p:txBody>
      </p:sp>
      <p:graphicFrame>
        <p:nvGraphicFramePr>
          <p:cNvPr id="25" name="Chart 0"/>
          <p:cNvGraphicFramePr/>
          <p:nvPr/>
        </p:nvGraphicFramePr>
        <p:xfrm>
          <a:off x="4480560" y="1298448"/>
          <a:ext cx="443484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6" name="Text 23"/>
          <p:cNvSpPr/>
          <p:nvPr/>
        </p:nvSpPr>
        <p:spPr>
          <a:xfrm>
            <a:off x="4617720" y="3337560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</a:rPr>
              <a:t>Feature Correlation Highlights</a:t>
            </a:r>
            <a:endParaRPr lang="en-US" sz="10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80560" y="3611880"/>
          <a:ext cx="4434840" cy="1325880"/>
        </p:xfrm>
        <a:graphic>
          <a:graphicData uri="http://schemas.openxmlformats.org/drawingml/2006/table">
            <a:tbl>
              <a:tblPr/>
              <a:tblGrid>
                <a:gridCol w="2606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Feature Pair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Correlation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GAP ↔ Global_intensity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≈ 1.00 (dropped)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GAP ↔ Sub_metering_3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≈ 0.62 (strongest)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GAP ↔ Voltage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≈ −0.21 (weak negative)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GAP ↔ Sub_metering_1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≈ 0.15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7003C4-444E-31F8-DE42-0314B8CAAF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171071" cy="15464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8398C49-44E6-03A1-05CD-44CC75A199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6200" y="1"/>
            <a:ext cx="4957800" cy="15464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BF0AC43-00C6-B428-59D8-0AB23C1999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46422"/>
            <a:ext cx="4186200" cy="18860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17F9DCF-D7E6-7254-AF4A-323FB7FF5D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1329" y="1546423"/>
            <a:ext cx="4942671" cy="188609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C77942D-918C-BCD1-95BD-2913B751B6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3432517"/>
            <a:ext cx="4201329" cy="171098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0596D63-AD6A-4634-6555-C82C4942E5D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16458" y="3432519"/>
            <a:ext cx="4927542" cy="171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3091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Dataset Description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554480" cy="960120"/>
          </a:xfrm>
          <a:prstGeom prst="rect">
            <a:avLst/>
          </a:prstGeom>
          <a:solidFill>
            <a:srgbClr val="0A2342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10515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</a:rPr>
              <a:t>2.07M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57276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7EFFF"/>
                </a:solidFill>
              </a:rPr>
              <a:t>Total Records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011680" y="1005840"/>
            <a:ext cx="1554480" cy="960120"/>
          </a:xfrm>
          <a:prstGeom prst="rect">
            <a:avLst/>
          </a:prstGeom>
          <a:solidFill>
            <a:srgbClr val="065A82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011680" y="10515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</a:rPr>
              <a:t>1 min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011680" y="157276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7EFFF"/>
                </a:solidFill>
              </a:rPr>
              <a:t>Granularity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749040" y="1005840"/>
            <a:ext cx="1554480" cy="960120"/>
          </a:xfrm>
          <a:prstGeom prst="rect">
            <a:avLst/>
          </a:prstGeom>
          <a:solidFill>
            <a:srgbClr val="0A2342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749040" y="10515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</a:rPr>
              <a:t>4 yrs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749040" y="157276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7EFFF"/>
                </a:solidFill>
              </a:rPr>
              <a:t>Duration (2006–2010)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0" y="1005840"/>
            <a:ext cx="1554480" cy="960120"/>
          </a:xfrm>
          <a:prstGeom prst="rect">
            <a:avLst/>
          </a:prstGeom>
          <a:solidFill>
            <a:srgbClr val="065A82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486400" y="10515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</a:rPr>
              <a:t>7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486400" y="157276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7EFFF"/>
                </a:solidFill>
              </a:rPr>
              <a:t>Sensor Features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223760" y="1005840"/>
            <a:ext cx="1554480" cy="960120"/>
          </a:xfrm>
          <a:prstGeom prst="rect">
            <a:avLst/>
          </a:prstGeom>
          <a:solidFill>
            <a:srgbClr val="0A2342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223760" y="10515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</a:rPr>
              <a:t>~1.25%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223760" y="157276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7EFFF"/>
                </a:solidFill>
              </a:rPr>
              <a:t>Missing Values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74320" y="21488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</a:rPr>
              <a:t>Feature Columns</a:t>
            </a:r>
            <a:endParaRPr lang="en-US" sz="1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487168"/>
          <a:ext cx="5760720" cy="2487168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Unit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Global_active_power ★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kW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Total active power consumed (TARGET)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Global_reactive_power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kW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Reactive power (lag/lead)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Voltage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V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Mains supply voltage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Global_intensity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A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Avg current intensity (dropped — collinear)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Sub_metering_1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Wh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Kitchen appliances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Sub_metering_2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Wh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Laundry room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Sub_metering_3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Wh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HVAC / Water heater (strongest predictor)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6309360" y="2148840"/>
            <a:ext cx="2560320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6446520" y="22402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</a:rPr>
              <a:t>Source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446520" y="25146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</a:rPr>
              <a:t>UCI ML Repository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</a:rPr>
              <a:t>(Household Power Consumption)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6309360" y="3108960"/>
            <a:ext cx="2560320" cy="2743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6446520" y="32004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</a:rPr>
              <a:t>Target Variable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309360" y="3520440"/>
            <a:ext cx="2560320" cy="384048"/>
          </a:xfrm>
          <a:prstGeom prst="rect">
            <a:avLst/>
          </a:prstGeom>
          <a:solidFill>
            <a:srgbClr val="02C39A">
              <a:alpha val="7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6400800" y="353872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2342"/>
                </a:solidFill>
              </a:rPr>
              <a:t>Global_active_power (kW)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A2342"/>
                </a:solidFill>
              </a:rPr>
              <a:t>log1p-transformed for training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6446520" y="40050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</a:rPr>
              <a:t>Key Insight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6446520" y="42519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Global_intensity dropped (perfectly collinear with GAP). E_rem engineered as Kirchhoff balance check.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Data Preprocessing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2062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84048" y="1161288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84048" y="1161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0392" y="116128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Ingest &amp; Parse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481328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</a:rPr>
              <a:t>Load .txt (semicolon-delimited), parse Date+Time → DatetimeIndex. Reindex to full 1-min range to expose gaps. Cast all to float32.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09160" y="1051560"/>
            <a:ext cx="42062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818888" y="116128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818888" y="1161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285232" y="116128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</a:rPr>
              <a:t>Physical Validation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1481328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</a:rPr>
              <a:t>Negative Global_active_power → NaN. Voltage outside [220V–255V] → NaN. Compute E_rem = GAP×(1000/60) − S1 − S2 − S3.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377440"/>
            <a:ext cx="42062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84048" y="2487168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84048" y="2487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50392" y="248716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Hierarchical Imputation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1480" y="2807208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</a:rPr>
              <a:t>Short gaps (&lt;30 min): cubic interpolation. Long gaps: seasonal fill from hour×weekday means. Finally ffill/bfill as safety net.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60" y="2377440"/>
            <a:ext cx="42062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818888" y="248716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818888" y="2487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285232" y="248716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</a:rPr>
              <a:t>Outlier Treatment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2807208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</a:rPr>
              <a:t>IQR clipping (1.5×IQR) for GAP, Voltage, Global_intensity. Extremes are capped — not dropped — as high-load events are real.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3703320"/>
            <a:ext cx="42062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384048" y="3813048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84048" y="3813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50392" y="381304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Scaling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11480" y="4133088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</a:rPr>
              <a:t>MinMaxScaler for all power/energy columns. StandardScaler for Voltage only. Applied fit-on-train, transform-on-test to prevent leakage.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3703320"/>
            <a:ext cx="42062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818888" y="381304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818888" y="3813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285232" y="381304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</a:rPr>
              <a:t>Train / Val / Test Split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46320" y="4133088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</a:rPr>
              <a:t>Temporal (no shuffle): 70% Train → 15% Validation → 15% Test. Split index preserves chronological order across all models.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Methodology — Models &amp;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9875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Feature Engineering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298448"/>
            <a:ext cx="91440" cy="2286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38912" y="1298448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5A82"/>
                </a:solidFill>
              </a:rPr>
              <a:t>E_rem: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423160" y="1298448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Kirchhoff remainder energy (physics constraint)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609344"/>
            <a:ext cx="91440" cy="2286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38912" y="1609344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5A82"/>
                </a:solidFill>
              </a:rPr>
              <a:t>hour/month/weekday sin-cos: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423160" y="1609344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Cyclical encoding (prevents discontinuity at midnight/year boundary)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1920240"/>
            <a:ext cx="91440" cy="2286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38912" y="192024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5A82"/>
                </a:solidFill>
              </a:rPr>
              <a:t>Lag-1, Lag-60, Lag-1440: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423160" y="1920240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1-min, 1-hour, 24-hour autoregressive features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231136"/>
            <a:ext cx="91440" cy="2286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38912" y="2231136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5A82"/>
                </a:solidFill>
              </a:rPr>
              <a:t>Rolling mean/std (60m, 1440m):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423160" y="2231136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Short &amp; long-term volatility signal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2606040"/>
            <a:ext cx="402336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11480" y="26974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</a:rPr>
              <a:t>TinyTimeMixer (TTM) Architecture  —  IBM NeurIPS 2024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11480" y="304495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</a:rPr>
              <a:t>1.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5800" y="30449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</a:rPr>
              <a:t>PatchEmbedding  →  projects windows of length 8 into d_model=64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11480" y="3483864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</a:rPr>
              <a:t>2.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5800" y="348386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</a:rPr>
              <a:t>2× MixerBlock  →  time-mix MLP + feature-mix MLP (GELU + Dropout)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11480" y="3922776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</a:rPr>
              <a:t>3.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" y="392277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</a:rPr>
              <a:t>MultiHeadAttention (4 heads) with stored weights for XAI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11480" y="436168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</a:rPr>
              <a:t>4.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5800" y="43616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</a:rPr>
              <a:t>5-output head  [GAP, S1, S2, S3, E_rem]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0" y="987552"/>
            <a:ext cx="73152" cy="68580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727448" y="100584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4748B"/>
                </a:solidFill>
              </a:rPr>
              <a:t>Seasonal Naïve (CP-2a)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727448" y="128016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Predicts y[t] = y[t−1440] (same minute yesterday). Provides MASE denominator for relative metric.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0" y="1819656"/>
            <a:ext cx="73152" cy="6858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727448" y="183794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</a:rPr>
              <a:t>SVR — RBF Kernel (CP-2b)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727448" y="2112264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GridSearchCV (C, γ) via 3-fold TimeSeriesSplit. Flattened sliding window as input. Benchmark from Aurangzeb et al.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0" y="2651760"/>
            <a:ext cx="73152" cy="6858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727448" y="267004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</a:rPr>
              <a:t>TTM + PINN Loss (CP-2c/3)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727448" y="294436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L = 0.85 × MSE_data + 0.15 × Physics_loss. Physics: (GAP×1000/60 − S1−S2−S3−E_rem)²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0" y="3483864"/>
            <a:ext cx="73152" cy="6858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727448" y="3502152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Conformal Prediction (CP-4a)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727448" y="377647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Memory-efficient split conformal: q_hat from val residuals. Target ≥95% coverage. No full matrix allocation.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572000" y="4315968"/>
            <a:ext cx="73152" cy="6858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4727448" y="4334256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4444"/>
                </a:solidFill>
              </a:rPr>
              <a:t>ADWIN Drift Detection (CP-4b)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727448" y="4608576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Streams residuals to ADWIN (δ=0.002). On drift: trigger 3-epoch TTM fine-tuning + detector reset.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572000" y="5074920"/>
            <a:ext cx="4297680" cy="365760"/>
          </a:xfrm>
          <a:prstGeom prst="rect">
            <a:avLst/>
          </a:prstGeom>
          <a:solidFill>
            <a:srgbClr val="0A2342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4645152" y="5102352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Config: window=168 | horizon=60 | batch=256 | lr=1e-3 | epochs=30 | patience=5 | AdamW + CosineAnnealingLR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Results &amp; Evaluation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87552"/>
            <a:ext cx="1572768" cy="658368"/>
          </a:xfrm>
          <a:prstGeom prst="rect">
            <a:avLst/>
          </a:prstGeom>
          <a:solidFill>
            <a:srgbClr val="065A82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</a:rPr>
              <a:t>RMSE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128016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7EFFF"/>
                </a:solidFill>
              </a:rPr>
              <a:t>Root Mean Squared Error — penalises large spikes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993392" y="987552"/>
            <a:ext cx="1572768" cy="658368"/>
          </a:xfrm>
          <a:prstGeom prst="rect">
            <a:avLst/>
          </a:prstGeom>
          <a:solidFill>
            <a:srgbClr val="065A82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993392" y="100584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</a:rPr>
              <a:t>MAE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993392" y="128016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7EFFF"/>
                </a:solidFill>
              </a:rPr>
              <a:t>Mean Absolute Error — avg deviation in kW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712464" y="987552"/>
            <a:ext cx="1572768" cy="658368"/>
          </a:xfrm>
          <a:prstGeom prst="rect">
            <a:avLst/>
          </a:prstGeom>
          <a:solidFill>
            <a:srgbClr val="065A82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712464" y="100584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</a:rPr>
              <a:t>MASE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712464" y="128016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7EFFF"/>
                </a:solidFill>
              </a:rPr>
              <a:t>MAE / Naïve MAE — MASE &lt; 1.0 beats baseline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431536" y="987552"/>
            <a:ext cx="1572768" cy="658368"/>
          </a:xfrm>
          <a:prstGeom prst="rect">
            <a:avLst/>
          </a:prstGeom>
          <a:solidFill>
            <a:srgbClr val="065A82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431536" y="100584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</a:rPr>
              <a:t>RRA-Dir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31536" y="128016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7EFFF"/>
                </a:solidFill>
              </a:rPr>
              <a:t>Ramp direction accuracy — correct sign of Δy?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150608" y="987552"/>
            <a:ext cx="1572768" cy="658368"/>
          </a:xfrm>
          <a:prstGeom prst="rect">
            <a:avLst/>
          </a:prstGeom>
          <a:solidFill>
            <a:srgbClr val="065A82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150608" y="100584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</a:rPr>
              <a:t>RRA-Mag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150608" y="128016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7EFFF"/>
                </a:solidFill>
              </a:rPr>
              <a:t>Ramp magnitude accuracy — 1 − error / naïve ramp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74320" y="1737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</a:rPr>
              <a:t>Model Performance Comparison</a:t>
            </a:r>
            <a:endParaRPr lang="en-US" sz="1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057400"/>
          <a:ext cx="9052560" cy="128016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64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64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64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264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264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050" dirty="0"/>
                    </a:p>
                  </a:txBody>
                  <a:tcPr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RMSE (kW)</a:t>
                      </a:r>
                      <a:endParaRPr lang="en-US" sz="1050" dirty="0"/>
                    </a:p>
                  </a:txBody>
                  <a:tcPr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MAE (kW)</a:t>
                      </a:r>
                      <a:endParaRPr lang="en-US" sz="1050" dirty="0"/>
                    </a:p>
                  </a:txBody>
                  <a:tcPr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MASE</a:t>
                      </a:r>
                      <a:endParaRPr lang="en-US" sz="1050" dirty="0"/>
                    </a:p>
                  </a:txBody>
                  <a:tcPr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RRA-Dir</a:t>
                      </a:r>
                      <a:endParaRPr lang="en-US" sz="1050" dirty="0"/>
                    </a:p>
                  </a:txBody>
                  <a:tcPr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RRA-Mag</a:t>
                      </a:r>
                      <a:endParaRPr lang="en-US" sz="1050" dirty="0"/>
                    </a:p>
                  </a:txBody>
                  <a:tcPr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Seasonal Naïve</a:t>
                      </a:r>
                      <a:endParaRPr lang="en-US" sz="1050" dirty="0"/>
                    </a:p>
                  </a:txBody>
                  <a:tcPr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</a:rPr>
                        <a:t>Baseline</a:t>
                      </a:r>
                      <a:endParaRPr lang="en-US" sz="1050" dirty="0"/>
                    </a:p>
                  </a:txBody>
                  <a:tcPr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</a:rPr>
                        <a:t>1.000</a:t>
                      </a:r>
                      <a:endParaRPr lang="en-US" sz="1050" dirty="0"/>
                    </a:p>
                  </a:txBody>
                  <a:tcPr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SVR (RBF)</a:t>
                      </a:r>
                      <a:endParaRPr lang="en-US" sz="1050" dirty="0"/>
                    </a:p>
                  </a:txBody>
                  <a:tcPr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0.391</a:t>
                      </a:r>
                      <a:endParaRPr lang="en-US" sz="1050" dirty="0"/>
                    </a:p>
                  </a:txBody>
                  <a:tcPr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0.278</a:t>
                      </a:r>
                      <a:endParaRPr lang="en-US" sz="1050" dirty="0"/>
                    </a:p>
                  </a:txBody>
                  <a:tcPr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28090"/>
                          </a:solidFill>
                        </a:rPr>
                        <a:t>0.824</a:t>
                      </a:r>
                      <a:endParaRPr lang="en-US" sz="1050" dirty="0"/>
                    </a:p>
                  </a:txBody>
                  <a:tcPr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71.2%</a:t>
                      </a:r>
                      <a:endParaRPr lang="en-US" sz="1050" dirty="0"/>
                    </a:p>
                  </a:txBody>
                  <a:tcPr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0.683</a:t>
                      </a:r>
                      <a:endParaRPr lang="en-US" sz="1050" dirty="0"/>
                    </a:p>
                  </a:txBody>
                  <a:tcPr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65A82"/>
                          </a:solidFill>
                        </a:rPr>
                        <a:t>TTM + PINN  ★</a:t>
                      </a:r>
                      <a:endParaRPr lang="en-US" sz="1050" dirty="0"/>
                    </a:p>
                  </a:txBody>
                  <a:tcPr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0B981"/>
                          </a:solidFill>
                        </a:rPr>
                        <a:t>0.298</a:t>
                      </a:r>
                      <a:endParaRPr lang="en-US" sz="1050" dirty="0"/>
                    </a:p>
                  </a:txBody>
                  <a:tcPr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0B981"/>
                          </a:solidFill>
                        </a:rPr>
                        <a:t>0.211</a:t>
                      </a:r>
                      <a:endParaRPr lang="en-US" sz="1050" dirty="0"/>
                    </a:p>
                  </a:txBody>
                  <a:tcPr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0B981"/>
                          </a:solidFill>
                        </a:rPr>
                        <a:t>0.625</a:t>
                      </a:r>
                      <a:endParaRPr lang="en-US" sz="1050" dirty="0"/>
                    </a:p>
                  </a:txBody>
                  <a:tcPr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0B981"/>
                          </a:solidFill>
                        </a:rPr>
                        <a:t>78.9%</a:t>
                      </a:r>
                      <a:endParaRPr lang="en-US" sz="1050" dirty="0"/>
                    </a:p>
                  </a:txBody>
                  <a:tcPr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0B981"/>
                          </a:solidFill>
                        </a:rPr>
                        <a:t>0.742</a:t>
                      </a:r>
                      <a:endParaRPr lang="en-US" sz="1050" dirty="0"/>
                    </a:p>
                  </a:txBody>
                  <a:tcPr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1" name="Chart 0"/>
          <p:cNvGraphicFramePr/>
          <p:nvPr/>
        </p:nvGraphicFramePr>
        <p:xfrm>
          <a:off x="274320" y="3566160"/>
          <a:ext cx="4297680" cy="1417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2" name="Chart 1"/>
          <p:cNvGraphicFramePr/>
          <p:nvPr/>
        </p:nvGraphicFramePr>
        <p:xfrm>
          <a:off x="4846320" y="3566160"/>
          <a:ext cx="4023360" cy="1417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3" name="Shape 18"/>
          <p:cNvSpPr/>
          <p:nvPr/>
        </p:nvSpPr>
        <p:spPr>
          <a:xfrm>
            <a:off x="274320" y="4983480"/>
            <a:ext cx="8595360" cy="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19"/>
          <p:cNvSpPr/>
          <p:nvPr/>
        </p:nvSpPr>
        <p:spPr>
          <a:xfrm>
            <a:off x="274320" y="477316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A82"/>
                </a:solidFill>
              </a:rPr>
              <a:t>★  TTM + PINN achieves best scores across all metrics. Conformal predictor delivers ≥95% empirical coverage on test set.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80367FD-B253-A0D7-D63A-0FF8372D66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999" cy="20795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D41731-E888-2B9D-3A18-175BB4CCBE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79600"/>
            <a:ext cx="9144000" cy="306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7420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Comparison with Reference Paper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0789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Reference: Aurangzeb et al. — King Saud University Journal of Engineering Sciences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</a:rPr>
              <a:t>"Short-Term Power Load Forecasting Using Deep Learning Approaches" — SVR with RBF kernel identified as optimal classical method (Table 3). Paper benchmarks LSTM, CNN, SVR on UCI dataset.</a:t>
            </a:r>
            <a:endParaRPr lang="en-US" sz="9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965960"/>
          <a:ext cx="8595360" cy="2962656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Aspect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Aurangzeb et al. (Reference)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This Work (Ours)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Best Model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SVR (RBF Kernel)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TTM + PINN (Foundation Model)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Architecture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Classical ML + 1-layer LSTM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PatchEmbedding + MixerBlocks + MHA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Physics Constraint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None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PINN Energy-Balance Loss (w2=0.15)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Uncertainty Output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Point forecast only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95% Conformal Prediction Intervals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Drift Handling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Static model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ADWIN drift detection + adaptive fine-tuning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MASE vs Naïve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~0.84 (reported)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0.625 ↓ (−25.6% improvement)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XAI / Explainability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None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SHAP GradientExplainer + Attention Rollout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Feature: E_rem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Not present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Kirchhoff balance feature engineered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74320" y="4937760"/>
            <a:ext cx="8595360" cy="347472"/>
          </a:xfrm>
          <a:prstGeom prst="rect">
            <a:avLst/>
          </a:prstGeom>
          <a:solidFill>
            <a:srgbClr val="02C39A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6"/>
          <p:cNvSpPr/>
          <p:nvPr/>
        </p:nvSpPr>
        <p:spPr>
          <a:xfrm>
            <a:off x="411480" y="496519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2342"/>
                </a:solidFill>
              </a:rPr>
              <a:t>✅  Our system extends the reference by adding physics-informed training, conformal uncertainty bands, real-time drift detection, and XAI — all absent from the reference paper.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Challenges, Limitations &amp; Future Work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10241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</a:rPr>
              <a:t>Challenges Faced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389888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48640" y="1362456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MAPIE matrix OOM crash: full [N×W×F] matrix = 12.1 GB → replaced with memory-efficient batched conformal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956816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48640" y="1929384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ADWIN sensitivity: too-low delta triggered excessive false-positive drift events → tuned δ=0.002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2523744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48640" y="2496312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Numba/NumPy incompatibility with SHAP GradientExplainer — required downgrade to NumPy 1.24.4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3090672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48640" y="306324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SVR scalability: flattened sliding window (168×58 features) too large for full training set → sampled 2,000 rows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3657600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48640" y="3630168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Colab kernel instability with large datasets: used nrows=50,000 subset for development runs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0" y="10241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Current Limitations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0" y="1389888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931920" y="1362456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Single household — findings may not generalise to commercial/industrial meters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0" y="2093976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931920" y="2066544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Multi-step forecast limited to 60-min horizon; longer horizons untested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0" y="2798064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931920" y="2770632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PINN loss weights (w1=0.85, w2=0.15) fixed — not learned adaptively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0" y="3502152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931920" y="34747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No real-time streaming pipeline — batch inference only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172200" y="102412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</a:rPr>
              <a:t>Future Extensions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172200" y="1371600"/>
            <a:ext cx="347472" cy="34747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172200" y="1371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</a:rPr>
              <a:t>01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83680" y="13716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Multi-household federated learning with differential privacy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172200" y="2029968"/>
            <a:ext cx="347472" cy="34747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172200" y="20299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</a:rPr>
              <a:t>02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83680" y="202996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Replace fixed PINN weights with meta-learned adaptive balance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172200" y="2688336"/>
            <a:ext cx="347472" cy="34747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172200" y="26883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</a:rPr>
              <a:t>03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583680" y="26883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Deploy as real-time Kafka streaming pipeline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172200" y="3346704"/>
            <a:ext cx="347472" cy="34747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172200" y="3346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</a:rPr>
              <a:t>04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583680" y="334670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Extend horizon to 24h with encoder-decoder Transformer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172200" y="4005072"/>
            <a:ext cx="347472" cy="34747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6172200" y="4005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</a:rPr>
              <a:t>05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583680" y="400507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Integrate weather API features (temperature, humidity)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447288" y="1024128"/>
            <a:ext cx="36576" cy="3749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6035040" y="1024128"/>
            <a:ext cx="36576" cy="3749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Conclusion &amp; Key Findings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987552"/>
            <a:ext cx="2029968" cy="1170432"/>
          </a:xfrm>
          <a:prstGeom prst="rect">
            <a:avLst/>
          </a:prstGeom>
          <a:solidFill>
            <a:srgbClr val="065A82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2029968" cy="914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84048" y="1115568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</a:rPr>
              <a:t>Best Model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84048" y="137160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TTM + PINN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84048" y="1755648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7EFFF"/>
                </a:solidFill>
              </a:rPr>
              <a:t>Foundation model with physics-informed loss outperforms all baselines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496312" y="987552"/>
            <a:ext cx="2029968" cy="1170432"/>
          </a:xfrm>
          <a:prstGeom prst="rect">
            <a:avLst/>
          </a:prstGeom>
          <a:solidFill>
            <a:srgbClr val="065A82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496312" y="987552"/>
            <a:ext cx="2029968" cy="914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560320" y="1115568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</a:rPr>
              <a:t>MASE Score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60320" y="137160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0.625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560320" y="1755648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7EFFF"/>
                </a:solidFill>
              </a:rPr>
              <a:t>37.5% lower error than seasonal naïve; 24.2% better than SVR (RBF)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672584" y="987552"/>
            <a:ext cx="2029968" cy="1170432"/>
          </a:xfrm>
          <a:prstGeom prst="rect">
            <a:avLst/>
          </a:prstGeom>
          <a:solidFill>
            <a:srgbClr val="065A82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672584" y="987552"/>
            <a:ext cx="2029968" cy="914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736592" y="1115568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</a:rPr>
              <a:t>Coverage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36592" y="137160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≥ 95%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736592" y="1755648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7EFFF"/>
                </a:solidFill>
              </a:rPr>
              <a:t>Conformal intervals guarantee marginal coverage on held-out test set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848856" y="987552"/>
            <a:ext cx="2029968" cy="1170432"/>
          </a:xfrm>
          <a:prstGeom prst="rect">
            <a:avLst/>
          </a:prstGeom>
          <a:solidFill>
            <a:srgbClr val="065A82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848856" y="987552"/>
            <a:ext cx="2029968" cy="914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912864" y="1115568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</a:rPr>
              <a:t>Drift Events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912864" y="137160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ADWIN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912864" y="1755648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7EFFF"/>
                </a:solidFill>
              </a:rPr>
              <a:t>Adaptive fine-tuning triggered on drift; model stays current over time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65760" y="228600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</a:rPr>
              <a:t>Key Takeaways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65760" y="2651760"/>
            <a:ext cx="73152" cy="292608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30352" y="2633472"/>
            <a:ext cx="8275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Physics-informed learning (PINN) reduces constraint violations and improves generalization beyond pure data-driven models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3099816"/>
            <a:ext cx="73152" cy="292608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530352" y="3081528"/>
            <a:ext cx="8275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Feature engineering (E_rem, cyclical encodings, multi-scale lags) provides strong inductive bias — validated by SHAP &amp; Attention Rollout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3547872"/>
            <a:ext cx="73152" cy="292608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30352" y="3529584"/>
            <a:ext cx="8275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Memory-efficient split conformal prediction provides statistically rigorous uncertainty without incurring OOM on large datasets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3995928"/>
            <a:ext cx="73152" cy="292608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30352" y="3977640"/>
            <a:ext cx="8275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Sub_metering_3 (HVAC/Water heater) confirmed as the dominant predictor — consistent with Aurangzeb et al. (2021) findings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4443984"/>
            <a:ext cx="73152" cy="292608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530352" y="4425696"/>
            <a:ext cx="8275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Production-grade pipeline: automated drift detection, adaptive retraining, and interactive Plotly dashboard for operational monitoring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365760" y="48280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7EFFF"/>
                </a:solidFill>
              </a:rPr>
              <a:t>UCI Household Power Consumption  •  TinyTimeMixer + PINN + ADWIN + Conformal Prediction  •  SVNIT Surat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1717</Words>
  <Application>Microsoft Office PowerPoint</Application>
  <PresentationFormat>On-screen Show (16:9)</PresentationFormat>
  <Paragraphs>282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Twin – Household Energy Forecasting</dc:title>
  <dc:subject>PptxGenJS Presentation</dc:subject>
  <dc:creator>PptxGenJS</dc:creator>
  <cp:lastModifiedBy>dharav bodat</cp:lastModifiedBy>
  <cp:revision>5</cp:revision>
  <dcterms:created xsi:type="dcterms:W3CDTF">2026-04-20T08:47:02Z</dcterms:created>
  <dcterms:modified xsi:type="dcterms:W3CDTF">2026-04-20T09:11:03Z</dcterms:modified>
</cp:coreProperties>
</file>